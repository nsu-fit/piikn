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8" r:id="rId1"/>
    <p:sldMasterId id="2147483685" r:id="rId2"/>
  </p:sldMasterIdLst>
  <p:notesMasterIdLst>
    <p:notesMasterId r:id="rId26"/>
  </p:notesMasterIdLst>
  <p:sldIdLst>
    <p:sldId id="514" r:id="rId3"/>
    <p:sldId id="524" r:id="rId4"/>
    <p:sldId id="574" r:id="rId5"/>
    <p:sldId id="575" r:id="rId6"/>
    <p:sldId id="576" r:id="rId7"/>
    <p:sldId id="577" r:id="rId8"/>
    <p:sldId id="578" r:id="rId9"/>
    <p:sldId id="579" r:id="rId10"/>
    <p:sldId id="580" r:id="rId11"/>
    <p:sldId id="581" r:id="rId12"/>
    <p:sldId id="582" r:id="rId13"/>
    <p:sldId id="583" r:id="rId14"/>
    <p:sldId id="584" r:id="rId15"/>
    <p:sldId id="585" r:id="rId16"/>
    <p:sldId id="586" r:id="rId17"/>
    <p:sldId id="587" r:id="rId18"/>
    <p:sldId id="588" r:id="rId19"/>
    <p:sldId id="589" r:id="rId20"/>
    <p:sldId id="590" r:id="rId21"/>
    <p:sldId id="591" r:id="rId22"/>
    <p:sldId id="593" r:id="rId23"/>
    <p:sldId id="594" r:id="rId24"/>
    <p:sldId id="277" r:id="rId25"/>
  </p:sldIdLst>
  <p:sldSz cx="9144000" cy="5143500" type="screen16x9"/>
  <p:notesSz cx="6858000" cy="9144000"/>
  <p:embeddedFontLst>
    <p:embeddedFont>
      <p:font typeface="Acrom" panose="020B0604020202020204" charset="-52"/>
      <p:regular r:id="rId27"/>
    </p:embeddedFont>
    <p:embeddedFont>
      <p:font typeface="Acrom Bold" panose="020B0604020202020204" charset="-52"/>
      <p:bold r:id="rId28"/>
    </p:embeddedFont>
    <p:embeddedFont>
      <p:font typeface="Acrom ExtraBold" panose="020B0604020202020204" charset="-52"/>
      <p:bold r:id="rId29"/>
    </p:embeddedFont>
    <p:embeddedFont>
      <p:font typeface="Aptos Narrow" panose="020B0004020202020204" pitchFamily="34" charset="0"/>
      <p:regular r:id="rId30"/>
      <p:bold r:id="rId31"/>
      <p:italic r:id="rId32"/>
      <p:boldItalic r:id="rId33"/>
    </p:embeddedFont>
    <p:embeddedFont>
      <p:font typeface="Cambria Math" panose="02040503050406030204" pitchFamily="18" charset="0"/>
      <p:regular r:id="rId34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D8FC5EF-6076-40D9-AF9D-DF341323974E}">
          <p14:sldIdLst>
            <p14:sldId id="514"/>
          </p14:sldIdLst>
        </p14:section>
        <p14:section name="Literature" id="{B9960BE5-F3B4-48C0-BA4B-65F190ECCD4C}">
          <p14:sldIdLst>
            <p14:sldId id="524"/>
            <p14:sldId id="574"/>
            <p14:sldId id="575"/>
            <p14:sldId id="576"/>
            <p14:sldId id="577"/>
            <p14:sldId id="578"/>
            <p14:sldId id="579"/>
            <p14:sldId id="580"/>
            <p14:sldId id="581"/>
            <p14:sldId id="582"/>
            <p14:sldId id="583"/>
            <p14:sldId id="584"/>
            <p14:sldId id="585"/>
            <p14:sldId id="586"/>
            <p14:sldId id="587"/>
            <p14:sldId id="588"/>
            <p14:sldId id="589"/>
            <p14:sldId id="590"/>
            <p14:sldId id="591"/>
            <p14:sldId id="593"/>
            <p14:sldId id="594"/>
            <p14:sldId id="27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F3FF"/>
    <a:srgbClr val="90D1DC"/>
    <a:srgbClr val="8FAADC"/>
    <a:srgbClr val="E9EBF5"/>
    <a:srgbClr val="5F9E38"/>
    <a:srgbClr val="9292FB"/>
    <a:srgbClr val="007D9A"/>
    <a:srgbClr val="50852F"/>
    <a:srgbClr val="6CB640"/>
    <a:srgbClr val="8989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034E78-7F5D-4C2E-B375-FC64B27BC917}" styleName="Темный стиль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173" autoAdjust="0"/>
    <p:restoredTop sz="92373" autoAdjust="0"/>
  </p:normalViewPr>
  <p:slideViewPr>
    <p:cSldViewPr>
      <p:cViewPr varScale="1">
        <p:scale>
          <a:sx n="141" d="100"/>
          <a:sy n="141" d="100"/>
        </p:scale>
        <p:origin x="690" y="12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34" Type="http://schemas.openxmlformats.org/officeDocument/2006/relationships/font" Target="fonts/font8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7.fntdata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6.fntdata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2.fntdata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5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7420F6-EE28-447A-BA82-F9AA48FF3F8C}" type="datetimeFigureOut">
              <a:rPr lang="ru-RU" smtClean="0"/>
              <a:pPr/>
              <a:t>18.12.2024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5E2C8-E51C-40F3-9A72-4A3C3DEE508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6622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80458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72247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98293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19571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64058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13815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0954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48033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37898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78958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485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microsoft.com/office/2007/relationships/hdphoto" Target="../media/hdphoto2.wdp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gif"/><Relationship Id="rId3" Type="http://schemas.openxmlformats.org/officeDocument/2006/relationships/image" Target="../media/image9.png"/><Relationship Id="rId7" Type="http://schemas.openxmlformats.org/officeDocument/2006/relationships/image" Target="../media/image23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Content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49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3996" cy="123748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2628"/>
            <a:ext cx="9144000" cy="88087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424" y="4443958"/>
            <a:ext cx="393193" cy="31394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72" y="778547"/>
            <a:ext cx="131064" cy="124968"/>
          </a:xfrm>
          <a:prstGeom prst="rect">
            <a:avLst/>
          </a:prstGeom>
        </p:spPr>
      </p:pic>
      <p:sp>
        <p:nvSpPr>
          <p:cNvPr id="43" name="Текст 39"/>
          <p:cNvSpPr>
            <a:spLocks noGrp="1"/>
          </p:cNvSpPr>
          <p:nvPr>
            <p:ph type="body" sz="quarter" idx="11"/>
          </p:nvPr>
        </p:nvSpPr>
        <p:spPr>
          <a:xfrm>
            <a:off x="350838" y="2066925"/>
            <a:ext cx="7605712" cy="2305050"/>
          </a:xfrm>
        </p:spPr>
        <p:txBody>
          <a:bodyPr>
            <a:normAutofit/>
          </a:bodyPr>
          <a:lstStyle>
            <a:lvl1pPr marL="342900" indent="-342900">
              <a:buFontTx/>
              <a:buBlip>
                <a:blip r:embed="rId8"/>
              </a:buBlip>
              <a:defRPr sz="2000">
                <a:solidFill>
                  <a:schemeClr val="bg1"/>
                </a:solidFill>
                <a:latin typeface="Acrom" panose="00000500000000000000" pitchFamily="50" charset="-52"/>
              </a:defRPr>
            </a:lvl1pPr>
            <a:lvl2pPr marL="742950" indent="-285750">
              <a:buFontTx/>
              <a:buBlip>
                <a:blip r:embed="rId8"/>
              </a:buBlip>
              <a:defRPr sz="1800">
                <a:solidFill>
                  <a:schemeClr val="bg1"/>
                </a:solidFill>
                <a:latin typeface="Acrom" panose="00000500000000000000" pitchFamily="50" charset="-52"/>
              </a:defRPr>
            </a:lvl2pPr>
            <a:lvl3pPr marL="1143000" indent="-228600">
              <a:buFontTx/>
              <a:buBlip>
                <a:blip r:embed="rId8"/>
              </a:buBlip>
              <a:defRPr sz="1600">
                <a:solidFill>
                  <a:schemeClr val="bg1"/>
                </a:solidFill>
                <a:latin typeface="Acrom" panose="00000500000000000000" pitchFamily="50" charset="-52"/>
              </a:defRPr>
            </a:lvl3pPr>
            <a:lvl4pPr marL="1600200" indent="-228600">
              <a:buFontTx/>
              <a:buBlip>
                <a:blip r:embed="rId8"/>
              </a:buBlip>
              <a:defRPr sz="1400">
                <a:solidFill>
                  <a:schemeClr val="bg1"/>
                </a:solidFill>
                <a:latin typeface="Acrom" panose="00000500000000000000" pitchFamily="50" charset="-52"/>
              </a:defRPr>
            </a:lvl4pPr>
            <a:lvl5pPr marL="2057400" indent="-228600">
              <a:buFontTx/>
              <a:buBlip>
                <a:blip r:embed="rId8"/>
              </a:buBlip>
              <a:defRPr sz="1400">
                <a:solidFill>
                  <a:schemeClr val="bg1"/>
                </a:solidFill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2" name="Текст 37"/>
          <p:cNvSpPr>
            <a:spLocks noGrp="1"/>
          </p:cNvSpPr>
          <p:nvPr>
            <p:ph type="body" sz="quarter" idx="10" hasCustomPrompt="1"/>
          </p:nvPr>
        </p:nvSpPr>
        <p:spPr>
          <a:xfrm>
            <a:off x="350838" y="1419225"/>
            <a:ext cx="2945436" cy="383169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bg1"/>
                </a:solidFill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1" name="Заголовок 34"/>
          <p:cNvSpPr>
            <a:spLocks noGrp="1"/>
          </p:cNvSpPr>
          <p:nvPr>
            <p:ph type="title" hasCustomPrompt="1"/>
          </p:nvPr>
        </p:nvSpPr>
        <p:spPr>
          <a:xfrm>
            <a:off x="351237" y="716531"/>
            <a:ext cx="7749155" cy="369332"/>
          </a:xfrm>
          <a:noFill/>
        </p:spPr>
        <p:txBody>
          <a:bodyPr wrap="square" rtlCol="0">
            <a:spAutoFit/>
          </a:bodyPr>
          <a:lstStyle>
            <a:lvl1pPr algn="l">
              <a:defRPr lang="ru-RU" sz="1800">
                <a:solidFill>
                  <a:srgbClr val="262626"/>
                </a:solidFill>
                <a:latin typeface="Acrom ExtraBold" pitchFamily="50" charset="-52"/>
                <a:ea typeface="+mn-ea"/>
                <a:cs typeface="+mn-cs"/>
              </a:defRPr>
            </a:lvl1pPr>
          </a:lstStyle>
          <a:p>
            <a:pPr marL="0" lvl="0" algn="l"/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215976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Content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8F2C7FDD-BB90-2EAC-CC9A-84AFF7FA84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838" y="4858733"/>
            <a:ext cx="1124818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fld id="{3F31863B-D2C1-455A-9EA1-E26FFC62CD1F}" type="datetime1">
              <a:rPr lang="ru-RU" smtClean="0"/>
              <a:t>18.12.2024</a:t>
            </a:fld>
            <a:endParaRPr lang="en-US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493A3844-29DE-1B73-0A9B-B5DA2AF0C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7664" y="4858733"/>
            <a:ext cx="6048671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">
            <a:extLst>
              <a:ext uri="{FF2B5EF4-FFF2-40B4-BE49-F238E27FC236}">
                <a16:creationId xmlns:a16="http://schemas.microsoft.com/office/drawing/2014/main" id="{BB41C1D9-2BAB-F0D1-B591-D5133BE92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 wrap="none" lIns="0" tIns="0" rIns="0" bIns="0"/>
          <a:lstStyle>
            <a:lvl1pPr>
              <a:defRPr sz="3400">
                <a:solidFill>
                  <a:srgbClr val="898989"/>
                </a:solidFill>
                <a:latin typeface="Acrom ExtraBold" panose="020B0604020202020204" charset="-52"/>
              </a:defRPr>
            </a:lvl1pPr>
          </a:lstStyle>
          <a:p>
            <a:fld id="{C12E5AAC-331B-4A22-A01D-802D4003046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Содержимое 1">
            <a:extLst>
              <a:ext uri="{FF2B5EF4-FFF2-40B4-BE49-F238E27FC236}">
                <a16:creationId xmlns:a16="http://schemas.microsoft.com/office/drawing/2014/main" id="{5D55A141-82CC-750A-BEF7-7D6BD35A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2066925"/>
            <a:ext cx="8541643" cy="2305050"/>
          </a:xfrm>
        </p:spPr>
        <p:txBody>
          <a:bodyPr>
            <a:normAutofit/>
          </a:bodyPr>
          <a:lstStyle>
            <a:lvl1pPr marL="342900" indent="-342900">
              <a:buFontTx/>
              <a:buBlip>
                <a:blip r:embed="rId2"/>
              </a:buBlip>
              <a:defRPr sz="2000">
                <a:latin typeface="Acrom" panose="00000500000000000000" pitchFamily="50" charset="-52"/>
              </a:defRPr>
            </a:lvl1pPr>
            <a:lvl2pPr marL="742950" indent="-285750">
              <a:buFontTx/>
              <a:buBlip>
                <a:blip r:embed="rId2"/>
              </a:buBlip>
              <a:defRPr sz="1800">
                <a:latin typeface="Acrom" panose="00000500000000000000" pitchFamily="50" charset="-52"/>
              </a:defRPr>
            </a:lvl2pPr>
            <a:lvl3pPr marL="1143000" indent="-228600">
              <a:buFontTx/>
              <a:buBlip>
                <a:blip r:embed="rId2"/>
              </a:buBlip>
              <a:defRPr sz="1600">
                <a:latin typeface="Acrom" panose="00000500000000000000" pitchFamily="50" charset="-52"/>
              </a:defRPr>
            </a:lvl3pPr>
            <a:lvl4pPr marL="1600200" indent="-228600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4pPr>
            <a:lvl5pPr marL="2057400" indent="-228600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99A19190-EA56-57A0-2B5F-CD186ADC9A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E30BB8-E4F2-DF31-04C2-E55E5F8993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90108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ngleContent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8F2C7FDD-BB90-2EAC-CC9A-84AFF7FA84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838" y="4858733"/>
            <a:ext cx="1124818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fld id="{77501038-3FD5-4508-A3B2-A3E2BAE5DE49}" type="datetime1">
              <a:rPr lang="ru-RU" smtClean="0"/>
              <a:t>18.12.2024</a:t>
            </a:fld>
            <a:endParaRPr lang="en-US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493A3844-29DE-1B73-0A9B-B5DA2AF0C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7664" y="4858733"/>
            <a:ext cx="6048671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">
            <a:extLst>
              <a:ext uri="{FF2B5EF4-FFF2-40B4-BE49-F238E27FC236}">
                <a16:creationId xmlns:a16="http://schemas.microsoft.com/office/drawing/2014/main" id="{BB41C1D9-2BAB-F0D1-B591-D5133BE92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 wrap="none" lIns="0" tIns="0" rIns="0" bIns="0"/>
          <a:lstStyle>
            <a:lvl1pPr>
              <a:defRPr sz="3400">
                <a:solidFill>
                  <a:srgbClr val="898989"/>
                </a:solidFill>
                <a:latin typeface="Acrom ExtraBold" panose="020B0604020202020204" charset="-52"/>
              </a:defRPr>
            </a:lvl1pPr>
          </a:lstStyle>
          <a:p>
            <a:fld id="{C12E5AAC-331B-4A22-A01D-802D4003046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Содержимое 1">
            <a:extLst>
              <a:ext uri="{FF2B5EF4-FFF2-40B4-BE49-F238E27FC236}">
                <a16:creationId xmlns:a16="http://schemas.microsoft.com/office/drawing/2014/main" id="{5D55A141-82CC-750A-BEF7-7D6BD35A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419225"/>
            <a:ext cx="8541643" cy="2952750"/>
          </a:xfrm>
        </p:spPr>
        <p:txBody>
          <a:bodyPr>
            <a:normAutofit/>
          </a:bodyPr>
          <a:lstStyle>
            <a:lvl1pPr marL="342900" indent="-342900">
              <a:buFontTx/>
              <a:buBlip>
                <a:blip r:embed="rId2"/>
              </a:buBlip>
              <a:defRPr sz="2000">
                <a:latin typeface="Acrom" panose="00000500000000000000" pitchFamily="50" charset="-52"/>
              </a:defRPr>
            </a:lvl1pPr>
            <a:lvl2pPr marL="742950" indent="-285750">
              <a:buFontTx/>
              <a:buBlip>
                <a:blip r:embed="rId2"/>
              </a:buBlip>
              <a:defRPr sz="1800">
                <a:latin typeface="Acrom" panose="00000500000000000000" pitchFamily="50" charset="-52"/>
              </a:defRPr>
            </a:lvl2pPr>
            <a:lvl3pPr marL="1143000" indent="-228600">
              <a:buFontTx/>
              <a:buBlip>
                <a:blip r:embed="rId2"/>
              </a:buBlip>
              <a:defRPr sz="1600">
                <a:latin typeface="Acrom" panose="00000500000000000000" pitchFamily="50" charset="-52"/>
              </a:defRPr>
            </a:lvl3pPr>
            <a:lvl4pPr marL="1600200" indent="-228600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4pPr>
            <a:lvl5pPr marL="2057400" indent="-228600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E30BB8-E4F2-DF31-04C2-E55E5F8993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89807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">
            <a:extLst>
              <a:ext uri="{FF2B5EF4-FFF2-40B4-BE49-F238E27FC236}">
                <a16:creationId xmlns:a16="http://schemas.microsoft.com/office/drawing/2014/main" id="{1D48A0FE-9536-29C0-B7D0-1F66CF436D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838" y="4858733"/>
            <a:ext cx="1124818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fld id="{06694701-841A-4648-9226-979284EF9C69}" type="datetime1">
              <a:rPr lang="ru-RU" smtClean="0"/>
              <a:t>18.12.2024</a:t>
            </a:fld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D5AF862F-6F41-B134-6BBE-BEEB44663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7664" y="4858733"/>
            <a:ext cx="6048671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4E2BD42-6F67-28EC-EADC-8BA241124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 wrap="none" lIns="0" tIns="0" rIns="0" bIns="0"/>
          <a:lstStyle>
            <a:lvl1pPr>
              <a:defRPr sz="3400">
                <a:solidFill>
                  <a:srgbClr val="898989"/>
                </a:solidFill>
                <a:latin typeface="Acrom ExtraBold" panose="020B0604020202020204" charset="-52"/>
              </a:defRPr>
            </a:lvl1pPr>
          </a:lstStyle>
          <a:p>
            <a:fld id="{C12E5AAC-331B-4A22-A01D-802D4003046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B421E783-F97A-5F3F-D1CC-6D20305A286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0" y="1433513"/>
            <a:ext cx="4321175" cy="3683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+mj-lt"/>
              </a:defRPr>
            </a:lvl1pPr>
          </a:lstStyle>
          <a:p>
            <a:pPr lvl="0"/>
            <a:r>
              <a:rPr lang="ru-RU" dirty="0"/>
              <a:t>ПОДЗАГОЛОВОК</a:t>
            </a:r>
            <a:endParaRPr lang="en-US" dirty="0"/>
          </a:p>
        </p:txBody>
      </p:sp>
      <p:sp>
        <p:nvSpPr>
          <p:cNvPr id="19" name="Содержимое 2">
            <a:extLst>
              <a:ext uri="{FF2B5EF4-FFF2-40B4-BE49-F238E27FC236}">
                <a16:creationId xmlns:a16="http://schemas.microsoft.com/office/drawing/2014/main" id="{A8E2E46F-99FE-B8FD-A9AD-66EF6797945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0" y="2066923"/>
            <a:ext cx="4321175" cy="2305051"/>
          </a:xfrm>
        </p:spPr>
        <p:txBody>
          <a:bodyPr/>
          <a:lstStyle>
            <a:lvl1pPr marL="228600" indent="-228600">
              <a:defRPr lang="en-US" sz="20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1pPr>
            <a:lvl2pPr marL="823913" indent="-285750">
              <a:defRPr lang="en-US" sz="18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2pPr>
            <a:lvl3pPr marL="555625" indent="-285750">
              <a:defRPr lang="en-US" sz="16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3pPr>
            <a:lvl4pPr marL="1093788" indent="-285750">
              <a:defRPr lang="en-US" sz="14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4pPr>
            <a:lvl5pPr marL="1363662" indent="-285750">
              <a:defRPr lang="en-US" sz="1400" kern="1200" dirty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5pPr>
          </a:lstStyle>
          <a:p>
            <a:pPr marL="269875" lvl="0" indent="-2698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</a:pPr>
            <a:r>
              <a:rPr lang="en-US" dirty="0"/>
              <a:t>Click to edit Master text styles</a:t>
            </a:r>
          </a:p>
          <a:p>
            <a:pPr marL="538163" lvl="1" indent="-2682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Second level</a:t>
            </a:r>
          </a:p>
          <a:p>
            <a:pPr marL="808038" lvl="2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Third level</a:t>
            </a:r>
          </a:p>
          <a:p>
            <a:pPr marL="1077913" lvl="3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Fourth level</a:t>
            </a:r>
          </a:p>
          <a:p>
            <a:pPr marL="1254125" lvl="4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Fifth level</a:t>
            </a:r>
          </a:p>
        </p:txBody>
      </p:sp>
      <p:sp>
        <p:nvSpPr>
          <p:cNvPr id="6" name="Содержимое 1">
            <a:extLst>
              <a:ext uri="{FF2B5EF4-FFF2-40B4-BE49-F238E27FC236}">
                <a16:creationId xmlns:a16="http://schemas.microsoft.com/office/drawing/2014/main" id="{5D55A141-82CC-750A-BEF7-7D6BD35A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2066925"/>
            <a:ext cx="3933130" cy="2305050"/>
          </a:xfrm>
        </p:spPr>
        <p:txBody>
          <a:bodyPr>
            <a:normAutofit/>
          </a:bodyPr>
          <a:lstStyle>
            <a:lvl1pPr marL="269875" indent="-269875">
              <a:buFontTx/>
              <a:buBlip>
                <a:blip r:embed="rId2"/>
              </a:buBlip>
              <a:defRPr sz="2000">
                <a:latin typeface="Acrom" panose="00000500000000000000" pitchFamily="50" charset="-52"/>
              </a:defRPr>
            </a:lvl1pPr>
            <a:lvl2pPr marL="538163" indent="-268288">
              <a:buFontTx/>
              <a:buBlip>
                <a:blip r:embed="rId2"/>
              </a:buBlip>
              <a:defRPr sz="1800">
                <a:latin typeface="Acrom" panose="00000500000000000000" pitchFamily="50" charset="-52"/>
              </a:defRPr>
            </a:lvl2pPr>
            <a:lvl3pPr marL="808038" indent="-269875">
              <a:buFontTx/>
              <a:buBlip>
                <a:blip r:embed="rId2"/>
              </a:buBlip>
              <a:defRPr sz="1600">
                <a:latin typeface="Acrom" panose="00000500000000000000" pitchFamily="50" charset="-52"/>
              </a:defRPr>
            </a:lvl3pPr>
            <a:lvl4pPr marL="1077913" indent="-269875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4pPr>
            <a:lvl5pPr marL="1254125" indent="-176213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99A19190-EA56-57A0-2B5F-CD186ADC9A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0838" y="1419225"/>
            <a:ext cx="3933130" cy="38316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8BBB94-2676-906E-39F4-A268322BC7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02856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5365DC2F-61D5-9AAB-975D-7A0D222728BC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350838" y="4858732"/>
            <a:ext cx="1124818" cy="274637"/>
          </a:xfrm>
        </p:spPr>
        <p:txBody>
          <a:bodyPr/>
          <a:lstStyle/>
          <a:p>
            <a:fld id="{533F0968-48E1-48DF-98AF-E00A7EFE6F72}" type="datetime1">
              <a:rPr lang="ru-RU" smtClean="0"/>
              <a:t>18.12.2024</a:t>
            </a:fld>
            <a:endParaRPr lang="en-US" dirty="0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C272CE33-125F-A707-F331-AEF3B91CC83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1547664" y="4858733"/>
            <a:ext cx="6048671" cy="27463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2" name="Slide Number Placeholder">
            <a:extLst>
              <a:ext uri="{FF2B5EF4-FFF2-40B4-BE49-F238E27FC236}">
                <a16:creationId xmlns:a16="http://schemas.microsoft.com/office/drawing/2014/main" id="{6BFD863C-0DDE-E649-2043-41D74C4E0ED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BD5C77E5-19BC-410D-82EA-404658A4611A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Содержимое 2">
            <a:extLst>
              <a:ext uri="{FF2B5EF4-FFF2-40B4-BE49-F238E27FC236}">
                <a16:creationId xmlns:a16="http://schemas.microsoft.com/office/drawing/2014/main" id="{A8E2E46F-99FE-B8FD-A9AD-66EF6797945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0" y="1419225"/>
            <a:ext cx="4321175" cy="2952750"/>
          </a:xfrm>
        </p:spPr>
        <p:txBody>
          <a:bodyPr/>
          <a:lstStyle>
            <a:lvl1pPr marL="228600" indent="-228600">
              <a:defRPr lang="en-US" sz="20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1pPr>
            <a:lvl2pPr marL="823913" indent="-285750">
              <a:defRPr lang="en-US" sz="18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2pPr>
            <a:lvl3pPr marL="555625" indent="-285750">
              <a:defRPr lang="en-US" sz="16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3pPr>
            <a:lvl4pPr marL="1093788" indent="-285750">
              <a:defRPr lang="en-US" sz="14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4pPr>
            <a:lvl5pPr marL="1363662" indent="-285750">
              <a:defRPr lang="en-US" sz="1400" kern="1200" dirty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5pPr>
          </a:lstStyle>
          <a:p>
            <a:pPr marL="269875" lvl="0" indent="-2698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</a:pPr>
            <a:r>
              <a:rPr lang="en-US" dirty="0"/>
              <a:t>Click to edit Master text styles</a:t>
            </a:r>
          </a:p>
          <a:p>
            <a:pPr marL="538163" lvl="1" indent="-2682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Second level</a:t>
            </a:r>
          </a:p>
          <a:p>
            <a:pPr marL="808038" lvl="2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Third level</a:t>
            </a:r>
          </a:p>
          <a:p>
            <a:pPr marL="1077913" lvl="3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Fourth level</a:t>
            </a:r>
          </a:p>
          <a:p>
            <a:pPr marL="1254125" lvl="4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Fifth level</a:t>
            </a:r>
          </a:p>
        </p:txBody>
      </p:sp>
      <p:sp>
        <p:nvSpPr>
          <p:cNvPr id="6" name="Содержимое 1">
            <a:extLst>
              <a:ext uri="{FF2B5EF4-FFF2-40B4-BE49-F238E27FC236}">
                <a16:creationId xmlns:a16="http://schemas.microsoft.com/office/drawing/2014/main" id="{5D55A141-82CC-750A-BEF7-7D6BD35A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2066925"/>
            <a:ext cx="3933130" cy="2305050"/>
          </a:xfrm>
        </p:spPr>
        <p:txBody>
          <a:bodyPr>
            <a:normAutofit/>
          </a:bodyPr>
          <a:lstStyle>
            <a:lvl1pPr marL="269875" indent="-269875">
              <a:buFontTx/>
              <a:buBlip>
                <a:blip r:embed="rId2"/>
              </a:buBlip>
              <a:defRPr sz="2000">
                <a:latin typeface="Acrom" panose="00000500000000000000" pitchFamily="50" charset="-52"/>
              </a:defRPr>
            </a:lvl1pPr>
            <a:lvl2pPr marL="538163" indent="-268288">
              <a:buFontTx/>
              <a:buBlip>
                <a:blip r:embed="rId2"/>
              </a:buBlip>
              <a:defRPr sz="1800">
                <a:latin typeface="Acrom" panose="00000500000000000000" pitchFamily="50" charset="-52"/>
              </a:defRPr>
            </a:lvl2pPr>
            <a:lvl3pPr marL="808038" indent="-269875">
              <a:buFontTx/>
              <a:buBlip>
                <a:blip r:embed="rId2"/>
              </a:buBlip>
              <a:defRPr sz="1600">
                <a:latin typeface="Acrom" panose="00000500000000000000" pitchFamily="50" charset="-52"/>
              </a:defRPr>
            </a:lvl3pPr>
            <a:lvl4pPr marL="1077913" indent="-269875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4pPr>
            <a:lvl5pPr marL="1254125" indent="-176213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99A19190-EA56-57A0-2B5F-CD186ADC9A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0838" y="1419225"/>
            <a:ext cx="3933130" cy="38316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3C6FBF-E5DA-665A-B020-D02706ACF4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235" y="716531"/>
            <a:ext cx="8541939" cy="369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68244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335391"/>
            <a:ext cx="7928999" cy="7278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4034" y="1666716"/>
            <a:ext cx="7915931" cy="27273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4AD1B-8CAD-42B1-B997-0EDD160981B3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7BB24-8304-434B-8625-ECAE65742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208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CA8B4-969C-4179-E89C-015DCFCBC6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ubtitle 1">
            <a:extLst>
              <a:ext uri="{FF2B5EF4-FFF2-40B4-BE49-F238E27FC236}">
                <a16:creationId xmlns:a16="http://schemas.microsoft.com/office/drawing/2014/main" id="{C645F276-4CFE-ED6C-14E6-FFA499B33C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/>
        <p:txBody>
          <a:bodyPr wrap="square"/>
          <a:lstStyle>
            <a:lvl1pPr>
              <a:defRPr/>
            </a:lvl1pPr>
          </a:lstStyle>
          <a:p>
            <a:pPr lvl="0"/>
            <a:r>
              <a:rPr lang="ru-RU" dirty="0"/>
              <a:t>ОБРАЗЕЦ ПОДЗАГОЛОВКА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142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вершающ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499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2628"/>
            <a:ext cx="9144000" cy="88087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216" y="555526"/>
            <a:ext cx="1990348" cy="60350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2787774"/>
            <a:ext cx="307849" cy="307849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726456" y="2248774"/>
            <a:ext cx="59474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Acrom" pitchFamily="50" charset="-52"/>
              </a:rPr>
              <a:t>РОССИЯ, 630090, НОВОСИБИРСК, УЛ. ПИРОГОВА, 2</a:t>
            </a:r>
            <a:endParaRPr lang="en-US" sz="1600" dirty="0">
              <a:solidFill>
                <a:schemeClr val="bg1"/>
              </a:solidFill>
              <a:latin typeface="Acrom" pitchFamily="50" charset="-52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726456" y="3924074"/>
            <a:ext cx="20701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crom" pitchFamily="50" charset="-52"/>
              </a:rPr>
              <a:t>WWW.NSU.RU/N/</a:t>
            </a:r>
          </a:p>
        </p:txBody>
      </p:sp>
      <p:pic>
        <p:nvPicPr>
          <p:cNvPr id="12" name="Рисунок 11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9777" y="2787774"/>
            <a:ext cx="307849" cy="307849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3632215" y="3075806"/>
            <a:ext cx="8242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crom" pitchFamily="50" charset="-52"/>
              </a:rPr>
              <a:t>nsu24</a:t>
            </a:r>
            <a:endParaRPr lang="ru-RU" sz="1600" dirty="0">
              <a:solidFill>
                <a:schemeClr val="bg1"/>
              </a:solidFill>
              <a:latin typeface="Acrom" pitchFamily="50" charset="-52"/>
            </a:endParaRPr>
          </a:p>
        </p:txBody>
      </p: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88" y="2787774"/>
            <a:ext cx="310897" cy="307849"/>
          </a:xfrm>
          <a:prstGeom prst="rect">
            <a:avLst/>
          </a:prstGeom>
        </p:spPr>
      </p:pic>
      <p:sp>
        <p:nvSpPr>
          <p:cNvPr id="15" name="TextBox 14"/>
          <p:cNvSpPr txBox="1"/>
          <p:nvPr userDrawn="1"/>
        </p:nvSpPr>
        <p:spPr>
          <a:xfrm>
            <a:off x="5274608" y="3075806"/>
            <a:ext cx="16539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Acrom" pitchFamily="50" charset="-52"/>
              </a:rPr>
              <a:t>@</a:t>
            </a:r>
            <a:r>
              <a:rPr lang="ru-RU" sz="1600" dirty="0" err="1">
                <a:solidFill>
                  <a:schemeClr val="bg1"/>
                </a:solidFill>
                <a:latin typeface="Acrom" pitchFamily="50" charset="-52"/>
              </a:rPr>
              <a:t>nsuniversity</a:t>
            </a:r>
            <a:endParaRPr lang="ru-RU" sz="1600" dirty="0">
              <a:solidFill>
                <a:schemeClr val="bg1"/>
              </a:solidFill>
              <a:latin typeface="Acrom" pitchFamily="50" charset="-52"/>
            </a:endParaRPr>
          </a:p>
        </p:txBody>
      </p:sp>
      <p:pic>
        <p:nvPicPr>
          <p:cNvPr id="16" name="Рисунок 15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557032"/>
            <a:ext cx="966976" cy="966976"/>
          </a:xfrm>
          <a:prstGeom prst="rect">
            <a:avLst/>
          </a:prstGeom>
        </p:spPr>
      </p:pic>
      <p:sp>
        <p:nvSpPr>
          <p:cNvPr id="17" name="TextBox 16"/>
          <p:cNvSpPr txBox="1"/>
          <p:nvPr userDrawn="1"/>
        </p:nvSpPr>
        <p:spPr>
          <a:xfrm>
            <a:off x="702376" y="3072368"/>
            <a:ext cx="22246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  <a:latin typeface="Acrom" pitchFamily="50" charset="-52"/>
              </a:rPr>
              <a:t>nsuniversity.official</a:t>
            </a:r>
            <a:endParaRPr lang="ru-RU" sz="1600" dirty="0">
              <a:solidFill>
                <a:schemeClr val="bg1"/>
              </a:solidFill>
              <a:latin typeface="Acrom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238443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12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4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jpg"/><Relationship Id="rId14" Type="http://schemas.openxmlformats.org/officeDocument/2006/relationships/image" Target="../media/image6.png"/></Relationships>
</file>

<file path=ppt/slideMasters/_rels/slideMaster2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theme" Target="../theme/theme2.xml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microsoft.com/office/2007/relationships/hdphoto" Target="../media/hdphoto3.wdp"/><Relationship Id="rId5" Type="http://schemas.openxmlformats.org/officeDocument/2006/relationships/image" Target="../media/image15.png"/><Relationship Id="rId10" Type="http://schemas.openxmlformats.org/officeDocument/2006/relationships/image" Target="../media/image18.png"/><Relationship Id="rId4" Type="http://schemas.openxmlformats.org/officeDocument/2006/relationships/image" Target="../media/image14.jpeg"/><Relationship Id="rId9" Type="http://schemas.openxmlformats.org/officeDocument/2006/relationships/image" Target="../media/image1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>
          <a:blip r:embed="rId8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>
            <a:extLst>
              <a:ext uri="{FF2B5EF4-FFF2-40B4-BE49-F238E27FC236}">
                <a16:creationId xmlns:a16="http://schemas.microsoft.com/office/drawing/2014/main" id="{9B33D274-B6B1-E2DB-BE57-EEB1AA1C8EF1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499"/>
          </a:xfrm>
          <a:prstGeom prst="rect">
            <a:avLst/>
          </a:prstGeom>
          <a:noFill/>
        </p:spPr>
      </p:pic>
      <p:pic>
        <p:nvPicPr>
          <p:cNvPr id="15" name="BottomGutter">
            <a:extLst>
              <a:ext uri="{FF2B5EF4-FFF2-40B4-BE49-F238E27FC236}">
                <a16:creationId xmlns:a16="http://schemas.microsoft.com/office/drawing/2014/main" id="{C050C21E-2DCE-7642-AC5B-F79436CC620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856"/>
          <a:stretch/>
        </p:blipFill>
        <p:spPr>
          <a:xfrm>
            <a:off x="1" y="4499190"/>
            <a:ext cx="9143998" cy="644310"/>
          </a:xfrm>
          <a:prstGeom prst="rect">
            <a:avLst/>
          </a:prstGeom>
        </p:spPr>
      </p:pic>
      <p:pic>
        <p:nvPicPr>
          <p:cNvPr id="7" name="TopGutter">
            <a:extLst>
              <a:ext uri="{FF2B5EF4-FFF2-40B4-BE49-F238E27FC236}">
                <a16:creationId xmlns:a16="http://schemas.microsoft.com/office/drawing/2014/main" id="{858D3652-D041-9F6C-9E85-EE8258D7A38B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3996" cy="1237488"/>
          </a:xfrm>
          <a:prstGeom prst="rect">
            <a:avLst/>
          </a:prstGeom>
        </p:spPr>
      </p:pic>
      <p:sp>
        <p:nvSpPr>
          <p:cNvPr id="4" name="Date Placeholder">
            <a:extLst>
              <a:ext uri="{FF2B5EF4-FFF2-40B4-BE49-F238E27FC236}">
                <a16:creationId xmlns:a16="http://schemas.microsoft.com/office/drawing/2014/main" id="{F6631BE6-C540-9F06-1408-D5DAFE4CC7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51236" y="4858733"/>
            <a:ext cx="112442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579037-CC8E-4534-B7F6-0A122AB3349B}" type="datetime1">
              <a:rPr lang="ru-RU" smtClean="0"/>
              <a:t>18.12.2024</a:t>
            </a:fld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8203AFB7-5C34-3102-5A43-1D87CB96B0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7664" y="4858733"/>
            <a:ext cx="6048672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43316F-8F60-660A-EB0D-F436D4FDA7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5306" y="4682109"/>
            <a:ext cx="394546" cy="313943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3400">
                <a:solidFill>
                  <a:srgbClr val="898989"/>
                </a:solidFill>
                <a:latin typeface="Acrom ExtraBold" panose="020B0604020202020204" charset="-52"/>
              </a:defRPr>
            </a:lvl1pPr>
          </a:lstStyle>
          <a:p>
            <a:fld id="{BD5C77E5-19BC-410D-82EA-404658A4611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F01035C1-6DDC-A5E1-CB54-AEB8F2B5E8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1236" y="1370013"/>
            <a:ext cx="8164114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">
            <a:extLst>
              <a:ext uri="{FF2B5EF4-FFF2-40B4-BE49-F238E27FC236}">
                <a16:creationId xmlns:a16="http://schemas.microsoft.com/office/drawing/2014/main" id="{59F61F2A-946C-4ED4-F435-730061947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</a:t>
            </a:r>
            <a:endParaRPr lang="en-US" dirty="0"/>
          </a:p>
        </p:txBody>
      </p:sp>
      <p:pic>
        <p:nvPicPr>
          <p:cNvPr id="12" name="ЗвёздочкаЗаголовка">
            <a:extLst>
              <a:ext uri="{FF2B5EF4-FFF2-40B4-BE49-F238E27FC236}">
                <a16:creationId xmlns:a16="http://schemas.microsoft.com/office/drawing/2014/main" id="{FB3F1185-8665-1B69-1268-F2D4AEFABB6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72" y="778547"/>
            <a:ext cx="131064" cy="124968"/>
          </a:xfrm>
          <a:prstGeom prst="rect">
            <a:avLst/>
          </a:prstGeom>
        </p:spPr>
      </p:pic>
      <p:pic>
        <p:nvPicPr>
          <p:cNvPr id="14" name="ЗвёздочкаНомера">
            <a:extLst>
              <a:ext uri="{FF2B5EF4-FFF2-40B4-BE49-F238E27FC236}">
                <a16:creationId xmlns:a16="http://schemas.microsoft.com/office/drawing/2014/main" id="{405211ED-D317-9A6C-C87D-2F05449DEA0D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773" b="56441"/>
          <a:stretch/>
        </p:blipFill>
        <p:spPr>
          <a:xfrm>
            <a:off x="8750038" y="4680520"/>
            <a:ext cx="142442" cy="136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442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82" r:id="rId2"/>
    <p:sldLayoutId id="2147483684" r:id="rId3"/>
    <p:sldLayoutId id="2147483683" r:id="rId4"/>
    <p:sldLayoutId id="2147483680" r:id="rId5"/>
    <p:sldLayoutId id="2147483687" r:id="rId6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1800" kern="1200" cap="all" baseline="0">
          <a:solidFill>
            <a:schemeClr val="bg1"/>
          </a:solidFill>
          <a:latin typeface="Acrom ExtraBold" panose="020B0604020202020204" charset="-52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12">
            <a:extLst>
              <a:ext uri="{FF2B5EF4-FFF2-40B4-BE49-F238E27FC236}">
                <a16:creationId xmlns:a16="http://schemas.microsoft.com/office/drawing/2014/main" id="{A774F97C-D077-5D46-222E-2516201CB63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1746" y="0"/>
            <a:ext cx="5192253" cy="5143500"/>
          </a:xfrm>
          <a:prstGeom prst="rect">
            <a:avLst/>
          </a:prstGeom>
        </p:spPr>
      </p:pic>
      <p:pic>
        <p:nvPicPr>
          <p:cNvPr id="8" name="Asterisk">
            <a:extLst>
              <a:ext uri="{FF2B5EF4-FFF2-40B4-BE49-F238E27FC236}">
                <a16:creationId xmlns:a16="http://schemas.microsoft.com/office/drawing/2014/main" id="{D333FEBB-EBF5-7FBD-4829-084774DD955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2" y="483518"/>
            <a:ext cx="896114" cy="850394"/>
          </a:xfrm>
          <a:prstGeom prst="rect">
            <a:avLst/>
          </a:prstGeom>
        </p:spPr>
      </p:pic>
      <p:pic>
        <p:nvPicPr>
          <p:cNvPr id="9" name="Рисунок 15">
            <a:extLst>
              <a:ext uri="{FF2B5EF4-FFF2-40B4-BE49-F238E27FC236}">
                <a16:creationId xmlns:a16="http://schemas.microsoft.com/office/drawing/2014/main" id="{0BD73755-EB14-577B-F4C9-A77F7FCF8772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52085" cy="5143499"/>
          </a:xfrm>
          <a:prstGeom prst="rect">
            <a:avLst/>
          </a:prstGeom>
        </p:spPr>
      </p:pic>
      <p:pic>
        <p:nvPicPr>
          <p:cNvPr id="10" name="Рисунок 16">
            <a:extLst>
              <a:ext uri="{FF2B5EF4-FFF2-40B4-BE49-F238E27FC236}">
                <a16:creationId xmlns:a16="http://schemas.microsoft.com/office/drawing/2014/main" id="{327461AB-451C-E280-61A3-E51A2A202B98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90" y="339502"/>
            <a:ext cx="3206503" cy="3185166"/>
          </a:xfrm>
          <a:prstGeom prst="rect">
            <a:avLst/>
          </a:prstGeom>
        </p:spPr>
      </p:pic>
      <p:pic>
        <p:nvPicPr>
          <p:cNvPr id="11" name="Рисунок 17">
            <a:extLst>
              <a:ext uri="{FF2B5EF4-FFF2-40B4-BE49-F238E27FC236}">
                <a16:creationId xmlns:a16="http://schemas.microsoft.com/office/drawing/2014/main" id="{F78A891D-02CC-B741-9D04-F6A91F88DC3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90" y="4229069"/>
            <a:ext cx="1655067" cy="502921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973725AA-F208-BAB1-BC9D-BCA5F8833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362" y="1677262"/>
            <a:ext cx="4332104" cy="184740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14" name="Subtitle 1">
            <a:extLst>
              <a:ext uri="{FF2B5EF4-FFF2-40B4-BE49-F238E27FC236}">
                <a16:creationId xmlns:a16="http://schemas.microsoft.com/office/drawing/2014/main" id="{46B62068-49A8-7B4B-4EC6-41C46C4BA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04362" y="3524667"/>
            <a:ext cx="4332104" cy="9192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ПОДЗАГОЛОВКА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473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58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Acrom ExtraBold" panose="020B0604020202020204" charset="-52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cap="all" baseline="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l.acm.org/doi/10.1145/362384.362685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04362" y="1677262"/>
            <a:ext cx="3523722" cy="535531"/>
          </a:xfrm>
        </p:spPr>
        <p:txBody>
          <a:bodyPr wrap="none">
            <a:spAutoFit/>
          </a:bodyPr>
          <a:lstStyle/>
          <a:p>
            <a:r>
              <a:rPr lang="ru-RU" sz="3200" dirty="0"/>
              <a:t>БАЗЫ ДАННЫХ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55D118-EC03-3BAF-711F-6D2F5AAC6F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ru-RU" dirty="0"/>
              <a:t>Реляционная модель данных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753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6A26515-82F9-BFED-C2A0-1967B2EA701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eaLnBrk="1" hangingPunct="1"/>
            <a:r>
              <a:rPr lang="ru-RU" sz="2000" dirty="0"/>
              <a:t>Дж. Ульман, </a:t>
            </a:r>
            <a:r>
              <a:rPr lang="ru-RU" sz="2000" b="1" dirty="0"/>
              <a:t>Основы систем баз данных</a:t>
            </a:r>
            <a:r>
              <a:rPr lang="ru-RU" sz="2000" dirty="0"/>
              <a:t>, </a:t>
            </a:r>
            <a:r>
              <a:rPr lang="ru-RU" sz="2000" dirty="0">
                <a:solidFill>
                  <a:schemeClr val="tx1"/>
                </a:solidFill>
                <a:highlight>
                  <a:srgbClr val="C1F3FF"/>
                </a:highlight>
              </a:rPr>
              <a:t>Глава 3</a:t>
            </a:r>
            <a:endParaRPr lang="en-US" dirty="0">
              <a:solidFill>
                <a:schemeClr val="tx1"/>
              </a:solidFill>
              <a:highlight>
                <a:srgbClr val="C1F3FF"/>
              </a:highlight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F6A67C-FF6B-9762-ACBF-04B1A1F1E3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ЛИТЕРАТУРА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2118199-88F4-C870-1F8E-8EA926A2D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145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2056597-5E11-9D32-4860-8D9B2512A8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2066924"/>
            <a:ext cx="6525419" cy="2615183"/>
          </a:xfrm>
        </p:spPr>
        <p:txBody>
          <a:bodyPr>
            <a:normAutofit fontScale="85000" lnSpcReduction="10000"/>
          </a:bodyPr>
          <a:lstStyle/>
          <a:p>
            <a:pPr marL="182563" indent="-166688">
              <a:lnSpc>
                <a:spcPct val="110000"/>
              </a:lnSpc>
              <a:spcBef>
                <a:spcPts val="600"/>
              </a:spcBef>
            </a:pPr>
            <a:r>
              <a:rPr lang="ru-RU" sz="1800" dirty="0"/>
              <a:t>Родился на о. Портланд в Англии, графство </a:t>
            </a:r>
            <a:r>
              <a:rPr lang="ru-RU" sz="1800" dirty="0" err="1"/>
              <a:t>Дорсет</a:t>
            </a:r>
            <a:r>
              <a:rPr lang="ru-RU" sz="1800" dirty="0"/>
              <a:t>.</a:t>
            </a:r>
          </a:p>
          <a:p>
            <a:pPr marL="182563" indent="-166688">
              <a:lnSpc>
                <a:spcPct val="110000"/>
              </a:lnSpc>
              <a:spcBef>
                <a:spcPts val="600"/>
              </a:spcBef>
            </a:pPr>
            <a:r>
              <a:rPr lang="ru-RU" sz="1800" dirty="0"/>
              <a:t>Обучался математике и химии в Оксфордском университете.</a:t>
            </a:r>
          </a:p>
          <a:p>
            <a:pPr marL="182563" indent="-166688">
              <a:lnSpc>
                <a:spcPct val="110000"/>
              </a:lnSpc>
              <a:spcBef>
                <a:spcPts val="600"/>
              </a:spcBef>
            </a:pPr>
            <a:r>
              <a:rPr lang="ru-RU" sz="1800" dirty="0"/>
              <a:t>В 1963 получил </a:t>
            </a:r>
            <a:r>
              <a:rPr lang="en-US" sz="1800" dirty="0"/>
              <a:t>PhD </a:t>
            </a:r>
            <a:r>
              <a:rPr lang="ru-RU" sz="1800" dirty="0"/>
              <a:t>по </a:t>
            </a:r>
            <a:r>
              <a:rPr lang="en-US" sz="1800" dirty="0"/>
              <a:t>CS</a:t>
            </a:r>
            <a:r>
              <a:rPr lang="ru-RU" sz="1800" dirty="0"/>
              <a:t> в Мичиганском Университете</a:t>
            </a:r>
          </a:p>
          <a:p>
            <a:pPr marL="182563" indent="-166688">
              <a:lnSpc>
                <a:spcPct val="110000"/>
              </a:lnSpc>
              <a:spcBef>
                <a:spcPts val="600"/>
              </a:spcBef>
            </a:pPr>
            <a:r>
              <a:rPr lang="ru-RU" sz="1800" dirty="0"/>
              <a:t>С 1965 работал в </a:t>
            </a:r>
            <a:r>
              <a:rPr lang="ru-RU" sz="1800" dirty="0" err="1"/>
              <a:t>Альмаденском</a:t>
            </a:r>
            <a:r>
              <a:rPr lang="ru-RU" sz="1800" dirty="0"/>
              <a:t> Исследовательском Центре IBM,  Сан-Хосе (Калифорния)</a:t>
            </a:r>
          </a:p>
          <a:p>
            <a:pPr marL="182563" indent="-166688">
              <a:lnSpc>
                <a:spcPct val="110000"/>
              </a:lnSpc>
              <a:spcBef>
                <a:spcPts val="600"/>
              </a:spcBef>
            </a:pPr>
            <a:r>
              <a:rPr lang="ru-RU" sz="1800" dirty="0"/>
              <a:t>В 1970 опубликовал «</a:t>
            </a:r>
            <a:r>
              <a:rPr lang="en-US" sz="1800" b="1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3"/>
              </a:rPr>
              <a:t>A Relational Model of Data for Large Shared Data</a:t>
            </a:r>
            <a:r>
              <a:rPr lang="ru-RU" sz="1800" b="1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3"/>
              </a:rPr>
              <a:t> </a:t>
            </a:r>
            <a:r>
              <a:rPr lang="en-US" sz="1800" b="1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3"/>
              </a:rPr>
              <a:t>Banks</a:t>
            </a:r>
            <a:r>
              <a:rPr lang="ru-RU" sz="1800" b="1" dirty="0">
                <a:latin typeface="+mn-lt"/>
              </a:rPr>
              <a:t>» </a:t>
            </a:r>
            <a:r>
              <a:rPr lang="ru-RU" sz="1800" dirty="0">
                <a:latin typeface="+mn-lt"/>
              </a:rPr>
              <a:t>в</a:t>
            </a:r>
            <a:r>
              <a:rPr lang="ru-RU" sz="1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800" i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Communications of the ACM</a:t>
            </a:r>
            <a:r>
              <a:rPr lang="ru-RU" sz="1800" i="1" dirty="0"/>
              <a:t> </a:t>
            </a:r>
            <a:r>
              <a:rPr lang="en-US" sz="1800" dirty="0"/>
              <a:t>V</a:t>
            </a:r>
            <a:r>
              <a:rPr lang="en-US" sz="1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13#6</a:t>
            </a:r>
            <a:endParaRPr lang="ru-RU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82563" indent="-166688">
              <a:lnSpc>
                <a:spcPct val="110000"/>
              </a:lnSpc>
              <a:spcBef>
                <a:spcPts val="600"/>
              </a:spcBef>
            </a:pPr>
            <a:r>
              <a:rPr lang="ru-RU" sz="1800" dirty="0"/>
              <a:t>В 1976 получил почетное звание IBM </a:t>
            </a:r>
            <a:r>
              <a:rPr lang="ru-RU" sz="1800" dirty="0" err="1"/>
              <a:t>Fellow</a:t>
            </a:r>
            <a:r>
              <a:rPr lang="ru-RU" sz="1800" dirty="0"/>
              <a:t>. </a:t>
            </a:r>
          </a:p>
          <a:p>
            <a:pPr marL="182563" indent="-166688">
              <a:lnSpc>
                <a:spcPct val="110000"/>
              </a:lnSpc>
              <a:spcBef>
                <a:spcPts val="600"/>
              </a:spcBef>
            </a:pPr>
            <a:r>
              <a:rPr lang="ru-RU" sz="1800" dirty="0"/>
              <a:t>В 1981 получил</a:t>
            </a:r>
            <a:r>
              <a:rPr lang="en-US" sz="1800" dirty="0"/>
              <a:t> </a:t>
            </a:r>
            <a:r>
              <a:rPr lang="ru-RU" sz="1800" dirty="0"/>
              <a:t>премию Тьюринга</a:t>
            </a:r>
          </a:p>
          <a:p>
            <a:pPr marL="0" indent="0">
              <a:buNone/>
            </a:pPr>
            <a:endParaRPr lang="ru-RU" sz="1800" dirty="0"/>
          </a:p>
          <a:p>
            <a:endParaRPr lang="en-US" sz="1800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D3BD761-41B5-81FF-17CE-517EC9162B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ru-RU" sz="1800" b="1" cap="all" dirty="0"/>
              <a:t>Эдгар Франк Кодд (</a:t>
            </a:r>
            <a:r>
              <a:rPr lang="en-US" sz="1800" i="0" cap="all" dirty="0"/>
              <a:t>Edgar Frank Codd</a:t>
            </a:r>
            <a:r>
              <a:rPr lang="ru-RU" sz="1800" i="0" cap="all" dirty="0"/>
              <a:t>)  1923 - 2003</a:t>
            </a:r>
            <a:endParaRPr lang="en-US" cap="all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CA5B3C15-F977-D5B1-50D9-3B4273273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История</a:t>
            </a:r>
            <a:endParaRPr lang="en-US" dirty="0"/>
          </a:p>
        </p:txBody>
      </p:sp>
      <p:pic>
        <p:nvPicPr>
          <p:cNvPr id="16" name="Picture 3">
            <a:extLst>
              <a:ext uri="{FF2B5EF4-FFF2-40B4-BE49-F238E27FC236}">
                <a16:creationId xmlns:a16="http://schemas.microsoft.com/office/drawing/2014/main" id="{ABC446D7-32C4-FAED-5008-4CB7564C79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171945" y="2066925"/>
            <a:ext cx="1621218" cy="2305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5D1D5A9C-223C-8B4F-4FE9-41F9D2591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3469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D6302C-D80C-436D-6236-12F6A8D87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7EA683C-1E5F-A199-53DE-8151637C5D3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Структура данных</a:t>
            </a:r>
          </a:p>
          <a:p>
            <a:r>
              <a:rPr lang="ru-RU" dirty="0"/>
              <a:t>Манипулирование данными</a:t>
            </a:r>
          </a:p>
          <a:p>
            <a:pPr lvl="1"/>
            <a:r>
              <a:rPr lang="ru-RU" dirty="0"/>
              <a:t>Реляционная алгебра</a:t>
            </a:r>
          </a:p>
          <a:p>
            <a:pPr lvl="1"/>
            <a:r>
              <a:rPr lang="ru-RU" dirty="0"/>
              <a:t>Реляционное исчисление</a:t>
            </a:r>
          </a:p>
          <a:p>
            <a:pPr lvl="2"/>
            <a:r>
              <a:rPr lang="ru-RU" dirty="0"/>
              <a:t>на кортежах</a:t>
            </a:r>
          </a:p>
          <a:p>
            <a:pPr lvl="2"/>
            <a:r>
              <a:rPr lang="ru-RU" dirty="0"/>
              <a:t>на доменах</a:t>
            </a:r>
          </a:p>
          <a:p>
            <a:r>
              <a:rPr lang="ru-RU" dirty="0"/>
              <a:t>Целостность данных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7A003BE-1CCA-BB54-B15D-C163755E4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Аспекты модели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5842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DB4682-9ED7-DC2E-3085-F23A126E9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1C2CF5-60CF-BFEA-9E48-F7C42D7042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419224"/>
            <a:ext cx="8541643" cy="3262884"/>
          </a:xfrm>
        </p:spPr>
        <p:txBody>
          <a:bodyPr numCol="2">
            <a:normAutofit fontScale="70000" lnSpcReduction="20000"/>
          </a:bodyPr>
          <a:lstStyle/>
          <a:p>
            <a:pPr marL="0" eaLnBrk="1" hangingPunct="1">
              <a:lnSpc>
                <a:spcPct val="120000"/>
              </a:lnSpc>
              <a:buNone/>
            </a:pPr>
            <a:r>
              <a:rPr lang="ru-RU" sz="2000" dirty="0"/>
              <a:t>Основой структур данных в модели является теоретико-множественное понятие </a:t>
            </a:r>
            <a:r>
              <a:rPr lang="ru-RU" sz="2000" b="1" dirty="0"/>
              <a:t>ОТНОШЕНИЯ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ru-RU" sz="2000" b="1" u="sng" dirty="0"/>
              <a:t>Определение </a:t>
            </a:r>
            <a:r>
              <a:rPr lang="ru-RU" sz="2000" b="1" dirty="0"/>
              <a:t>1</a:t>
            </a:r>
          </a:p>
          <a:p>
            <a:pPr eaLnBrk="1" hangingPunct="1">
              <a:lnSpc>
                <a:spcPct val="90000"/>
              </a:lnSpc>
            </a:pPr>
            <a:r>
              <a:rPr lang="ru-RU" sz="2000" dirty="0"/>
              <a:t>Пусть даны </a:t>
            </a:r>
            <a:r>
              <a:rPr lang="en-US" sz="2000" dirty="0"/>
              <a:t>D</a:t>
            </a:r>
            <a:r>
              <a:rPr lang="en-US" sz="2000" baseline="-25000" dirty="0"/>
              <a:t>1</a:t>
            </a:r>
            <a:r>
              <a:rPr lang="en-US" sz="2000" dirty="0"/>
              <a:t>, D</a:t>
            </a:r>
            <a:r>
              <a:rPr lang="en-US" sz="2000" baseline="-25000" dirty="0"/>
              <a:t>2</a:t>
            </a:r>
            <a:r>
              <a:rPr lang="en-US" sz="2000" dirty="0"/>
              <a:t>, … </a:t>
            </a:r>
            <a:r>
              <a:rPr lang="en-US" sz="2000" dirty="0" err="1"/>
              <a:t>D</a:t>
            </a:r>
            <a:r>
              <a:rPr lang="en-US" sz="2000" baseline="-25000" dirty="0" err="1"/>
              <a:t>n</a:t>
            </a:r>
            <a:r>
              <a:rPr lang="en-US" sz="2000" dirty="0"/>
              <a:t> – </a:t>
            </a:r>
            <a:r>
              <a:rPr lang="ru-RU" sz="2000" dirty="0"/>
              <a:t>множества (домены)</a:t>
            </a:r>
          </a:p>
          <a:p>
            <a:pPr eaLnBrk="1" hangingPunct="1">
              <a:lnSpc>
                <a:spcPct val="120000"/>
              </a:lnSpc>
            </a:pPr>
            <a:r>
              <a:rPr lang="ru-RU" sz="2000" dirty="0"/>
              <a:t>Декартово произведение </a:t>
            </a:r>
            <a:r>
              <a:rPr lang="en-US" sz="2000" dirty="0"/>
              <a:t>D</a:t>
            </a:r>
            <a:r>
              <a:rPr lang="en-US" sz="2000" baseline="-25000" dirty="0"/>
              <a:t>1 </a:t>
            </a:r>
            <a:r>
              <a:rPr lang="en-US" sz="2000" dirty="0"/>
              <a:t>× D</a:t>
            </a:r>
            <a:r>
              <a:rPr lang="en-US" sz="2000" baseline="-25000" dirty="0"/>
              <a:t>2</a:t>
            </a:r>
            <a:r>
              <a:rPr lang="en-US" sz="2000" dirty="0"/>
              <a:t> × … ×</a:t>
            </a:r>
            <a:r>
              <a:rPr lang="ru-RU" sz="2000" dirty="0"/>
              <a:t> </a:t>
            </a:r>
            <a:r>
              <a:rPr lang="en-US" sz="2000" dirty="0" err="1"/>
              <a:t>D</a:t>
            </a:r>
            <a:r>
              <a:rPr lang="en-US" sz="2000" baseline="-25000" dirty="0" err="1"/>
              <a:t>n</a:t>
            </a:r>
            <a:r>
              <a:rPr lang="ru-RU" sz="2000" baseline="-25000" dirty="0"/>
              <a:t> </a:t>
            </a:r>
            <a:r>
              <a:rPr lang="ru-RU" sz="2000" dirty="0"/>
              <a:t> состоит из множества кортежей </a:t>
            </a:r>
            <a:br>
              <a:rPr lang="ru-RU" sz="2000" dirty="0"/>
            </a:br>
            <a:r>
              <a:rPr lang="en-US" sz="2000" dirty="0"/>
              <a:t>{v</a:t>
            </a:r>
            <a:r>
              <a:rPr lang="en-US" sz="2000" baseline="-25000" dirty="0"/>
              <a:t>1</a:t>
            </a:r>
            <a:r>
              <a:rPr lang="en-US" sz="2000" dirty="0"/>
              <a:t>,v</a:t>
            </a:r>
            <a:r>
              <a:rPr lang="en-US" sz="2000" baseline="-25000" dirty="0"/>
              <a:t>2</a:t>
            </a:r>
            <a:r>
              <a:rPr lang="en-US" sz="2000" dirty="0"/>
              <a:t>, …</a:t>
            </a:r>
            <a:r>
              <a:rPr lang="ru-RU" sz="2000" dirty="0"/>
              <a:t>,</a:t>
            </a:r>
            <a:r>
              <a:rPr lang="en-US" sz="2000" dirty="0"/>
              <a:t> </a:t>
            </a:r>
            <a:r>
              <a:rPr lang="en-US" sz="2000" dirty="0" err="1"/>
              <a:t>v</a:t>
            </a:r>
            <a:r>
              <a:rPr lang="en-US" sz="2000" baseline="-25000" dirty="0" err="1"/>
              <a:t>n</a:t>
            </a:r>
            <a:r>
              <a:rPr lang="en-US" sz="2000" dirty="0"/>
              <a:t>}</a:t>
            </a:r>
            <a:r>
              <a:rPr lang="ru-RU" sz="2000" dirty="0"/>
              <a:t>, длины </a:t>
            </a:r>
            <a:r>
              <a:rPr lang="en-US" sz="2000" dirty="0"/>
              <a:t>n, </a:t>
            </a:r>
            <a:r>
              <a:rPr lang="ru-RU" sz="2000" dirty="0"/>
              <a:t>таких, что </a:t>
            </a:r>
            <a:br>
              <a:rPr lang="ru-RU" sz="2000" dirty="0"/>
            </a:br>
            <a:r>
              <a:rPr lang="en-US" sz="2000" dirty="0"/>
              <a:t>v</a:t>
            </a:r>
            <a:r>
              <a:rPr lang="en-US" sz="2000" baseline="-25000" dirty="0"/>
              <a:t>1</a:t>
            </a:r>
            <a:r>
              <a:rPr lang="ru-RU" sz="2000" baseline="-25000" dirty="0"/>
              <a:t> </a:t>
            </a:r>
            <a:r>
              <a:rPr lang="ru-RU" sz="2000" dirty="0"/>
              <a:t>∈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/>
              <a:t>D</a:t>
            </a:r>
            <a:r>
              <a:rPr lang="en-US" sz="2000" baseline="-25000" dirty="0"/>
              <a:t>1</a:t>
            </a:r>
            <a:r>
              <a:rPr lang="ru-RU" sz="2000" dirty="0"/>
              <a:t>,</a:t>
            </a:r>
            <a:r>
              <a:rPr lang="en-US" sz="2000" dirty="0"/>
              <a:t> v</a:t>
            </a:r>
            <a:r>
              <a:rPr lang="ru-RU" sz="2000" baseline="-25000" dirty="0"/>
              <a:t>2</a:t>
            </a:r>
            <a:r>
              <a:rPr lang="el-GR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/>
              <a:t>∈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/>
              <a:t>D</a:t>
            </a:r>
            <a:r>
              <a:rPr lang="ru-RU" sz="2000" baseline="-25000" dirty="0"/>
              <a:t>2</a:t>
            </a:r>
            <a:r>
              <a:rPr lang="ru-RU" sz="2000" dirty="0"/>
              <a:t>, …</a:t>
            </a:r>
            <a:r>
              <a:rPr lang="en-US" sz="2000" dirty="0"/>
              <a:t> </a:t>
            </a:r>
            <a:r>
              <a:rPr lang="en-US" sz="2000" dirty="0" err="1"/>
              <a:t>v</a:t>
            </a:r>
            <a:r>
              <a:rPr lang="en-US" sz="2000" baseline="-25000" dirty="0" err="1"/>
              <a:t>n</a:t>
            </a:r>
            <a:r>
              <a:rPr lang="el-GR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/>
              <a:t>∈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/>
              <a:t>D</a:t>
            </a:r>
            <a:r>
              <a:rPr lang="en-US" sz="2000" baseline="-25000" dirty="0" err="1"/>
              <a:t>n</a:t>
            </a:r>
            <a:endParaRPr lang="ru-RU" sz="2000" dirty="0"/>
          </a:p>
          <a:p>
            <a:pPr eaLnBrk="1" hangingPunct="1">
              <a:lnSpc>
                <a:spcPct val="120000"/>
              </a:lnSpc>
            </a:pPr>
            <a:r>
              <a:rPr lang="ru-RU" sz="2000" dirty="0"/>
              <a:t>Отношением</a:t>
            </a:r>
            <a:r>
              <a:rPr lang="en-US" sz="2000" dirty="0"/>
              <a:t> </a:t>
            </a:r>
            <a:r>
              <a:rPr lang="ru-RU" sz="2000" dirty="0"/>
              <a:t>называется КОНЕЧНОЕ подмножество декартового произведения доменов </a:t>
            </a:r>
            <a:r>
              <a:rPr lang="en-US" sz="2000" dirty="0"/>
              <a:t>D</a:t>
            </a:r>
            <a:r>
              <a:rPr lang="en-US" sz="2000" baseline="-25000" dirty="0"/>
              <a:t>1</a:t>
            </a:r>
            <a:r>
              <a:rPr lang="en-US" sz="2000" dirty="0"/>
              <a:t> × D</a:t>
            </a:r>
            <a:r>
              <a:rPr lang="en-US" sz="2000" baseline="-25000" dirty="0"/>
              <a:t>2</a:t>
            </a:r>
            <a:r>
              <a:rPr lang="en-US" sz="2000" dirty="0"/>
              <a:t> × … × </a:t>
            </a:r>
            <a:r>
              <a:rPr lang="en-US" sz="2000" dirty="0" err="1"/>
              <a:t>D</a:t>
            </a:r>
            <a:r>
              <a:rPr lang="en-US" sz="2000" baseline="-25000" dirty="0" err="1"/>
              <a:t>n</a:t>
            </a:r>
            <a:endParaRPr lang="ru-RU" sz="2000" dirty="0"/>
          </a:p>
          <a:p>
            <a:pPr eaLnBrk="1" hangingPunct="1">
              <a:lnSpc>
                <a:spcPct val="120000"/>
              </a:lnSpc>
            </a:pPr>
            <a:r>
              <a:rPr lang="ru-RU" sz="2000" dirty="0"/>
              <a:t>Запись вида </a:t>
            </a:r>
            <a:r>
              <a:rPr lang="en-US" sz="2000" dirty="0"/>
              <a:t>R</a:t>
            </a:r>
            <a:r>
              <a:rPr lang="ru-RU" sz="2000" dirty="0"/>
              <a:t>(А</a:t>
            </a:r>
            <a:r>
              <a:rPr lang="ru-RU" sz="2000" baseline="-25000" dirty="0"/>
              <a:t>1</a:t>
            </a:r>
            <a:r>
              <a:rPr lang="ru-RU" sz="2000" dirty="0"/>
              <a:t>:</a:t>
            </a:r>
            <a:r>
              <a:rPr lang="en-US" sz="2000" dirty="0"/>
              <a:t>D</a:t>
            </a:r>
            <a:r>
              <a:rPr lang="en-US" sz="2000" baseline="-25000" dirty="0"/>
              <a:t>1</a:t>
            </a:r>
            <a:r>
              <a:rPr lang="en-US" sz="2000" dirty="0"/>
              <a:t>,</a:t>
            </a:r>
            <a:r>
              <a:rPr lang="ru-RU" sz="2000" dirty="0"/>
              <a:t> А</a:t>
            </a:r>
            <a:r>
              <a:rPr lang="ru-RU" sz="2000" baseline="-25000" dirty="0"/>
              <a:t>2</a:t>
            </a:r>
            <a:r>
              <a:rPr lang="ru-RU" sz="2000" dirty="0"/>
              <a:t>:</a:t>
            </a:r>
            <a:r>
              <a:rPr lang="en-US" sz="2000" dirty="0"/>
              <a:t>D</a:t>
            </a:r>
            <a:r>
              <a:rPr lang="en-US" sz="2000" baseline="-25000" dirty="0"/>
              <a:t>2</a:t>
            </a:r>
            <a:r>
              <a:rPr lang="en-US" sz="2000" dirty="0"/>
              <a:t>, …</a:t>
            </a:r>
            <a:r>
              <a:rPr lang="ru-RU" sz="2000" dirty="0"/>
              <a:t>,А</a:t>
            </a:r>
            <a:r>
              <a:rPr lang="en-US" sz="2000" baseline="-25000" dirty="0"/>
              <a:t>k</a:t>
            </a:r>
            <a:r>
              <a:rPr lang="ru-RU" sz="2000" dirty="0"/>
              <a:t>:</a:t>
            </a:r>
            <a:r>
              <a:rPr lang="en-US" sz="2000" dirty="0" err="1"/>
              <a:t>D</a:t>
            </a:r>
            <a:r>
              <a:rPr lang="en-US" sz="2000" baseline="-25000" dirty="0" err="1"/>
              <a:t>n</a:t>
            </a:r>
            <a:r>
              <a:rPr lang="ru-RU" sz="2000" dirty="0"/>
              <a:t>) </a:t>
            </a:r>
            <a:br>
              <a:rPr lang="en-US" sz="2000" dirty="0"/>
            </a:br>
            <a:r>
              <a:rPr lang="ru-RU" sz="2000" dirty="0"/>
              <a:t>или </a:t>
            </a:r>
            <a:r>
              <a:rPr lang="en-US" sz="2000" dirty="0"/>
              <a:t>R</a:t>
            </a:r>
            <a:r>
              <a:rPr lang="ru-RU" sz="2000" dirty="0"/>
              <a:t>(А</a:t>
            </a:r>
            <a:r>
              <a:rPr lang="ru-RU" sz="2000" baseline="-25000" dirty="0"/>
              <a:t>1</a:t>
            </a:r>
            <a:r>
              <a:rPr lang="en-US" sz="2000" dirty="0"/>
              <a:t>,</a:t>
            </a:r>
            <a:r>
              <a:rPr lang="ru-RU" sz="2000" dirty="0"/>
              <a:t> А</a:t>
            </a:r>
            <a:r>
              <a:rPr lang="ru-RU" sz="2000" baseline="-25000" dirty="0"/>
              <a:t>2</a:t>
            </a:r>
            <a:r>
              <a:rPr lang="en-US" sz="2000" dirty="0"/>
              <a:t>, …</a:t>
            </a:r>
            <a:r>
              <a:rPr lang="ru-RU" sz="2000" dirty="0"/>
              <a:t>,А</a:t>
            </a:r>
            <a:r>
              <a:rPr lang="en-US" sz="2000" baseline="-25000" dirty="0"/>
              <a:t>k</a:t>
            </a:r>
            <a:r>
              <a:rPr lang="ru-RU" sz="2000" dirty="0"/>
              <a:t>), где</a:t>
            </a:r>
          </a:p>
          <a:p>
            <a:pPr marL="541338" lvl="1" indent="0">
              <a:lnSpc>
                <a:spcPct val="120000"/>
              </a:lnSpc>
              <a:spcBef>
                <a:spcPts val="0"/>
              </a:spcBef>
              <a:buNone/>
              <a:tabLst>
                <a:tab pos="715963" algn="l"/>
              </a:tabLst>
            </a:pPr>
            <a:r>
              <a:rPr lang="en-US" sz="2000" dirty="0"/>
              <a:t>k </a:t>
            </a:r>
            <a:r>
              <a:rPr lang="ru-RU" sz="2000" dirty="0"/>
              <a:t>	</a:t>
            </a:r>
            <a:r>
              <a:rPr lang="en-US" sz="2000" dirty="0"/>
              <a:t>≥ n</a:t>
            </a:r>
            <a:r>
              <a:rPr lang="ru-RU" sz="2000" dirty="0"/>
              <a:t>, </a:t>
            </a:r>
          </a:p>
          <a:p>
            <a:pPr marL="541338" lvl="1" indent="0">
              <a:lnSpc>
                <a:spcPct val="120000"/>
              </a:lnSpc>
              <a:spcBef>
                <a:spcPts val="0"/>
              </a:spcBef>
              <a:buNone/>
              <a:tabLst>
                <a:tab pos="715963" algn="l"/>
              </a:tabLst>
            </a:pPr>
            <a:r>
              <a:rPr lang="en-US" sz="2000" dirty="0"/>
              <a:t>R</a:t>
            </a:r>
            <a:r>
              <a:rPr lang="ru-RU" sz="2000" dirty="0"/>
              <a:t>	– имя отношения, </a:t>
            </a:r>
          </a:p>
          <a:p>
            <a:pPr marL="541338" lvl="1" indent="0">
              <a:lnSpc>
                <a:spcPct val="120000"/>
              </a:lnSpc>
              <a:spcBef>
                <a:spcPts val="0"/>
              </a:spcBef>
              <a:buNone/>
              <a:tabLst>
                <a:tab pos="715963" algn="l"/>
              </a:tabLst>
            </a:pPr>
            <a:r>
              <a:rPr lang="en-US" sz="2000" dirty="0"/>
              <a:t>A</a:t>
            </a:r>
            <a:r>
              <a:rPr lang="en-US" sz="2000" baseline="-25000" dirty="0"/>
              <a:t>i</a:t>
            </a:r>
            <a:r>
              <a:rPr lang="ru-RU" sz="2000" baseline="-25000" dirty="0"/>
              <a:t>	</a:t>
            </a:r>
            <a:r>
              <a:rPr lang="ru-RU" sz="2000" dirty="0"/>
              <a:t>– имена атрибутов, </a:t>
            </a:r>
          </a:p>
          <a:p>
            <a:pPr marL="541338" lvl="1" indent="0">
              <a:lnSpc>
                <a:spcPct val="120000"/>
              </a:lnSpc>
              <a:spcBef>
                <a:spcPts val="0"/>
              </a:spcBef>
              <a:buNone/>
              <a:tabLst>
                <a:tab pos="715963" algn="l"/>
              </a:tabLst>
            </a:pPr>
            <a:r>
              <a:rPr lang="en-US" sz="2000" dirty="0" err="1"/>
              <a:t>D</a:t>
            </a:r>
            <a:r>
              <a:rPr lang="en-US" sz="2000" baseline="-25000" dirty="0" err="1"/>
              <a:t>j</a:t>
            </a:r>
            <a:r>
              <a:rPr lang="en-US" sz="2000" baseline="-25000" dirty="0"/>
              <a:t> </a:t>
            </a:r>
            <a:r>
              <a:rPr lang="ru-RU" sz="2000" dirty="0"/>
              <a:t>- имена доменов,</a:t>
            </a:r>
            <a:endParaRPr lang="ru-RU" sz="2000" b="1" dirty="0"/>
          </a:p>
          <a:p>
            <a:pPr marL="358775" lvl="1" indent="0">
              <a:lnSpc>
                <a:spcPct val="120000"/>
              </a:lnSpc>
              <a:spcBef>
                <a:spcPts val="0"/>
              </a:spcBef>
              <a:buNone/>
              <a:tabLst>
                <a:tab pos="541338" algn="l"/>
              </a:tabLst>
            </a:pPr>
            <a:r>
              <a:rPr lang="ru-RU" sz="2000" dirty="0"/>
              <a:t>называют </a:t>
            </a:r>
            <a:r>
              <a:rPr lang="ru-RU" sz="2000" b="1" dirty="0"/>
              <a:t>схемой отношения</a:t>
            </a:r>
            <a:endParaRPr lang="ru-RU" b="1" dirty="0"/>
          </a:p>
          <a:p>
            <a:pPr>
              <a:tabLst>
                <a:tab pos="541338" algn="l"/>
              </a:tabLst>
            </a:pPr>
            <a:r>
              <a:rPr lang="ru-RU" dirty="0"/>
              <a:t>Все атрибуты </a:t>
            </a:r>
            <a:r>
              <a:rPr lang="en-US" dirty="0"/>
              <a:t>A</a:t>
            </a:r>
            <a:r>
              <a:rPr lang="en-US" baseline="-25000" dirty="0"/>
              <a:t>i</a:t>
            </a:r>
            <a:r>
              <a:rPr lang="en-US" dirty="0"/>
              <a:t> </a:t>
            </a:r>
            <a:r>
              <a:rPr lang="ru-RU" dirty="0"/>
              <a:t>в схеме отношения различны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71EDE0A-E8D7-56D7-063A-E291E2E7A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данных (1)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497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D439FD-3361-B4DF-A570-3C72263D0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8E393B-0CA7-302D-4CEB-F24A157F3C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numCol="2">
            <a:normAutofit/>
          </a:bodyPr>
          <a:lstStyle/>
          <a:p>
            <a:pPr>
              <a:buNone/>
            </a:pPr>
            <a:r>
              <a:rPr lang="ru-RU" sz="1400" b="1" u="sng" dirty="0"/>
              <a:t>Определение 2</a:t>
            </a:r>
          </a:p>
          <a:p>
            <a:pPr eaLnBrk="1" hangingPunct="1"/>
            <a:r>
              <a:rPr lang="ru-RU" sz="1400" dirty="0"/>
              <a:t>Пусть А</a:t>
            </a:r>
            <a:r>
              <a:rPr lang="ru-RU" sz="1400" baseline="-25000" dirty="0"/>
              <a:t>1</a:t>
            </a:r>
            <a:r>
              <a:rPr lang="ru-RU" sz="1400" dirty="0"/>
              <a:t>, А</a:t>
            </a:r>
            <a:r>
              <a:rPr lang="ru-RU" sz="1400" baseline="-25000" dirty="0"/>
              <a:t>2</a:t>
            </a:r>
            <a:r>
              <a:rPr lang="ru-RU" sz="1400" dirty="0"/>
              <a:t>,</a:t>
            </a:r>
            <a:r>
              <a:rPr lang="en-US" sz="1400" dirty="0"/>
              <a:t> … A</a:t>
            </a:r>
            <a:r>
              <a:rPr lang="en-US" sz="1400" baseline="-25000" dirty="0"/>
              <a:t>n</a:t>
            </a:r>
            <a:r>
              <a:rPr lang="en-US" sz="1400" dirty="0"/>
              <a:t> –</a:t>
            </a:r>
            <a:r>
              <a:rPr lang="ru-RU" sz="1400" dirty="0"/>
              <a:t> имена атрибутов, </a:t>
            </a:r>
            <a:r>
              <a:rPr lang="en-US" sz="1400" dirty="0"/>
              <a:t>D</a:t>
            </a:r>
            <a:r>
              <a:rPr lang="en-US" sz="1400" baseline="-25000" dirty="0"/>
              <a:t>1</a:t>
            </a:r>
            <a:r>
              <a:rPr lang="en-US" sz="1400" dirty="0"/>
              <a:t>, D</a:t>
            </a:r>
            <a:r>
              <a:rPr lang="en-US" sz="1400" baseline="-25000" dirty="0"/>
              <a:t>2</a:t>
            </a:r>
            <a:r>
              <a:rPr lang="en-US" sz="1400" dirty="0"/>
              <a:t>, … D</a:t>
            </a:r>
            <a:r>
              <a:rPr lang="en-US" sz="1400" baseline="-25000" dirty="0"/>
              <a:t>m</a:t>
            </a:r>
            <a:r>
              <a:rPr lang="en-US" sz="1400" dirty="0"/>
              <a:t> – </a:t>
            </a:r>
            <a:r>
              <a:rPr lang="ru-RU" sz="1400" dirty="0"/>
              <a:t>имена доменов.</a:t>
            </a:r>
          </a:p>
          <a:p>
            <a:pPr eaLnBrk="1" hangingPunct="1"/>
            <a:r>
              <a:rPr lang="ru-RU" sz="1400" dirty="0"/>
              <a:t>Конечное множество пар вида </a:t>
            </a:r>
            <a:r>
              <a:rPr lang="en-US" sz="1400" dirty="0"/>
              <a:t>{</a:t>
            </a:r>
            <a:r>
              <a:rPr lang="en-US" sz="1400" dirty="0" err="1"/>
              <a:t>A</a:t>
            </a:r>
            <a:r>
              <a:rPr lang="en-US" sz="1400" baseline="-25000" dirty="0" err="1"/>
              <a:t>i</a:t>
            </a:r>
            <a:r>
              <a:rPr lang="en-US" sz="1400" dirty="0" err="1"/>
              <a:t>,D</a:t>
            </a:r>
            <a:r>
              <a:rPr lang="en-US" sz="1400" baseline="-25000" dirty="0" err="1"/>
              <a:t>j</a:t>
            </a:r>
            <a:r>
              <a:rPr lang="en-US" sz="1400" dirty="0"/>
              <a:t>} </a:t>
            </a:r>
            <a:r>
              <a:rPr lang="ru-RU" sz="1400" dirty="0"/>
              <a:t>называется </a:t>
            </a:r>
            <a:r>
              <a:rPr lang="ru-RU" sz="1400" b="1" dirty="0"/>
              <a:t>схемой</a:t>
            </a:r>
            <a:r>
              <a:rPr lang="en-US" sz="1400" b="1" dirty="0"/>
              <a:t> </a:t>
            </a:r>
            <a:r>
              <a:rPr lang="ru-RU" sz="1400" b="1" dirty="0"/>
              <a:t>отношения</a:t>
            </a:r>
            <a:r>
              <a:rPr lang="ru-RU" sz="1400" dirty="0"/>
              <a:t>,</a:t>
            </a:r>
            <a:r>
              <a:rPr lang="en-US" sz="1400" dirty="0"/>
              <a:t> </a:t>
            </a:r>
            <a:r>
              <a:rPr lang="ru-RU" sz="1400" dirty="0"/>
              <a:t>если </a:t>
            </a:r>
            <a:br>
              <a:rPr lang="en-US" sz="1400" dirty="0"/>
            </a:br>
            <a:r>
              <a:rPr lang="ru-RU" sz="1400" dirty="0"/>
              <a:t>А</a:t>
            </a:r>
            <a:r>
              <a:rPr lang="en-US" sz="1400" baseline="-25000" dirty="0"/>
              <a:t>t</a:t>
            </a:r>
            <a:r>
              <a:rPr lang="ru-RU" sz="1400" dirty="0"/>
              <a:t> ≠</a:t>
            </a:r>
            <a:r>
              <a:rPr lang="en-US" sz="1400" dirty="0"/>
              <a:t> A</a:t>
            </a:r>
            <a:r>
              <a:rPr lang="en-US" sz="1400" baseline="-25000" dirty="0"/>
              <a:t>s</a:t>
            </a:r>
            <a:r>
              <a:rPr lang="en-US" sz="1400" dirty="0"/>
              <a:t> </a:t>
            </a:r>
            <a:r>
              <a:rPr lang="ru-RU" sz="1400" dirty="0"/>
              <a:t>при </a:t>
            </a:r>
            <a:r>
              <a:rPr lang="en-US" sz="1400" dirty="0"/>
              <a:t>t </a:t>
            </a:r>
            <a:r>
              <a:rPr lang="ru-RU" sz="1400" dirty="0"/>
              <a:t>≠</a:t>
            </a:r>
            <a:r>
              <a:rPr lang="en-US" sz="1400" dirty="0"/>
              <a:t> s</a:t>
            </a:r>
            <a:r>
              <a:rPr lang="ru-RU" sz="1400" dirty="0"/>
              <a:t>, где </a:t>
            </a:r>
            <a:r>
              <a:rPr lang="en-US" sz="1400" dirty="0" err="1"/>
              <a:t>t,s</a:t>
            </a:r>
            <a:r>
              <a:rPr lang="en-US" sz="1400" dirty="0"/>
              <a:t> </a:t>
            </a:r>
            <a:r>
              <a:rPr lang="el-GR" sz="1400" dirty="0">
                <a:cs typeface="Times New Roman" pitchFamily="18" charset="0"/>
              </a:rPr>
              <a:t>ϵ</a:t>
            </a:r>
            <a:r>
              <a:rPr lang="en-US" sz="1400" dirty="0">
                <a:cs typeface="Times New Roman" pitchFamily="18" charset="0"/>
              </a:rPr>
              <a:t> {1, 2, …n}</a:t>
            </a:r>
            <a:r>
              <a:rPr lang="ru-RU" sz="1400" dirty="0"/>
              <a:t>. </a:t>
            </a:r>
            <a:br>
              <a:rPr lang="ru-RU" sz="1400" dirty="0"/>
            </a:br>
            <a:r>
              <a:rPr lang="ru-RU" sz="1200" i="1" dirty="0"/>
              <a:t>Имена доменов для разных атрибутов могут совпадать. </a:t>
            </a:r>
            <a:endParaRPr lang="ru-RU" sz="1200" i="1" baseline="-25000" dirty="0"/>
          </a:p>
          <a:p>
            <a:pPr eaLnBrk="1" hangingPunct="1"/>
            <a:r>
              <a:rPr lang="ru-RU" sz="1400" dirty="0"/>
              <a:t>Множество пар </a:t>
            </a:r>
            <a:r>
              <a:rPr lang="en-US" sz="1400" dirty="0"/>
              <a:t>&lt;</a:t>
            </a:r>
            <a:r>
              <a:rPr lang="en-US" sz="1400" dirty="0" err="1"/>
              <a:t>A</a:t>
            </a:r>
            <a:r>
              <a:rPr lang="en-US" sz="1400" baseline="-25000" dirty="0" err="1"/>
              <a:t>i</a:t>
            </a:r>
            <a:r>
              <a:rPr lang="en-US" sz="1400" dirty="0" err="1"/>
              <a:t>,d</a:t>
            </a:r>
            <a:r>
              <a:rPr lang="en-US" sz="1400" baseline="-25000" dirty="0" err="1"/>
              <a:t>j</a:t>
            </a:r>
            <a:r>
              <a:rPr lang="en-US" sz="1400" dirty="0"/>
              <a:t>&gt;</a:t>
            </a:r>
            <a:r>
              <a:rPr lang="ru-RU" sz="1400" dirty="0"/>
              <a:t> называется кортежем отношения.</a:t>
            </a:r>
            <a:br>
              <a:rPr lang="ru-RU" sz="1400" dirty="0"/>
            </a:br>
            <a:r>
              <a:rPr lang="ru-RU" sz="1400" dirty="0"/>
              <a:t>где </a:t>
            </a:r>
            <a:r>
              <a:rPr lang="en-US" sz="1400" dirty="0"/>
              <a:t>A</a:t>
            </a:r>
            <a:r>
              <a:rPr lang="en-US" sz="1400" baseline="-25000" dirty="0"/>
              <a:t>i</a:t>
            </a:r>
            <a:r>
              <a:rPr lang="ru-RU" sz="1400" dirty="0"/>
              <a:t>  – имя атрибута из А</a:t>
            </a:r>
            <a:r>
              <a:rPr lang="ru-RU" sz="1400" baseline="-25000" dirty="0"/>
              <a:t>1</a:t>
            </a:r>
            <a:r>
              <a:rPr lang="ru-RU" sz="1400" dirty="0"/>
              <a:t>, А</a:t>
            </a:r>
            <a:r>
              <a:rPr lang="ru-RU" sz="1400" baseline="-25000" dirty="0"/>
              <a:t>2</a:t>
            </a:r>
            <a:r>
              <a:rPr lang="ru-RU" sz="1400" dirty="0"/>
              <a:t>,</a:t>
            </a:r>
            <a:r>
              <a:rPr lang="en-US" sz="1400" dirty="0"/>
              <a:t> … A</a:t>
            </a:r>
            <a:r>
              <a:rPr lang="en-US" sz="1400" baseline="-25000" dirty="0"/>
              <a:t>n</a:t>
            </a:r>
            <a:r>
              <a:rPr lang="ru-RU" sz="1400" dirty="0"/>
              <a:t>, а</a:t>
            </a:r>
            <a:r>
              <a:rPr lang="en-US" sz="1400" dirty="0"/>
              <a:t> </a:t>
            </a:r>
            <a:r>
              <a:rPr lang="ru-RU" sz="1400" dirty="0"/>
              <a:t>  </a:t>
            </a:r>
            <a:r>
              <a:rPr lang="en-US" sz="1400" dirty="0" err="1"/>
              <a:t>d</a:t>
            </a:r>
            <a:r>
              <a:rPr lang="en-US" sz="1400" baseline="-25000" dirty="0" err="1"/>
              <a:t>j</a:t>
            </a:r>
            <a:r>
              <a:rPr lang="en-US" sz="1400" dirty="0"/>
              <a:t> </a:t>
            </a:r>
            <a:r>
              <a:rPr lang="ru-RU" sz="1400" dirty="0"/>
              <a:t> из </a:t>
            </a:r>
            <a:r>
              <a:rPr lang="en-US" sz="1400" dirty="0" err="1"/>
              <a:t>D</a:t>
            </a:r>
            <a:r>
              <a:rPr lang="en-US" sz="1400" baseline="-25000" dirty="0" err="1"/>
              <a:t>j</a:t>
            </a:r>
            <a:r>
              <a:rPr lang="en-US" sz="1400" dirty="0"/>
              <a:t> </a:t>
            </a:r>
            <a:endParaRPr lang="ru-RU" sz="1400" dirty="0"/>
          </a:p>
          <a:p>
            <a:pPr eaLnBrk="1" hangingPunct="1"/>
            <a:r>
              <a:rPr lang="ru-RU" sz="1400" dirty="0"/>
              <a:t>Множество кортежей, соответствующих одной схеме отношения называется </a:t>
            </a:r>
            <a:r>
              <a:rPr lang="ru-RU" sz="1400" b="1" dirty="0"/>
              <a:t>отношением</a:t>
            </a:r>
            <a:endParaRPr lang="en-US" sz="1400" b="1" dirty="0"/>
          </a:p>
          <a:p>
            <a:pPr eaLnBrk="1" hangingPunct="1"/>
            <a:r>
              <a:rPr lang="ru-RU" sz="1400" dirty="0"/>
              <a:t>Число атрибутов в отношении – </a:t>
            </a:r>
            <a:r>
              <a:rPr lang="ru-RU" sz="1400" b="1" dirty="0"/>
              <a:t>степень отношения</a:t>
            </a:r>
          </a:p>
          <a:p>
            <a:pPr eaLnBrk="1" hangingPunct="1"/>
            <a:r>
              <a:rPr lang="ru-RU" sz="1400" dirty="0"/>
              <a:t>Число кортежей в отношении – </a:t>
            </a:r>
            <a:r>
              <a:rPr lang="ru-RU" sz="1400" b="1" dirty="0"/>
              <a:t>кардинальное число</a:t>
            </a:r>
            <a:r>
              <a:rPr lang="ru-RU" sz="1400" dirty="0"/>
              <a:t> </a:t>
            </a:r>
          </a:p>
          <a:p>
            <a:pPr>
              <a:buNone/>
            </a:pPr>
            <a:r>
              <a:rPr lang="ru-RU" sz="1400" b="1" dirty="0"/>
              <a:t>Пример:</a:t>
            </a:r>
          </a:p>
          <a:p>
            <a:pPr>
              <a:buNone/>
            </a:pPr>
            <a:r>
              <a:rPr lang="ru-RU" sz="1400" b="1" dirty="0"/>
              <a:t>	</a:t>
            </a:r>
            <a:r>
              <a:rPr lang="ru-RU" sz="1400" dirty="0"/>
              <a:t>Пусть </a:t>
            </a:r>
            <a:r>
              <a:rPr lang="en-US" sz="1400" dirty="0"/>
              <a:t>n=2, D</a:t>
            </a:r>
            <a:r>
              <a:rPr lang="en-US" sz="1400" baseline="-25000" dirty="0"/>
              <a:t>1</a:t>
            </a:r>
            <a:r>
              <a:rPr lang="en-US" sz="1400" dirty="0"/>
              <a:t>=(0,1), D</a:t>
            </a:r>
            <a:r>
              <a:rPr lang="en-US" sz="1400" baseline="-25000" dirty="0"/>
              <a:t>2</a:t>
            </a:r>
            <a:r>
              <a:rPr lang="en-US" sz="1400" dirty="0"/>
              <a:t>=(a,</a:t>
            </a:r>
            <a:r>
              <a:rPr lang="ru-RU" sz="1400" dirty="0"/>
              <a:t> </a:t>
            </a:r>
            <a:r>
              <a:rPr lang="en-US" sz="1400" dirty="0"/>
              <a:t>b,</a:t>
            </a:r>
            <a:r>
              <a:rPr lang="ru-RU" sz="1400" dirty="0"/>
              <a:t> </a:t>
            </a:r>
            <a:r>
              <a:rPr lang="en-US" sz="1400" dirty="0"/>
              <a:t>c).</a:t>
            </a:r>
            <a:r>
              <a:rPr lang="ru-RU" sz="1400" dirty="0"/>
              <a:t> </a:t>
            </a:r>
            <a:endParaRPr lang="en-US" sz="1400" dirty="0"/>
          </a:p>
          <a:p>
            <a:pPr>
              <a:buNone/>
            </a:pPr>
            <a:r>
              <a:rPr lang="ru-RU" sz="1400" dirty="0"/>
              <a:t>	Тогда </a:t>
            </a:r>
            <a:r>
              <a:rPr lang="en-US" sz="1400" dirty="0"/>
              <a:t> </a:t>
            </a:r>
            <a:r>
              <a:rPr lang="ru-RU" sz="1400" dirty="0"/>
              <a:t>отношение </a:t>
            </a:r>
            <a:r>
              <a:rPr lang="en-US" sz="1400" dirty="0"/>
              <a:t>R (A</a:t>
            </a:r>
            <a:r>
              <a:rPr lang="en-US" sz="1400" baseline="-25000" dirty="0"/>
              <a:t>1</a:t>
            </a:r>
            <a:r>
              <a:rPr lang="en-US" sz="1400" dirty="0"/>
              <a:t>, A</a:t>
            </a:r>
            <a:r>
              <a:rPr lang="en-US" sz="1400" baseline="-25000" dirty="0"/>
              <a:t>2</a:t>
            </a:r>
            <a:r>
              <a:rPr lang="en-US" sz="1400" dirty="0"/>
              <a:t>) </a:t>
            </a:r>
            <a:r>
              <a:rPr lang="ru-RU" sz="1400" dirty="0"/>
              <a:t>есть </a:t>
            </a:r>
            <a:br>
              <a:rPr lang="ru-RU" sz="1400" dirty="0"/>
            </a:br>
            <a:r>
              <a:rPr lang="en-US" sz="1400" dirty="0"/>
              <a:t>{ (0,a),</a:t>
            </a:r>
            <a:r>
              <a:rPr lang="ru-RU" sz="1400" dirty="0"/>
              <a:t> </a:t>
            </a:r>
            <a:r>
              <a:rPr lang="en-US" sz="1400" dirty="0"/>
              <a:t>(0,b), (0,c), (1,a), (1,b), (1,c) }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D2C4848-E177-E744-A2AA-028F48A39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данных (2)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5967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AB7885-A92A-C3C5-F1DC-E0ED0ED55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A8A210-0141-B74C-F3BF-ECC95131B03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419224"/>
            <a:ext cx="8541643" cy="3262883"/>
          </a:xfrm>
        </p:spPr>
        <p:txBody>
          <a:bodyPr numCol="2">
            <a:normAutofit fontScale="85000" lnSpcReduction="10000"/>
          </a:bodyPr>
          <a:lstStyle/>
          <a:p>
            <a:r>
              <a:rPr lang="ru-RU" b="1" dirty="0"/>
              <a:t>Отношение</a:t>
            </a:r>
            <a:r>
              <a:rPr lang="ru-RU" dirty="0"/>
              <a:t> – формальная структура, используемая для моделирования СУЩНОСТЕЙ и СВЯЗЕЙ</a:t>
            </a:r>
          </a:p>
          <a:p>
            <a:r>
              <a:rPr lang="ru-RU" dirty="0"/>
              <a:t>Неформально, </a:t>
            </a:r>
            <a:r>
              <a:rPr lang="ru-RU" b="1" dirty="0"/>
              <a:t>отношение</a:t>
            </a:r>
            <a:r>
              <a:rPr lang="ru-RU" dirty="0"/>
              <a:t> - это </a:t>
            </a:r>
            <a:r>
              <a:rPr lang="ru-RU" b="1" i="1" dirty="0"/>
              <a:t>двумерная таблица</a:t>
            </a:r>
            <a:r>
              <a:rPr lang="ru-RU" dirty="0"/>
              <a:t> данных, состоящая из </a:t>
            </a:r>
            <a:r>
              <a:rPr lang="en-US" b="1" dirty="0"/>
              <a:t>char</a:t>
            </a:r>
            <a:r>
              <a:rPr lang="ru-RU" dirty="0"/>
              <a:t>, </a:t>
            </a:r>
            <a:r>
              <a:rPr lang="ru-RU" b="1" dirty="0"/>
              <a:t>столбцов</a:t>
            </a:r>
            <a:r>
              <a:rPr lang="ru-RU" dirty="0"/>
              <a:t>.</a:t>
            </a:r>
          </a:p>
          <a:p>
            <a:r>
              <a:rPr lang="ru-RU" dirty="0"/>
              <a:t>Каждая строка содержит </a:t>
            </a:r>
            <a:r>
              <a:rPr lang="ru-RU" b="1" dirty="0"/>
              <a:t>набор элементов данных</a:t>
            </a:r>
            <a:r>
              <a:rPr lang="ru-RU" dirty="0"/>
              <a:t> о некоторых </a:t>
            </a:r>
            <a:r>
              <a:rPr lang="ru-RU" b="1" dirty="0"/>
              <a:t>сущностях</a:t>
            </a:r>
            <a:r>
              <a:rPr lang="ru-RU" dirty="0"/>
              <a:t> или </a:t>
            </a:r>
            <a:r>
              <a:rPr lang="ru-RU" b="1" dirty="0"/>
              <a:t>связях</a:t>
            </a:r>
          </a:p>
          <a:p>
            <a:pPr lvl="1"/>
            <a:r>
              <a:rPr lang="ru-RU" dirty="0"/>
              <a:t>В формальной модели строки называются кортежами</a:t>
            </a:r>
          </a:p>
          <a:p>
            <a:r>
              <a:rPr lang="ru-RU" dirty="0"/>
              <a:t>Каждый столбец содержит данные о свойствах сущности или связи, то есть некоторого атрибута.</a:t>
            </a:r>
          </a:p>
          <a:p>
            <a:r>
              <a:rPr lang="ru-RU" dirty="0"/>
              <a:t>Каждый столбец имеет </a:t>
            </a:r>
            <a:r>
              <a:rPr lang="ru-RU" b="1" dirty="0"/>
              <a:t>заголовок</a:t>
            </a:r>
            <a:r>
              <a:rPr lang="ru-RU" dirty="0"/>
              <a:t>, что позволяет судить о значении элементов данных в этом столбце </a:t>
            </a:r>
          </a:p>
          <a:p>
            <a:pPr lvl="1"/>
            <a:r>
              <a:rPr lang="ru-RU" dirty="0"/>
              <a:t>В формальной модели заголовок столбца, называется </a:t>
            </a:r>
            <a:r>
              <a:rPr lang="ru-RU" b="1" dirty="0"/>
              <a:t>именем атрибута</a:t>
            </a:r>
            <a:r>
              <a:rPr lang="ru-RU" dirty="0"/>
              <a:t> (или просто </a:t>
            </a:r>
            <a:r>
              <a:rPr lang="ru-RU" b="1" dirty="0"/>
              <a:t>атрибутом</a:t>
            </a:r>
            <a:r>
              <a:rPr lang="ru-RU" dirty="0"/>
              <a:t>) </a:t>
            </a:r>
          </a:p>
          <a:p>
            <a:r>
              <a:rPr lang="ru-RU" dirty="0"/>
              <a:t>Схема отношения – имя отношения с набором атрибутов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FD621C4-10A3-0854-9B73-6F5E409EA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Неформальные определения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728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EB6655-9ACB-09BC-8D3B-1D18F54BA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4D91CDF-4216-2C6E-C89D-EAB5B6302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отношения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35142F0-27BD-17B3-52C8-2BA620C580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900116"/>
              </p:ext>
            </p:extLst>
          </p:nvPr>
        </p:nvGraphicFramePr>
        <p:xfrm>
          <a:off x="1763688" y="1923678"/>
          <a:ext cx="7128792" cy="21336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46542">
                  <a:extLst>
                    <a:ext uri="{9D8B030D-6E8A-4147-A177-3AD203B41FA5}">
                      <a16:colId xmlns:a16="http://schemas.microsoft.com/office/drawing/2014/main" val="3013974746"/>
                    </a:ext>
                  </a:extLst>
                </a:gridCol>
                <a:gridCol w="1462979">
                  <a:extLst>
                    <a:ext uri="{9D8B030D-6E8A-4147-A177-3AD203B41FA5}">
                      <a16:colId xmlns:a16="http://schemas.microsoft.com/office/drawing/2014/main" val="732842481"/>
                    </a:ext>
                  </a:extLst>
                </a:gridCol>
                <a:gridCol w="1184316">
                  <a:extLst>
                    <a:ext uri="{9D8B030D-6E8A-4147-A177-3AD203B41FA5}">
                      <a16:colId xmlns:a16="http://schemas.microsoft.com/office/drawing/2014/main" val="720714605"/>
                    </a:ext>
                  </a:extLst>
                </a:gridCol>
                <a:gridCol w="1532644">
                  <a:extLst>
                    <a:ext uri="{9D8B030D-6E8A-4147-A177-3AD203B41FA5}">
                      <a16:colId xmlns:a16="http://schemas.microsoft.com/office/drawing/2014/main" val="3804642136"/>
                    </a:ext>
                  </a:extLst>
                </a:gridCol>
                <a:gridCol w="905654">
                  <a:extLst>
                    <a:ext uri="{9D8B030D-6E8A-4147-A177-3AD203B41FA5}">
                      <a16:colId xmlns:a16="http://schemas.microsoft.com/office/drawing/2014/main" val="1255491312"/>
                    </a:ext>
                  </a:extLst>
                </a:gridCol>
                <a:gridCol w="696657">
                  <a:extLst>
                    <a:ext uri="{9D8B030D-6E8A-4147-A177-3AD203B41FA5}">
                      <a16:colId xmlns:a16="http://schemas.microsoft.com/office/drawing/2014/main" val="1445904422"/>
                    </a:ext>
                  </a:extLst>
                </a:gridCol>
              </a:tblGrid>
              <a:tr h="2270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Имя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№ </a:t>
                      </a:r>
                      <a:r>
                        <a:rPr kumimoji="0" lang="ru-RU" sz="1400" b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студбилета</a:t>
                      </a:r>
                      <a:endParaRPr kumimoji="0" lang="ru-RU" sz="1400" b="0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тел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адрес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возраст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балл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3128812682"/>
                  </a:ext>
                </a:extLst>
              </a:tr>
              <a:tr h="22709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Иванов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090041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330-15-34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Терешковой</a:t>
                      </a:r>
                      <a:r>
                        <a:rPr kumimoji="0" lang="ru-RU" sz="14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, 40 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19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3.26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512675064"/>
                  </a:ext>
                </a:extLst>
              </a:tr>
              <a:tr h="22709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Петров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090042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330-87-38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Ученых,  7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19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4.05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670212047"/>
                  </a:ext>
                </a:extLst>
              </a:tr>
              <a:tr h="22709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Сидоров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090140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230-15-32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Морской,2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18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4.87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644239260"/>
                  </a:ext>
                </a:extLst>
              </a:tr>
              <a:tr h="22709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Голубев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090141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335-42-43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Правды, 5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20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3.87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4127473197"/>
                  </a:ext>
                </a:extLst>
              </a:tr>
              <a:tr h="22709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Федоров 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090142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231-48-32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Пирогова, 22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20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4.50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3594846086"/>
                  </a:ext>
                </a:extLst>
              </a:tr>
              <a:tr h="22709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Костин 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090086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330-45-44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Мальцева, 4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18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4.90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969972135"/>
                  </a:ext>
                </a:extLst>
              </a:tr>
            </a:tbl>
          </a:graphicData>
        </a:graphic>
      </p:graphicFrame>
      <p:graphicFrame>
        <p:nvGraphicFramePr>
          <p:cNvPr id="6" name="Group 157">
            <a:extLst>
              <a:ext uri="{FF2B5EF4-FFF2-40B4-BE49-F238E27FC236}">
                <a16:creationId xmlns:a16="http://schemas.microsoft.com/office/drawing/2014/main" id="{76F78CC7-C46D-6AAE-0940-1D344924F0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613536"/>
              </p:ext>
            </p:extLst>
          </p:nvPr>
        </p:nvGraphicFramePr>
        <p:xfrm>
          <a:off x="1763688" y="1568160"/>
          <a:ext cx="1586331" cy="396240"/>
        </p:xfrm>
        <a:graphic>
          <a:graphicData uri="http://schemas.openxmlformats.org/drawingml/2006/table">
            <a:tbl>
              <a:tblPr/>
              <a:tblGrid>
                <a:gridCol w="15863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755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Arial" charset="0"/>
                        </a:rPr>
                        <a:t>Студенты</a:t>
                      </a:r>
                    </a:p>
                  </a:txBody>
                  <a:tcPr marL="72000" marR="72000" anchor="b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Text Box 154">
            <a:extLst>
              <a:ext uri="{FF2B5EF4-FFF2-40B4-BE49-F238E27FC236}">
                <a16:creationId xmlns:a16="http://schemas.microsoft.com/office/drawing/2014/main" id="{428F025F-0F26-09F6-CE08-3B022C512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1115" y="1175439"/>
            <a:ext cx="223202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ru-RU" dirty="0"/>
              <a:t>Имя отношения</a:t>
            </a:r>
          </a:p>
        </p:txBody>
      </p:sp>
      <p:sp>
        <p:nvSpPr>
          <p:cNvPr id="8" name="Text Box 155">
            <a:extLst>
              <a:ext uri="{FF2B5EF4-FFF2-40B4-BE49-F238E27FC236}">
                <a16:creationId xmlns:a16="http://schemas.microsoft.com/office/drawing/2014/main" id="{58820B80-914B-E3A6-09DA-A1572A64DC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7353" y="1155742"/>
            <a:ext cx="134146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dirty="0"/>
              <a:t>Атрибуты </a:t>
            </a:r>
          </a:p>
        </p:txBody>
      </p:sp>
      <p:sp>
        <p:nvSpPr>
          <p:cNvPr id="9" name="Line 158">
            <a:extLst>
              <a:ext uri="{FF2B5EF4-FFF2-40B4-BE49-F238E27FC236}">
                <a16:creationId xmlns:a16="http://schemas.microsoft.com/office/drawing/2014/main" id="{A45E53B5-F898-7B98-41BD-5A533D0CDD2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58445" y="1463715"/>
            <a:ext cx="1586332" cy="43395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 dirty="0"/>
          </a:p>
        </p:txBody>
      </p:sp>
      <p:sp>
        <p:nvSpPr>
          <p:cNvPr id="10" name="Line 159">
            <a:extLst>
              <a:ext uri="{FF2B5EF4-FFF2-40B4-BE49-F238E27FC236}">
                <a16:creationId xmlns:a16="http://schemas.microsoft.com/office/drawing/2014/main" id="{A0243AD1-9BC4-D6EC-12CC-2FBCD942EDC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13917" y="1496075"/>
            <a:ext cx="718643" cy="43395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 dirty="0"/>
          </a:p>
        </p:txBody>
      </p:sp>
      <p:sp>
        <p:nvSpPr>
          <p:cNvPr id="11" name="Line 160">
            <a:extLst>
              <a:ext uri="{FF2B5EF4-FFF2-40B4-BE49-F238E27FC236}">
                <a16:creationId xmlns:a16="http://schemas.microsoft.com/office/drawing/2014/main" id="{B1E6379D-F537-E701-9DCC-FBCC8CB39FE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48258" y="1496075"/>
            <a:ext cx="142209" cy="42760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 dirty="0"/>
          </a:p>
        </p:txBody>
      </p:sp>
      <p:sp>
        <p:nvSpPr>
          <p:cNvPr id="12" name="Line 161">
            <a:extLst>
              <a:ext uri="{FF2B5EF4-FFF2-40B4-BE49-F238E27FC236}">
                <a16:creationId xmlns:a16="http://schemas.microsoft.com/office/drawing/2014/main" id="{C0CC9D0A-0ED2-F321-FC7D-3943A580A6E0}"/>
              </a:ext>
            </a:extLst>
          </p:cNvPr>
          <p:cNvSpPr>
            <a:spLocks noChangeShapeType="1"/>
          </p:cNvSpPr>
          <p:nvPr/>
        </p:nvSpPr>
        <p:spPr bwMode="auto">
          <a:xfrm>
            <a:off x="5593703" y="1517663"/>
            <a:ext cx="491186" cy="40601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 dirty="0"/>
          </a:p>
        </p:txBody>
      </p:sp>
      <p:sp>
        <p:nvSpPr>
          <p:cNvPr id="13" name="Line 162">
            <a:extLst>
              <a:ext uri="{FF2B5EF4-FFF2-40B4-BE49-F238E27FC236}">
                <a16:creationId xmlns:a16="http://schemas.microsoft.com/office/drawing/2014/main" id="{FCDD2F8B-804E-DAC5-E811-F3B3DE9B57AC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8145" y="1517663"/>
            <a:ext cx="1512168" cy="40601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 dirty="0"/>
          </a:p>
        </p:txBody>
      </p:sp>
      <p:sp>
        <p:nvSpPr>
          <p:cNvPr id="14" name="Line 163">
            <a:extLst>
              <a:ext uri="{FF2B5EF4-FFF2-40B4-BE49-F238E27FC236}">
                <a16:creationId xmlns:a16="http://schemas.microsoft.com/office/drawing/2014/main" id="{6EA66973-CCC7-0296-7FA4-DDC2A82643AE}"/>
              </a:ext>
            </a:extLst>
          </p:cNvPr>
          <p:cNvSpPr>
            <a:spLocks noChangeShapeType="1"/>
          </p:cNvSpPr>
          <p:nvPr/>
        </p:nvSpPr>
        <p:spPr bwMode="auto">
          <a:xfrm>
            <a:off x="6024343" y="1419623"/>
            <a:ext cx="2292073" cy="50405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 dirty="0"/>
          </a:p>
        </p:txBody>
      </p:sp>
      <p:sp>
        <p:nvSpPr>
          <p:cNvPr id="15" name="Line 172">
            <a:extLst>
              <a:ext uri="{FF2B5EF4-FFF2-40B4-BE49-F238E27FC236}">
                <a16:creationId xmlns:a16="http://schemas.microsoft.com/office/drawing/2014/main" id="{0E783472-D4A2-A1B9-364A-CE119264AFF7}"/>
              </a:ext>
            </a:extLst>
          </p:cNvPr>
          <p:cNvSpPr>
            <a:spLocks noChangeShapeType="1"/>
          </p:cNvSpPr>
          <p:nvPr/>
        </p:nvSpPr>
        <p:spPr bwMode="auto">
          <a:xfrm>
            <a:off x="2421019" y="1463716"/>
            <a:ext cx="0" cy="26098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 dirty="0"/>
          </a:p>
        </p:txBody>
      </p:sp>
      <p:sp>
        <p:nvSpPr>
          <p:cNvPr id="16" name="Text Box 156">
            <a:extLst>
              <a:ext uri="{FF2B5EF4-FFF2-40B4-BE49-F238E27FC236}">
                <a16:creationId xmlns:a16="http://schemas.microsoft.com/office/drawing/2014/main" id="{13CF61F0-B322-E956-9DB5-88BB34F38B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240" y="2234374"/>
            <a:ext cx="461665" cy="1822904"/>
          </a:xfrm>
          <a:prstGeom prst="rect">
            <a:avLst/>
          </a:prstGeom>
          <a:noFill/>
          <a:ln>
            <a:noFill/>
          </a:ln>
          <a:effectLst/>
        </p:spPr>
        <p:txBody>
          <a:bodyPr vert="vert270" wrap="square" anchor="b" anchorCtr="1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ru-RU" dirty="0"/>
              <a:t>кортежи</a:t>
            </a:r>
          </a:p>
        </p:txBody>
      </p:sp>
      <p:sp>
        <p:nvSpPr>
          <p:cNvPr id="19" name="Line 166">
            <a:extLst>
              <a:ext uri="{FF2B5EF4-FFF2-40B4-BE49-F238E27FC236}">
                <a16:creationId xmlns:a16="http://schemas.microsoft.com/office/drawing/2014/main" id="{2AD627C5-1CD2-3EF2-0457-C4F25D3A4EB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0538" y="2656711"/>
            <a:ext cx="1143150" cy="184869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 dirty="0"/>
          </a:p>
        </p:txBody>
      </p:sp>
      <p:sp>
        <p:nvSpPr>
          <p:cNvPr id="23" name="Line 166">
            <a:extLst>
              <a:ext uri="{FF2B5EF4-FFF2-40B4-BE49-F238E27FC236}">
                <a16:creationId xmlns:a16="http://schemas.microsoft.com/office/drawing/2014/main" id="{886EC18B-B4AD-F8A6-8780-6801DDF8C03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0538" y="2363768"/>
            <a:ext cx="1143150" cy="29294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 dirty="0"/>
          </a:p>
        </p:txBody>
      </p:sp>
      <p:sp>
        <p:nvSpPr>
          <p:cNvPr id="24" name="Line 166">
            <a:extLst>
              <a:ext uri="{FF2B5EF4-FFF2-40B4-BE49-F238E27FC236}">
                <a16:creationId xmlns:a16="http://schemas.microsoft.com/office/drawing/2014/main" id="{99EDD953-4E03-E118-3583-BB635783339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0538" y="3026448"/>
            <a:ext cx="1144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 dirty="0"/>
          </a:p>
        </p:txBody>
      </p:sp>
      <p:sp>
        <p:nvSpPr>
          <p:cNvPr id="25" name="Line 166">
            <a:extLst>
              <a:ext uri="{FF2B5EF4-FFF2-40B4-BE49-F238E27FC236}">
                <a16:creationId xmlns:a16="http://schemas.microsoft.com/office/drawing/2014/main" id="{646059DC-2FC9-AE09-EE1D-84849F027193}"/>
              </a:ext>
            </a:extLst>
          </p:cNvPr>
          <p:cNvSpPr>
            <a:spLocks noChangeShapeType="1"/>
          </p:cNvSpPr>
          <p:nvPr/>
        </p:nvSpPr>
        <p:spPr bwMode="auto">
          <a:xfrm>
            <a:off x="620538" y="3211316"/>
            <a:ext cx="1143150" cy="10209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 dirty="0"/>
          </a:p>
        </p:txBody>
      </p:sp>
      <p:sp>
        <p:nvSpPr>
          <p:cNvPr id="26" name="Line 166">
            <a:extLst>
              <a:ext uri="{FF2B5EF4-FFF2-40B4-BE49-F238E27FC236}">
                <a16:creationId xmlns:a16="http://schemas.microsoft.com/office/drawing/2014/main" id="{3DAA0790-55CC-8C51-C932-3440AF827079}"/>
              </a:ext>
            </a:extLst>
          </p:cNvPr>
          <p:cNvSpPr>
            <a:spLocks noChangeShapeType="1"/>
          </p:cNvSpPr>
          <p:nvPr/>
        </p:nvSpPr>
        <p:spPr bwMode="auto">
          <a:xfrm>
            <a:off x="620538" y="3396184"/>
            <a:ext cx="1143150" cy="20578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 dirty="0"/>
          </a:p>
        </p:txBody>
      </p:sp>
      <p:sp>
        <p:nvSpPr>
          <p:cNvPr id="27" name="Line 166">
            <a:extLst>
              <a:ext uri="{FF2B5EF4-FFF2-40B4-BE49-F238E27FC236}">
                <a16:creationId xmlns:a16="http://schemas.microsoft.com/office/drawing/2014/main" id="{D1A5F289-61BB-D461-2094-7B797738BB2D}"/>
              </a:ext>
            </a:extLst>
          </p:cNvPr>
          <p:cNvSpPr>
            <a:spLocks noChangeShapeType="1"/>
          </p:cNvSpPr>
          <p:nvPr/>
        </p:nvSpPr>
        <p:spPr bwMode="auto">
          <a:xfrm>
            <a:off x="620538" y="3581051"/>
            <a:ext cx="1143150" cy="27844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 dirty="0"/>
          </a:p>
        </p:txBody>
      </p:sp>
      <p:sp>
        <p:nvSpPr>
          <p:cNvPr id="28" name="TextBox 1">
            <a:extLst>
              <a:ext uri="{FF2B5EF4-FFF2-40B4-BE49-F238E27FC236}">
                <a16:creationId xmlns:a16="http://schemas.microsoft.com/office/drawing/2014/main" id="{C1088610-BF3F-EC10-B81F-828EA69168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4374331"/>
            <a:ext cx="889317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1400" dirty="0">
                <a:solidFill>
                  <a:srgbClr val="C00000"/>
                </a:solidFill>
              </a:rPr>
              <a:t>Схема:</a:t>
            </a:r>
            <a:r>
              <a:rPr lang="ru-RU" sz="1400" dirty="0"/>
              <a:t> Студенты (имя, № </a:t>
            </a:r>
            <a:r>
              <a:rPr lang="ru-RU" sz="1400" dirty="0" err="1"/>
              <a:t>студбилета</a:t>
            </a:r>
            <a:r>
              <a:rPr lang="ru-RU" sz="1400" dirty="0"/>
              <a:t>, тел, адрес, возраст, балл)</a:t>
            </a:r>
          </a:p>
        </p:txBody>
      </p:sp>
    </p:spTree>
    <p:extLst>
      <p:ext uri="{BB962C8B-B14F-4D97-AF65-F5344CB8AC3E}">
        <p14:creationId xmlns:p14="http://schemas.microsoft.com/office/powerpoint/2010/main" val="15781229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C39DB2-9EFC-F140-DA74-62CD68570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85F0D23-8798-8333-37C6-7346C471FE8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b="1" dirty="0"/>
              <a:t>Типы данных БД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B8EE85-63F9-BD8B-C787-0B87E41A259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0" y="1851671"/>
            <a:ext cx="4321175" cy="2520304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crom" panose="00000500000000000000" pitchFamily="50" charset="-52"/>
                <a:ea typeface="+mn-ea"/>
                <a:cs typeface="+mn-cs"/>
              </a:rPr>
              <a:t>примерно адекватны </a:t>
            </a:r>
            <a:br>
              <a:rPr kumimoji="0" lang="ru-RU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crom" panose="00000500000000000000" pitchFamily="50" charset="-52"/>
                <a:ea typeface="+mn-ea"/>
                <a:cs typeface="+mn-cs"/>
              </a:rPr>
            </a:br>
            <a:r>
              <a:rPr kumimoji="0" lang="ru-RU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crom" panose="00000500000000000000" pitchFamily="50" charset="-52"/>
                <a:ea typeface="+mn-ea"/>
                <a:cs typeface="+mn-cs"/>
              </a:rPr>
              <a:t>типам данных в языках программирования</a:t>
            </a:r>
            <a:br>
              <a:rPr kumimoji="0" lang="ru-RU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crom" panose="00000500000000000000" pitchFamily="50" charset="-52"/>
                <a:ea typeface="+mn-ea"/>
                <a:cs typeface="+mn-cs"/>
              </a:rPr>
            </a:br>
            <a:r>
              <a:rPr kumimoji="0" lang="ru-RU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crom" panose="00000500000000000000" pitchFamily="50" charset="-52"/>
                <a:ea typeface="+mn-ea"/>
                <a:cs typeface="+mn-cs"/>
              </a:rPr>
              <a:t>Обычно допускается хранение </a:t>
            </a:r>
          </a:p>
          <a:p>
            <a:pPr marL="0" indent="-325438">
              <a:spcBef>
                <a:spcPts val="500"/>
              </a:spcBef>
              <a:buBlip>
                <a:blip r:embed="rId3"/>
              </a:buBlip>
              <a:defRPr/>
            </a:pPr>
            <a:r>
              <a:rPr kumimoji="0" lang="ru-RU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crom" panose="00000500000000000000" pitchFamily="50" charset="-52"/>
                <a:ea typeface="+mn-ea"/>
                <a:cs typeface="+mn-cs"/>
              </a:rPr>
              <a:t>символьных данных (строки), </a:t>
            </a:r>
          </a:p>
          <a:p>
            <a:pPr marL="0" indent="-325438">
              <a:spcBef>
                <a:spcPts val="500"/>
              </a:spcBef>
              <a:buBlip>
                <a:blip r:embed="rId3"/>
              </a:buBlip>
              <a:defRPr/>
            </a:pPr>
            <a:r>
              <a:rPr kumimoji="0" lang="ru-RU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crom" panose="00000500000000000000" pitchFamily="50" charset="-52"/>
                <a:ea typeface="+mn-ea"/>
                <a:cs typeface="+mn-cs"/>
              </a:rPr>
              <a:t>числовых данных (целые и вещественные),</a:t>
            </a:r>
          </a:p>
          <a:p>
            <a:pPr marL="0" indent="-325438">
              <a:spcBef>
                <a:spcPts val="500"/>
              </a:spcBef>
              <a:buBlip>
                <a:blip r:embed="rId3"/>
              </a:buBlip>
              <a:defRPr/>
            </a:pPr>
            <a:r>
              <a:rPr kumimoji="0" lang="ru-RU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crom" panose="00000500000000000000" pitchFamily="50" charset="-52"/>
                <a:ea typeface="+mn-ea"/>
                <a:cs typeface="+mn-cs"/>
              </a:rPr>
              <a:t>битовых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crom" panose="00000500000000000000" pitchFamily="50" charset="-52"/>
                <a:ea typeface="+mn-ea"/>
                <a:cs typeface="+mn-cs"/>
              </a:rPr>
              <a:t>char</a:t>
            </a:r>
            <a:r>
              <a:rPr kumimoji="0" lang="ru-RU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crom" panose="00000500000000000000" pitchFamily="50" charset="-52"/>
                <a:ea typeface="+mn-ea"/>
                <a:cs typeface="+mn-cs"/>
              </a:rPr>
              <a:t>,</a:t>
            </a:r>
          </a:p>
          <a:p>
            <a:pPr marL="0" indent="-325438">
              <a:spcBef>
                <a:spcPts val="500"/>
              </a:spcBef>
              <a:buBlip>
                <a:blip r:embed="rId3"/>
              </a:buBlip>
              <a:defRPr/>
            </a:pPr>
            <a:r>
              <a:rPr kumimoji="0" lang="ru-RU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crom" panose="00000500000000000000" pitchFamily="50" charset="-52"/>
                <a:ea typeface="+mn-ea"/>
                <a:cs typeface="+mn-cs"/>
              </a:rPr>
              <a:t>даты, времени</a:t>
            </a:r>
          </a:p>
          <a:p>
            <a:pPr marL="0" indent="-325438">
              <a:spcBef>
                <a:spcPts val="500"/>
              </a:spcBef>
              <a:buBlip>
                <a:blip r:embed="rId3"/>
              </a:buBlip>
              <a:defRPr/>
            </a:pPr>
            <a:r>
              <a:rPr kumimoji="0" lang="ru-RU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crom" panose="00000500000000000000" pitchFamily="50" charset="-52"/>
                <a:ea typeface="+mn-ea"/>
                <a:cs typeface="+mn-cs"/>
              </a:rPr>
              <a:t>специальных числовых данных (деньги)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E50CE4-4C54-628A-5092-5BFD08BD0F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433514"/>
            <a:ext cx="3933130" cy="2938462"/>
          </a:xfrm>
        </p:spPr>
        <p:txBody>
          <a:bodyPr numCol="1">
            <a:normAutofit/>
          </a:bodyPr>
          <a:lstStyle/>
          <a:p>
            <a:r>
              <a:rPr lang="ru-RU" dirty="0"/>
              <a:t>отношение</a:t>
            </a:r>
          </a:p>
          <a:p>
            <a:r>
              <a:rPr lang="ru-RU" dirty="0"/>
              <a:t>кортеж</a:t>
            </a:r>
          </a:p>
          <a:p>
            <a:r>
              <a:rPr lang="ru-RU" dirty="0"/>
              <a:t>атрибут</a:t>
            </a:r>
          </a:p>
          <a:p>
            <a:r>
              <a:rPr lang="ru-RU" dirty="0"/>
              <a:t>домен</a:t>
            </a:r>
          </a:p>
          <a:p>
            <a:r>
              <a:rPr lang="ru-RU" b="1" dirty="0"/>
              <a:t>тип данных</a:t>
            </a:r>
          </a:p>
          <a:p>
            <a:r>
              <a:rPr lang="ru-RU" dirty="0"/>
              <a:t>ключ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1412175-896C-DFF4-48DC-384F21777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понятия в Реляционной Модели Данных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109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1F2B614-92D2-BBA7-135E-BEA932676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B82CA4B-00EA-2594-E3DC-DFB9F42A72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01813"/>
            <a:ext cx="8541643" cy="2570162"/>
          </a:xfrm>
        </p:spPr>
        <p:txBody>
          <a:bodyPr>
            <a:normAutofit/>
          </a:bodyPr>
          <a:lstStyle/>
          <a:p>
            <a:r>
              <a:rPr lang="ru-RU" dirty="0"/>
              <a:t>Домен – понятие специфичное для баз данных</a:t>
            </a:r>
          </a:p>
          <a:p>
            <a:r>
              <a:rPr lang="ru-RU" dirty="0"/>
              <a:t>Домен задается </a:t>
            </a:r>
            <a:r>
              <a:rPr lang="ru-RU" b="1" dirty="0"/>
              <a:t>базовым типом </a:t>
            </a:r>
            <a:r>
              <a:rPr lang="ru-RU" dirty="0"/>
              <a:t>и </a:t>
            </a:r>
            <a:r>
              <a:rPr lang="ru-RU" b="1" dirty="0"/>
              <a:t>логическим выражением</a:t>
            </a:r>
            <a:r>
              <a:rPr lang="ru-RU" dirty="0"/>
              <a:t>, определяющим элементы домена</a:t>
            </a:r>
          </a:p>
          <a:p>
            <a:pPr>
              <a:buNone/>
            </a:pPr>
            <a:r>
              <a:rPr lang="ru-RU" u="sng" dirty="0"/>
              <a:t>Пример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Домен </a:t>
            </a:r>
            <a:r>
              <a:rPr lang="ru-RU" b="1" dirty="0"/>
              <a:t>ИМЕНА</a:t>
            </a:r>
            <a:r>
              <a:rPr lang="ru-RU" dirty="0"/>
              <a:t> может базироваться на строковом типе, но содержать только те строки, которые НЕ начинаются на символы </a:t>
            </a:r>
            <a:r>
              <a:rPr lang="ru-RU" b="1" dirty="0"/>
              <a:t>Ъ</a:t>
            </a:r>
            <a:r>
              <a:rPr lang="ru-RU" dirty="0"/>
              <a:t> или </a:t>
            </a:r>
            <a:r>
              <a:rPr lang="ru-RU" b="1" dirty="0"/>
              <a:t>Ь</a:t>
            </a:r>
          </a:p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A592C13-97FE-EEEF-F01B-91F0ACC5DE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/>
          <a:lstStyle/>
          <a:p>
            <a:r>
              <a:rPr lang="ru-RU" cap="all" dirty="0"/>
              <a:t>Домен</a:t>
            </a:r>
            <a:endParaRPr lang="en-US" cap="all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60703594-12BD-1523-3871-97ADBA098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/>
          <a:lstStyle/>
          <a:p>
            <a:r>
              <a:rPr lang="ru-RU" dirty="0"/>
              <a:t>Основные понятия в Реляционной Модели Данных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75914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1F2B614-92D2-BBA7-135E-BEA932676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B82CA4B-00EA-2594-E3DC-DFB9F42A72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02394"/>
            <a:ext cx="8541643" cy="2785580"/>
          </a:xfrm>
        </p:spPr>
        <p:txBody>
          <a:bodyPr numCol="2">
            <a:normAutofit fontScale="85000" lnSpcReduction="20000"/>
          </a:bodyPr>
          <a:lstStyle/>
          <a:p>
            <a:pPr>
              <a:lnSpc>
                <a:spcPct val="110000"/>
              </a:lnSpc>
            </a:pPr>
            <a:r>
              <a:rPr lang="ru-RU" dirty="0"/>
              <a:t>Атрибут или множество атрибутов, </a:t>
            </a:r>
            <a:r>
              <a:rPr lang="ru-RU" i="1" dirty="0"/>
              <a:t>однозначно определяющих кортеж в отношении</a:t>
            </a:r>
            <a:r>
              <a:rPr lang="ru-RU" dirty="0"/>
              <a:t>, называется </a:t>
            </a:r>
            <a:r>
              <a:rPr lang="ru-RU" b="1" dirty="0"/>
              <a:t>ключом отношения</a:t>
            </a:r>
            <a:r>
              <a:rPr lang="ru-RU" dirty="0"/>
              <a:t>.</a:t>
            </a:r>
          </a:p>
          <a:p>
            <a:pPr lvl="1">
              <a:lnSpc>
                <a:spcPct val="110000"/>
              </a:lnSpc>
            </a:pPr>
            <a:r>
              <a:rPr lang="ru-RU" dirty="0"/>
              <a:t>В таблице Студент ключ – «№ </a:t>
            </a:r>
            <a:r>
              <a:rPr lang="ru-RU" dirty="0" err="1"/>
              <a:t>студбилета</a:t>
            </a:r>
            <a:r>
              <a:rPr lang="ru-RU" dirty="0"/>
              <a:t>»</a:t>
            </a: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endParaRPr lang="ru-RU" dirty="0"/>
          </a:p>
          <a:p>
            <a:pPr>
              <a:lnSpc>
                <a:spcPct val="110000"/>
              </a:lnSpc>
            </a:pPr>
            <a:r>
              <a:rPr lang="ru-RU" dirty="0"/>
              <a:t>Иногда в схему добавляют специальный атрибут, не имеющий отношения к предметной области и служащий только для  идентификации строки в таблице</a:t>
            </a:r>
          </a:p>
          <a:p>
            <a:pPr lvl="1">
              <a:lnSpc>
                <a:spcPct val="110000"/>
              </a:lnSpc>
            </a:pPr>
            <a:r>
              <a:rPr lang="ru-RU" dirty="0"/>
              <a:t>Такой ключ называют </a:t>
            </a:r>
            <a:r>
              <a:rPr lang="ru-RU" b="1" dirty="0"/>
              <a:t>искусственным</a:t>
            </a:r>
            <a:r>
              <a:rPr lang="ru-RU" dirty="0"/>
              <a:t> или </a:t>
            </a:r>
            <a:r>
              <a:rPr lang="ru-RU" b="1" dirty="0"/>
              <a:t>суррогатным ключом</a:t>
            </a:r>
          </a:p>
          <a:p>
            <a:pPr>
              <a:lnSpc>
                <a:spcPct val="110000"/>
              </a:lnSpc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A592C13-97FE-EEEF-F01B-91F0ACC5DE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/>
          <a:lstStyle/>
          <a:p>
            <a:r>
              <a:rPr lang="ru-RU" cap="all" dirty="0"/>
              <a:t>Ключ</a:t>
            </a:r>
            <a:endParaRPr lang="en-US" cap="all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60703594-12BD-1523-3871-97ADBA098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/>
          <a:lstStyle/>
          <a:p>
            <a:r>
              <a:rPr lang="ru-RU" dirty="0"/>
              <a:t>Основные понятия в Реляционной Модели Данных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76311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78F1E6-FC9A-3767-9994-7C973B6AD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2C908F-C81C-751F-5A51-A96162B224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47FBB7-19ED-093E-F535-8E31F3038A3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cap="all" dirty="0">
                <a:solidFill>
                  <a:schemeClr val="accent1"/>
                </a:solidFill>
              </a:rPr>
              <a:t>Типы</a:t>
            </a:r>
            <a:r>
              <a:rPr lang="ru-RU" cap="all" dirty="0"/>
              <a:t> и </a:t>
            </a:r>
            <a:r>
              <a:rPr lang="ru-RU" cap="all" dirty="0">
                <a:solidFill>
                  <a:schemeClr val="accent2"/>
                </a:solidFill>
              </a:rPr>
              <a:t>домены</a:t>
            </a:r>
            <a:endParaRPr lang="en-US" cap="all" dirty="0">
              <a:solidFill>
                <a:schemeClr val="accent2"/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7C76730-10C9-F931-1BB5-31C77A050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понятия в Реляционной Модели Данных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3EF6249-B263-82D5-3167-F611A848E0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94229"/>
              </p:ext>
            </p:extLst>
          </p:nvPr>
        </p:nvGraphicFramePr>
        <p:xfrm>
          <a:off x="350837" y="1802394"/>
          <a:ext cx="8541643" cy="2682240"/>
        </p:xfrm>
        <a:graphic>
          <a:graphicData uri="http://schemas.openxmlformats.org/drawingml/2006/table">
            <a:tbl>
              <a:tblPr firstRow="1" lastRow="1" bandRow="1">
                <a:tableStyleId>{F5AB1C69-6EDB-4FF4-983F-18BD219EF322}</a:tableStyleId>
              </a:tblPr>
              <a:tblGrid>
                <a:gridCol w="1244687">
                  <a:extLst>
                    <a:ext uri="{9D8B030D-6E8A-4147-A177-3AD203B41FA5}">
                      <a16:colId xmlns:a16="http://schemas.microsoft.com/office/drawing/2014/main" val="3013974746"/>
                    </a:ext>
                  </a:extLst>
                </a:gridCol>
                <a:gridCol w="2208209">
                  <a:extLst>
                    <a:ext uri="{9D8B030D-6E8A-4147-A177-3AD203B41FA5}">
                      <a16:colId xmlns:a16="http://schemas.microsoft.com/office/drawing/2014/main" val="732842481"/>
                    </a:ext>
                  </a:extLst>
                </a:gridCol>
                <a:gridCol w="1192675">
                  <a:extLst>
                    <a:ext uri="{9D8B030D-6E8A-4147-A177-3AD203B41FA5}">
                      <a16:colId xmlns:a16="http://schemas.microsoft.com/office/drawing/2014/main" val="720714605"/>
                    </a:ext>
                  </a:extLst>
                </a:gridCol>
                <a:gridCol w="1669744">
                  <a:extLst>
                    <a:ext uri="{9D8B030D-6E8A-4147-A177-3AD203B41FA5}">
                      <a16:colId xmlns:a16="http://schemas.microsoft.com/office/drawing/2014/main" val="3804642136"/>
                    </a:ext>
                  </a:extLst>
                </a:gridCol>
                <a:gridCol w="1113164">
                  <a:extLst>
                    <a:ext uri="{9D8B030D-6E8A-4147-A177-3AD203B41FA5}">
                      <a16:colId xmlns:a16="http://schemas.microsoft.com/office/drawing/2014/main" val="1255491312"/>
                    </a:ext>
                  </a:extLst>
                </a:gridCol>
                <a:gridCol w="1113164">
                  <a:extLst>
                    <a:ext uri="{9D8B030D-6E8A-4147-A177-3AD203B41FA5}">
                      <a16:colId xmlns:a16="http://schemas.microsoft.com/office/drawing/2014/main" val="1445904422"/>
                    </a:ext>
                  </a:extLst>
                </a:gridCol>
              </a:tblGrid>
              <a:tr h="206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Имя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№ </a:t>
                      </a:r>
                      <a:r>
                        <a:rPr kumimoji="0" lang="ru-RU" sz="1400" b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студбилета</a:t>
                      </a:r>
                      <a:endParaRPr kumimoji="0" lang="ru-RU" sz="1400" b="0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тел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адрес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возраст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балл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3128812682"/>
                  </a:ext>
                </a:extLst>
              </a:tr>
              <a:tr h="206301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Иванов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090041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330-15-34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Терешковой</a:t>
                      </a:r>
                      <a:r>
                        <a:rPr kumimoji="0" lang="ru-RU" sz="14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, 40 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19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3.26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512675064"/>
                  </a:ext>
                </a:extLst>
              </a:tr>
              <a:tr h="206301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Петров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090042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330-87-38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Ученых,  7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19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4.05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670212047"/>
                  </a:ext>
                </a:extLst>
              </a:tr>
              <a:tr h="206301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Сидоров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090140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230-15-32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Морской,2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18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4.87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644239260"/>
                  </a:ext>
                </a:extLst>
              </a:tr>
              <a:tr h="206301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Голубев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090141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335-42-43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Правды, 5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20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3.87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4127473197"/>
                  </a:ext>
                </a:extLst>
              </a:tr>
              <a:tr h="206301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Федоров 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090142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231-48-32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Пирогова, 22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20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4.50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3594846086"/>
                  </a:ext>
                </a:extLst>
              </a:tr>
              <a:tr h="206301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Костин 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090086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330-45-44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Мальцева, 4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18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4.90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cs typeface="Arial" charset="0"/>
                      </a:endParaRPr>
                    </a:p>
                  </a:txBody>
                  <a:tcPr horzOverflow="overflow"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9972135"/>
                  </a:ext>
                </a:extLst>
              </a:tr>
              <a:tr h="206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1" i="0" u="none" strike="noStrike" cap="all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charset="0"/>
                        </a:rPr>
                        <a:t>имена</a:t>
                      </a:r>
                    </a:p>
                  </a:txBody>
                  <a:tcPr horzOverflow="overflow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1" i="0" u="none" strike="noStrike" cap="all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charset="0"/>
                        </a:rPr>
                        <a:t>Номер </a:t>
                      </a:r>
                      <a:r>
                        <a:rPr kumimoji="0" lang="ru-RU" sz="1200" b="1" i="0" u="none" strike="noStrike" cap="all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charset="0"/>
                        </a:rPr>
                        <a:t>ст.билета</a:t>
                      </a:r>
                      <a:endParaRPr kumimoji="0" lang="ru-RU" sz="1200" b="1" i="0" u="none" strike="noStrike" cap="all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horzOverflow="overflow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1" i="0" u="none" strike="noStrike" cap="all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charset="0"/>
                        </a:rPr>
                        <a:t>телефон</a:t>
                      </a:r>
                    </a:p>
                  </a:txBody>
                  <a:tcPr horzOverflow="overflow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1" i="0" u="none" strike="noStrike" cap="all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charset="0"/>
                        </a:rPr>
                        <a:t>адрес</a:t>
                      </a:r>
                    </a:p>
                  </a:txBody>
                  <a:tcPr horzOverflow="overflow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1" i="0" u="none" strike="noStrike" cap="all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charset="0"/>
                        </a:rPr>
                        <a:t>возраст</a:t>
                      </a:r>
                    </a:p>
                  </a:txBody>
                  <a:tcPr horzOverflow="overflow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1" i="0" u="none" strike="noStrike" cap="all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charset="0"/>
                        </a:rPr>
                        <a:t>Рейтинг</a:t>
                      </a:r>
                    </a:p>
                  </a:txBody>
                  <a:tcPr horzOverflow="overflow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0425789"/>
                  </a:ext>
                </a:extLst>
              </a:tr>
              <a:tr h="206301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1" i="0" u="none" strike="noStrike" cap="all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charset="0"/>
                        </a:rPr>
                        <a:t>строка</a:t>
                      </a:r>
                    </a:p>
                  </a:txBody>
                  <a:tcPr horzOverflow="overflow"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ru-RU" sz="1200" b="1" i="0" u="none" strike="noStrike" cap="all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horzOverflow="overflow"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ru-RU" sz="1200" b="1" i="0" u="none" strike="noStrike" cap="all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horzOverflow="overflow"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ru-RU" sz="1200" b="1" i="0" u="none" strike="noStrike" cap="all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horzOverflow="overflow"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1" i="0" u="none" strike="noStrike" cap="all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charset="0"/>
                        </a:rPr>
                        <a:t>целое</a:t>
                      </a:r>
                    </a:p>
                  </a:txBody>
                  <a:tcPr horzOverflow="overflow"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1" i="0" u="none" strike="noStrike" cap="all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charset="0"/>
                        </a:rPr>
                        <a:t>Фикс.</a:t>
                      </a:r>
                    </a:p>
                  </a:txBody>
                  <a:tcPr horzOverflow="overflow"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44152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13898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12935A-8534-39E3-2E12-3CDA62DF6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1FCA5D-8559-7448-2819-EF68C2AECF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ru-RU" dirty="0"/>
              <a:t>Отсутствие кортежей - дубликатов</a:t>
            </a:r>
          </a:p>
          <a:p>
            <a:pPr eaLnBrk="1" hangingPunct="1"/>
            <a:r>
              <a:rPr lang="ru-RU" dirty="0"/>
              <a:t>Отсутствие упорядоченности кортежей</a:t>
            </a:r>
          </a:p>
          <a:p>
            <a:pPr eaLnBrk="1" hangingPunct="1"/>
            <a:r>
              <a:rPr lang="ru-RU" dirty="0"/>
              <a:t>Отсутствие упорядоченности атрибутов</a:t>
            </a:r>
          </a:p>
          <a:p>
            <a:pPr eaLnBrk="1" hangingPunct="1"/>
            <a:r>
              <a:rPr lang="ru-RU" dirty="0"/>
              <a:t>Атомарность значений атрибутов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EF91C2-BC92-FCDA-86AD-47D9CF25918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cap="all" dirty="0"/>
              <a:t>Фундаментальные свойства отношений</a:t>
            </a:r>
            <a:endParaRPr lang="en-US" cap="all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3AD8AF3-D7A2-9C13-D6F4-CC160ED5A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понятия в Реляционной Модели Данных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89114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4D98FE-5542-3DB4-27B7-7CF6E090E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54B3B1-51A6-4A80-4F6B-5A2038F865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4D6814-BA10-AC9F-2AE5-95A5414CA5E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cap="all" dirty="0"/>
              <a:t>Атомарность значений атрибутов</a:t>
            </a:r>
          </a:p>
          <a:p>
            <a:endParaRPr lang="en-US" cap="all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B52AF46-45A5-54C3-DDBE-A81F2639E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понятия в Реляционной Модели Данных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E2CA204-AC2E-319C-D7B6-69649C59CE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393342"/>
              </p:ext>
            </p:extLst>
          </p:nvPr>
        </p:nvGraphicFramePr>
        <p:xfrm>
          <a:off x="251128" y="1836169"/>
          <a:ext cx="4104848" cy="23164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008504">
                  <a:extLst>
                    <a:ext uri="{9D8B030D-6E8A-4147-A177-3AD203B41FA5}">
                      <a16:colId xmlns:a16="http://schemas.microsoft.com/office/drawing/2014/main" val="83737704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53658593"/>
                    </a:ext>
                  </a:extLst>
                </a:gridCol>
                <a:gridCol w="1062020">
                  <a:extLst>
                    <a:ext uri="{9D8B030D-6E8A-4147-A177-3AD203B41FA5}">
                      <a16:colId xmlns:a16="http://schemas.microsoft.com/office/drawing/2014/main" val="1714869063"/>
                    </a:ext>
                  </a:extLst>
                </a:gridCol>
                <a:gridCol w="1026212">
                  <a:extLst>
                    <a:ext uri="{9D8B030D-6E8A-4147-A177-3AD203B41FA5}">
                      <a16:colId xmlns:a16="http://schemas.microsoft.com/office/drawing/2014/main" val="1074969769"/>
                    </a:ext>
                  </a:extLst>
                </a:gridCol>
              </a:tblGrid>
              <a:tr h="260563">
                <a:tc rowSpan="2">
                  <a:txBody>
                    <a:bodyPr/>
                    <a:lstStyle/>
                    <a:p>
                      <a:r>
                        <a:rPr lang="ru-RU" sz="1400" dirty="0">
                          <a:latin typeface="Aptos Narrow" panose="020B0004020202020204" pitchFamily="34" charset="0"/>
                        </a:rPr>
                        <a:t>Номер</a:t>
                      </a:r>
                      <a:r>
                        <a:rPr lang="ru-RU" sz="1400" baseline="0" dirty="0">
                          <a:latin typeface="Aptos Narrow" panose="020B0004020202020204" pitchFamily="34" charset="0"/>
                        </a:rPr>
                        <a:t> отдела</a:t>
                      </a:r>
                      <a:endParaRPr lang="ru-RU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Aptos Narrow" panose="020B0004020202020204" pitchFamily="34" charset="0"/>
                        </a:rPr>
                        <a:t>Отдел</a:t>
                      </a:r>
                      <a:endParaRPr lang="en-US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853455"/>
                  </a:ext>
                </a:extLst>
              </a:tr>
              <a:tr h="260563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err="1">
                          <a:latin typeface="Aptos Narrow" panose="020B0004020202020204" pitchFamily="34" charset="0"/>
                        </a:rPr>
                        <a:t>Сотр</a:t>
                      </a:r>
                      <a:r>
                        <a:rPr lang="ru-RU" sz="1400" dirty="0">
                          <a:latin typeface="Aptos Narrow" panose="020B0004020202020204" pitchFamily="34" charset="0"/>
                        </a:rPr>
                        <a:t>_№</a:t>
                      </a:r>
                    </a:p>
                  </a:txBody>
                  <a:tcPr marL="45720" marR="4572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err="1">
                          <a:latin typeface="Aptos Narrow" panose="020B0004020202020204" pitchFamily="34" charset="0"/>
                        </a:rPr>
                        <a:t>Сотр_Имя</a:t>
                      </a:r>
                      <a:endParaRPr lang="ru-RU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err="1">
                          <a:latin typeface="Aptos Narrow" panose="020B0004020202020204" pitchFamily="34" charset="0"/>
                        </a:rPr>
                        <a:t>Сотр_зп</a:t>
                      </a:r>
                      <a:endParaRPr lang="ru-RU" sz="1400" dirty="0">
                        <a:latin typeface="Aptos Narrow" panose="020B0004020202020204" pitchFamily="34" charset="0"/>
                      </a:endParaRPr>
                    </a:p>
                  </a:txBody>
                  <a:tcPr marL="45720" marR="45720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686366"/>
                  </a:ext>
                </a:extLst>
              </a:tr>
              <a:tr h="260563">
                <a:tc rowSpan="3"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Aptos Narrow" panose="020B0004020202020204" pitchFamily="34" charset="0"/>
                        </a:rPr>
                        <a:t>310</a:t>
                      </a: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Aptos Narrow" panose="020B0004020202020204" pitchFamily="34" charset="0"/>
                        </a:rPr>
                        <a:t>2934</a:t>
                      </a: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Aptos Narrow" panose="020B0004020202020204" pitchFamily="34" charset="0"/>
                        </a:rPr>
                        <a:t>Иванов</a:t>
                      </a:r>
                    </a:p>
                  </a:txBody>
                  <a:tcPr marL="45720" marR="45720"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Aptos Narrow" panose="020B0004020202020204" pitchFamily="34" charset="0"/>
                        </a:rPr>
                        <a:t>112,00</a:t>
                      </a:r>
                    </a:p>
                  </a:txBody>
                  <a:tcPr marL="45720" marR="45720"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680953557"/>
                  </a:ext>
                </a:extLst>
              </a:tr>
              <a:tr h="260563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Aptos Narrow" panose="020B0004020202020204" pitchFamily="34" charset="0"/>
                        </a:rPr>
                        <a:t>2935</a:t>
                      </a: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Aptos Narrow" panose="020B0004020202020204" pitchFamily="34" charset="0"/>
                        </a:rPr>
                        <a:t>Петров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Aptos Narrow" panose="020B0004020202020204" pitchFamily="34" charset="0"/>
                        </a:rPr>
                        <a:t>112,50</a:t>
                      </a:r>
                    </a:p>
                  </a:txBody>
                  <a:tcPr marL="45720" marR="45720"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69156445"/>
                  </a:ext>
                </a:extLst>
              </a:tr>
              <a:tr h="260563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Aptos Narrow" panose="020B0004020202020204" pitchFamily="34" charset="0"/>
                        </a:rPr>
                        <a:t>… </a:t>
                      </a: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Aptos Narrow" panose="020B0004020202020204" pitchFamily="34" charset="0"/>
                        </a:rPr>
                        <a:t>… </a:t>
                      </a:r>
                    </a:p>
                  </a:txBody>
                  <a:tcPr marL="45720" marR="45720"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Aptos Narrow" panose="020B0004020202020204" pitchFamily="34" charset="0"/>
                        </a:rPr>
                        <a:t>… </a:t>
                      </a:r>
                    </a:p>
                  </a:txBody>
                  <a:tcPr marL="45720" marR="45720"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9641325"/>
                  </a:ext>
                </a:extLst>
              </a:tr>
              <a:tr h="355314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Aptos Narrow" panose="020B0004020202020204" pitchFamily="34" charset="0"/>
                        </a:rPr>
                        <a:t>313</a:t>
                      </a:r>
                    </a:p>
                  </a:txBody>
                  <a:tcPr marL="45720" marR="4572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Aptos Narrow" panose="020B0004020202020204" pitchFamily="34" charset="0"/>
                        </a:rPr>
                        <a:t>2937</a:t>
                      </a: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Aptos Narrow" panose="020B0004020202020204" pitchFamily="34" charset="0"/>
                        </a:rPr>
                        <a:t>Федоров</a:t>
                      </a:r>
                    </a:p>
                  </a:txBody>
                  <a:tcPr marL="45720" marR="45720"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Aptos Narrow" panose="020B0004020202020204" pitchFamily="34" charset="0"/>
                        </a:rPr>
                        <a:t>110</a:t>
                      </a:r>
                    </a:p>
                  </a:txBody>
                  <a:tcPr marL="45720" marR="45720"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3448744"/>
                  </a:ext>
                </a:extLst>
              </a:tr>
              <a:tr h="355314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Aptos Narrow" panose="020B0004020202020204" pitchFamily="34" charset="0"/>
                        </a:rPr>
                        <a:t>315</a:t>
                      </a:r>
                    </a:p>
                  </a:txBody>
                  <a:tcPr marL="45720" marR="4572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Aptos Narrow" panose="020B0004020202020204" pitchFamily="34" charset="0"/>
                        </a:rPr>
                        <a:t>2938</a:t>
                      </a:r>
                    </a:p>
                  </a:txBody>
                  <a:tcPr marL="45720" marR="4572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Aptos Narrow" panose="020B0004020202020204" pitchFamily="34" charset="0"/>
                        </a:rPr>
                        <a:t>Голубев</a:t>
                      </a:r>
                    </a:p>
                  </a:txBody>
                  <a:tcPr marL="45720" marR="45720"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Aptos Narrow" panose="020B0004020202020204" pitchFamily="34" charset="0"/>
                        </a:rPr>
                        <a:t>112</a:t>
                      </a:r>
                    </a:p>
                  </a:txBody>
                  <a:tcPr marL="45720" marR="45720"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176870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E22D1B2-DF80-65FA-71C5-CF9D6B72E5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4817864"/>
              </p:ext>
            </p:extLst>
          </p:nvPr>
        </p:nvGraphicFramePr>
        <p:xfrm>
          <a:off x="4597310" y="1836169"/>
          <a:ext cx="4217182" cy="214318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10794">
                  <a:extLst>
                    <a:ext uri="{9D8B030D-6E8A-4147-A177-3AD203B41FA5}">
                      <a16:colId xmlns:a16="http://schemas.microsoft.com/office/drawing/2014/main" val="837377040"/>
                    </a:ext>
                  </a:extLst>
                </a:gridCol>
                <a:gridCol w="1105822">
                  <a:extLst>
                    <a:ext uri="{9D8B030D-6E8A-4147-A177-3AD203B41FA5}">
                      <a16:colId xmlns:a16="http://schemas.microsoft.com/office/drawing/2014/main" val="2053658593"/>
                    </a:ext>
                  </a:extLst>
                </a:gridCol>
                <a:gridCol w="1174354">
                  <a:extLst>
                    <a:ext uri="{9D8B030D-6E8A-4147-A177-3AD203B41FA5}">
                      <a16:colId xmlns:a16="http://schemas.microsoft.com/office/drawing/2014/main" val="1714869063"/>
                    </a:ext>
                  </a:extLst>
                </a:gridCol>
                <a:gridCol w="1026212">
                  <a:extLst>
                    <a:ext uri="{9D8B030D-6E8A-4147-A177-3AD203B41FA5}">
                      <a16:colId xmlns:a16="http://schemas.microsoft.com/office/drawing/2014/main" val="1074969769"/>
                    </a:ext>
                  </a:extLst>
                </a:gridCol>
              </a:tblGrid>
              <a:tr h="26056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Номер отдела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err="1"/>
                        <a:t>Сотр</a:t>
                      </a:r>
                      <a:r>
                        <a:rPr lang="ru-RU" sz="1400" dirty="0"/>
                        <a:t>_№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err="1"/>
                        <a:t>Сотр_Имя</a:t>
                      </a:r>
                      <a:endParaRPr lang="ru-RU" sz="1400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err="1"/>
                        <a:t>Сотр_зп</a:t>
                      </a:r>
                      <a:endParaRPr lang="ru-RU" sz="1400" dirty="0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40853455"/>
                  </a:ext>
                </a:extLst>
              </a:tr>
              <a:tr h="260563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310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2934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Иванов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112,00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680953557"/>
                  </a:ext>
                </a:extLst>
              </a:tr>
              <a:tr h="26056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310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2935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Петров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112,50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769156445"/>
                  </a:ext>
                </a:extLst>
              </a:tr>
              <a:tr h="260563">
                <a:tc>
                  <a:txBody>
                    <a:bodyPr/>
                    <a:lstStyle/>
                    <a:p>
                      <a:pPr algn="ctr"/>
                      <a:endParaRPr lang="ru-RU" sz="1400" dirty="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… 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… 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… 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4179641325"/>
                  </a:ext>
                </a:extLst>
              </a:tr>
              <a:tr h="355314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313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2937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Федоров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110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153448744"/>
                  </a:ext>
                </a:extLst>
              </a:tr>
              <a:tr h="355314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315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2938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Голубев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112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33517687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80264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E613E8-2542-5D52-6B08-83D2CD458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D3EB650-9E63-751F-F80D-B69F2AE0D6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779662"/>
            <a:ext cx="8541643" cy="259231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dirty="0"/>
              <a:t>Условия выполнения операций </a:t>
            </a:r>
          </a:p>
          <a:p>
            <a:r>
              <a:rPr lang="ru-RU" b="1" dirty="0"/>
              <a:t>Объединение, пересечение, разность</a:t>
            </a:r>
            <a:r>
              <a:rPr lang="ru-RU" dirty="0"/>
              <a:t>:</a:t>
            </a:r>
            <a:br>
              <a:rPr lang="ru-RU" dirty="0"/>
            </a:br>
            <a:r>
              <a:rPr lang="ru-RU" dirty="0">
                <a:solidFill>
                  <a:schemeClr val="accent2"/>
                </a:solidFill>
              </a:rPr>
              <a:t>схемы отношений – одинаковы (кол. атрибутов одинаково, соответствующие атрибуты определены на одних и тех же доменах )</a:t>
            </a:r>
          </a:p>
          <a:p>
            <a:pPr marL="541338" lvl="1" indent="-182563">
              <a:buFont typeface="+mj-lt"/>
              <a:buAutoNum type="arabicPeriod"/>
              <a:tabLst>
                <a:tab pos="808038" algn="l"/>
                <a:tab pos="1341438" algn="l"/>
                <a:tab pos="2422525" algn="l"/>
                <a:tab pos="3140075" algn="l"/>
                <a:tab pos="3406775" algn="l"/>
                <a:tab pos="3946525" algn="l"/>
              </a:tabLst>
            </a:pPr>
            <a:r>
              <a:rPr lang="ru-RU" b="1" dirty="0"/>
              <a:t>R1</a:t>
            </a:r>
            <a:r>
              <a:rPr lang="ru-RU" dirty="0"/>
              <a:t>(А:</a:t>
            </a:r>
            <a:r>
              <a:rPr lang="en-US" dirty="0"/>
              <a:t>int</a:t>
            </a:r>
            <a:r>
              <a:rPr lang="ru-RU" dirty="0"/>
              <a:t>,	В:</a:t>
            </a:r>
            <a:r>
              <a:rPr lang="en-US" dirty="0"/>
              <a:t>char</a:t>
            </a:r>
            <a:r>
              <a:rPr lang="ru-RU" dirty="0"/>
              <a:t>(10),	С:вещ)	</a:t>
            </a:r>
            <a:r>
              <a:rPr lang="ru-RU" b="1" dirty="0"/>
              <a:t>S1</a:t>
            </a:r>
            <a:r>
              <a:rPr lang="ru-RU" dirty="0"/>
              <a:t>(	А:</a:t>
            </a:r>
            <a:r>
              <a:rPr lang="en-US" dirty="0"/>
              <a:t>int</a:t>
            </a:r>
            <a:r>
              <a:rPr lang="ru-RU" dirty="0"/>
              <a:t>,	В:</a:t>
            </a:r>
            <a:r>
              <a:rPr lang="en-US" dirty="0"/>
              <a:t>char</a:t>
            </a:r>
            <a:r>
              <a:rPr lang="ru-RU" dirty="0"/>
              <a:t>(10))</a:t>
            </a:r>
            <a:br>
              <a:rPr lang="ru-RU" dirty="0"/>
            </a:br>
            <a:r>
              <a:rPr lang="ru-RU" dirty="0">
                <a:solidFill>
                  <a:srgbClr val="FF0000"/>
                </a:solidFill>
              </a:rPr>
              <a:t>	6, 	Петров,	12.83		7,	Голубев</a:t>
            </a:r>
          </a:p>
          <a:p>
            <a:pPr marL="541338" lvl="1" indent="-182563">
              <a:buFont typeface="+mj-lt"/>
              <a:buAutoNum type="arabicPeriod"/>
              <a:tabLst>
                <a:tab pos="808038" algn="l"/>
                <a:tab pos="1431925" algn="l"/>
                <a:tab pos="3140075" algn="l"/>
                <a:tab pos="3406775" algn="l"/>
                <a:tab pos="3946525" algn="l"/>
              </a:tabLst>
            </a:pPr>
            <a:r>
              <a:rPr lang="ru-RU" b="1" dirty="0"/>
              <a:t>R2</a:t>
            </a:r>
            <a:r>
              <a:rPr lang="ru-RU" dirty="0"/>
              <a:t>(А:</a:t>
            </a:r>
            <a:r>
              <a:rPr lang="en-US" dirty="0"/>
              <a:t>num</a:t>
            </a:r>
            <a:r>
              <a:rPr lang="ru-RU" dirty="0"/>
              <a:t>,	С:</a:t>
            </a:r>
            <a:r>
              <a:rPr lang="en-US" dirty="0"/>
              <a:t>num</a:t>
            </a:r>
            <a:r>
              <a:rPr lang="ru-RU" dirty="0"/>
              <a:t>)	</a:t>
            </a:r>
            <a:r>
              <a:rPr lang="ru-RU" b="1" dirty="0"/>
              <a:t>S2</a:t>
            </a:r>
            <a:r>
              <a:rPr lang="ru-RU" dirty="0"/>
              <a:t>(А:</a:t>
            </a:r>
            <a:r>
              <a:rPr lang="en-US" dirty="0"/>
              <a:t>int</a:t>
            </a:r>
            <a:r>
              <a:rPr lang="ru-RU" dirty="0"/>
              <a:t>,	С:</a:t>
            </a:r>
            <a:r>
              <a:rPr lang="en-US" dirty="0"/>
              <a:t>char</a:t>
            </a:r>
            <a:r>
              <a:rPr lang="ru-RU" dirty="0"/>
              <a:t>(10))</a:t>
            </a:r>
            <a:br>
              <a:rPr lang="ru-RU" dirty="0"/>
            </a:br>
            <a:r>
              <a:rPr lang="ru-RU" dirty="0"/>
              <a:t>	</a:t>
            </a:r>
            <a:r>
              <a:rPr lang="ru-RU" dirty="0">
                <a:solidFill>
                  <a:srgbClr val="FF0000"/>
                </a:solidFill>
              </a:rPr>
              <a:t>2.87,	3.12		10,	Сидоров</a:t>
            </a:r>
          </a:p>
          <a:p>
            <a:pPr marL="541338" lvl="1" indent="-182563">
              <a:buFont typeface="+mj-lt"/>
              <a:buAutoNum type="arabicPeriod"/>
              <a:tabLst>
                <a:tab pos="808038" algn="l"/>
                <a:tab pos="1341438" algn="l"/>
                <a:tab pos="3140075" algn="l"/>
                <a:tab pos="3406775" algn="l"/>
                <a:tab pos="3946525" algn="l"/>
              </a:tabLst>
            </a:pPr>
            <a:r>
              <a:rPr lang="ru-RU" b="1" dirty="0"/>
              <a:t>R3</a:t>
            </a:r>
            <a:r>
              <a:rPr lang="ru-RU" dirty="0"/>
              <a:t>(А:</a:t>
            </a:r>
            <a:r>
              <a:rPr lang="en-US" dirty="0"/>
              <a:t>int</a:t>
            </a:r>
            <a:r>
              <a:rPr lang="ru-RU" dirty="0"/>
              <a:t>,	С:</a:t>
            </a:r>
            <a:r>
              <a:rPr lang="en-US" dirty="0"/>
              <a:t>char</a:t>
            </a:r>
            <a:r>
              <a:rPr lang="ru-RU" dirty="0"/>
              <a:t>(10))	</a:t>
            </a:r>
            <a:r>
              <a:rPr lang="ru-RU" b="1" dirty="0"/>
              <a:t>S3</a:t>
            </a:r>
            <a:r>
              <a:rPr lang="ru-RU" dirty="0"/>
              <a:t>(В:</a:t>
            </a:r>
            <a:r>
              <a:rPr lang="en-US" dirty="0"/>
              <a:t>int</a:t>
            </a:r>
            <a:r>
              <a:rPr lang="ru-RU" dirty="0"/>
              <a:t>,	Е:</a:t>
            </a:r>
            <a:r>
              <a:rPr lang="en-US" dirty="0"/>
              <a:t>char</a:t>
            </a:r>
            <a:r>
              <a:rPr lang="ru-RU" dirty="0"/>
              <a:t>(10))</a:t>
            </a:r>
            <a:br>
              <a:rPr lang="ru-RU" dirty="0"/>
            </a:br>
            <a:r>
              <a:rPr lang="ru-RU" dirty="0"/>
              <a:t>	</a:t>
            </a:r>
            <a:r>
              <a:rPr lang="ru-RU" dirty="0">
                <a:solidFill>
                  <a:schemeClr val="accent6"/>
                </a:solidFill>
              </a:rPr>
              <a:t>1010,	директор		2011,	инженер</a:t>
            </a:r>
          </a:p>
          <a:p>
            <a:r>
              <a:rPr lang="ru-RU" b="1" dirty="0"/>
              <a:t>Декартово произведение</a:t>
            </a:r>
            <a:r>
              <a:rPr lang="ru-RU" dirty="0"/>
              <a:t> – нет ограничений</a:t>
            </a:r>
          </a:p>
          <a:p>
            <a:pPr lvl="1"/>
            <a:r>
              <a:rPr lang="ru-RU" dirty="0"/>
              <a:t>R (А,В,С) ×</a:t>
            </a:r>
            <a:r>
              <a:rPr lang="en-US" dirty="0"/>
              <a:t> </a:t>
            </a:r>
            <a:r>
              <a:rPr lang="ru-RU" dirty="0"/>
              <a:t>S(E,D) = T(А,В,С,E,D)</a:t>
            </a:r>
          </a:p>
          <a:p>
            <a:pPr lvl="1"/>
            <a:r>
              <a:rPr lang="ru-RU" dirty="0"/>
              <a:t>R (А,В,С) × S(A,D) = T(R.А,В,С,S.A,D)</a:t>
            </a:r>
          </a:p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C1CFAB7-A6DF-47EB-CAA2-F157A1E11F2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cap="all" dirty="0"/>
              <a:t>Теоретико-множественные операции</a:t>
            </a:r>
            <a:endParaRPr lang="en-US" cap="all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DD22BE3-8884-E771-1CEB-92ECAB0B2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Реляционная алгебра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8192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0B8C4A-5F00-4143-543C-D95888AA2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0E4CE3A-BB25-BD81-A008-8CAD7A20A0D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dirty="0"/>
              <a:t>Декартово произведение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7179E42-0FEE-5E80-CCCB-9C14A09B500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0" y="1801813"/>
            <a:ext cx="4321175" cy="2570162"/>
          </a:xfrm>
        </p:spPr>
        <p:txBody>
          <a:bodyPr>
            <a:normAutofit/>
          </a:bodyPr>
          <a:lstStyle/>
          <a:p>
            <a:pPr marL="0" lvl="1" indent="0">
              <a:lnSpc>
                <a:spcPct val="80000"/>
              </a:lnSpc>
              <a:buClr>
                <a:schemeClr val="tx1"/>
              </a:buClr>
              <a:buNone/>
              <a:tabLst>
                <a:tab pos="266700" algn="ctr"/>
                <a:tab pos="449263" algn="ctr"/>
                <a:tab pos="625475" algn="ctr"/>
                <a:tab pos="1219200" algn="ctr"/>
                <a:tab pos="1431925" algn="ctr"/>
                <a:tab pos="1973263" algn="ctr"/>
                <a:tab pos="2155825" algn="ctr"/>
                <a:tab pos="2332038" algn="ctr"/>
                <a:tab pos="2598738" algn="ctr"/>
                <a:tab pos="2781300" algn="ctr"/>
                <a:tab pos="2873375" algn="r"/>
              </a:tabLst>
            </a:pPr>
            <a:r>
              <a:rPr lang="en-US" sz="1400" b="1" dirty="0">
                <a:latin typeface="+mn-lt"/>
                <a:sym typeface="Symbol" pitchFamily="18" charset="2"/>
              </a:rPr>
              <a:t>R(</a:t>
            </a:r>
            <a:r>
              <a:rPr lang="ru-RU" sz="1400" b="1" dirty="0">
                <a:latin typeface="+mn-lt"/>
                <a:sym typeface="Symbol" pitchFamily="18" charset="2"/>
              </a:rPr>
              <a:t>	</a:t>
            </a:r>
            <a:r>
              <a:rPr lang="ru-RU" sz="1400" dirty="0">
                <a:solidFill>
                  <a:srgbClr val="DE4110"/>
                </a:solidFill>
                <a:latin typeface="+mn-lt"/>
                <a:sym typeface="Symbol" pitchFamily="18" charset="2"/>
              </a:rPr>
              <a:t>А</a:t>
            </a:r>
            <a:r>
              <a:rPr lang="ru-RU" sz="1400" dirty="0">
                <a:latin typeface="+mn-lt"/>
                <a:sym typeface="Symbol" pitchFamily="18" charset="2"/>
              </a:rPr>
              <a:t>,	</a:t>
            </a:r>
            <a:r>
              <a:rPr lang="en-US" sz="1400" dirty="0">
                <a:latin typeface="+mn-lt"/>
                <a:sym typeface="Symbol" pitchFamily="18" charset="2"/>
              </a:rPr>
              <a:t>B</a:t>
            </a:r>
            <a:r>
              <a:rPr lang="ru-RU" sz="1400" dirty="0">
                <a:latin typeface="+mn-lt"/>
                <a:sym typeface="Symbol" pitchFamily="18" charset="2"/>
              </a:rPr>
              <a:t>,</a:t>
            </a:r>
            <a:r>
              <a:rPr lang="en-US" sz="1400" dirty="0">
                <a:latin typeface="+mn-lt"/>
                <a:sym typeface="Symbol" pitchFamily="18" charset="2"/>
              </a:rPr>
              <a:t>	C</a:t>
            </a:r>
            <a:r>
              <a:rPr lang="ru-RU" sz="1400" b="1" dirty="0">
                <a:latin typeface="+mn-lt"/>
                <a:sym typeface="Symbol" pitchFamily="18" charset="2"/>
              </a:rPr>
              <a:t>)</a:t>
            </a:r>
            <a:r>
              <a:rPr lang="en-US" sz="1400" b="1" dirty="0">
                <a:latin typeface="+mn-lt"/>
                <a:sym typeface="Symbol" pitchFamily="18" charset="2"/>
              </a:rPr>
              <a:t> ×</a:t>
            </a:r>
            <a:r>
              <a:rPr lang="ru-RU" sz="1400" b="1" dirty="0">
                <a:latin typeface="+mn-lt"/>
                <a:sym typeface="Symbol" pitchFamily="18" charset="2"/>
              </a:rPr>
              <a:t> </a:t>
            </a:r>
            <a:r>
              <a:rPr lang="en-US" sz="1400" b="1" dirty="0">
                <a:latin typeface="+mn-lt"/>
                <a:sym typeface="Symbol" pitchFamily="18" charset="2"/>
              </a:rPr>
              <a:t>S(</a:t>
            </a:r>
            <a:r>
              <a:rPr lang="en-US" sz="1400" dirty="0">
                <a:solidFill>
                  <a:srgbClr val="DE4110"/>
                </a:solidFill>
                <a:latin typeface="+mn-lt"/>
                <a:sym typeface="Symbol" pitchFamily="18" charset="2"/>
              </a:rPr>
              <a:t>A</a:t>
            </a:r>
            <a:r>
              <a:rPr lang="en-US" sz="1400" dirty="0">
                <a:latin typeface="+mn-lt"/>
                <a:sym typeface="Symbol" pitchFamily="18" charset="2"/>
              </a:rPr>
              <a:t>,	D</a:t>
            </a:r>
            <a:r>
              <a:rPr lang="en-US" sz="1400" b="1" dirty="0">
                <a:latin typeface="+mn-lt"/>
                <a:sym typeface="Symbol" pitchFamily="18" charset="2"/>
              </a:rPr>
              <a:t>)= T(</a:t>
            </a:r>
            <a:r>
              <a:rPr lang="ru-RU" sz="1400" dirty="0">
                <a:solidFill>
                  <a:srgbClr val="FF0000"/>
                </a:solidFill>
                <a:latin typeface="+mn-lt"/>
                <a:sym typeface="Symbol" pitchFamily="18" charset="2"/>
              </a:rPr>
              <a:t>А</a:t>
            </a:r>
            <a:r>
              <a:rPr lang="en-US" sz="1400" baseline="-25000" dirty="0">
                <a:solidFill>
                  <a:srgbClr val="FF0000"/>
                </a:solidFill>
                <a:latin typeface="+mn-lt"/>
                <a:sym typeface="Symbol" pitchFamily="18" charset="2"/>
              </a:rPr>
              <a:t>1</a:t>
            </a:r>
            <a:r>
              <a:rPr lang="ru-RU" sz="1400" dirty="0">
                <a:latin typeface="+mn-lt"/>
                <a:sym typeface="Symbol" pitchFamily="18" charset="2"/>
              </a:rPr>
              <a:t>,</a:t>
            </a:r>
            <a:r>
              <a:rPr lang="en-US" sz="1400" dirty="0">
                <a:latin typeface="+mn-lt"/>
                <a:sym typeface="Symbol" pitchFamily="18" charset="2"/>
              </a:rPr>
              <a:t>	</a:t>
            </a:r>
            <a:r>
              <a:rPr lang="ru-RU" sz="1400" dirty="0">
                <a:latin typeface="+mn-lt"/>
                <a:sym typeface="Symbol" pitchFamily="18" charset="2"/>
              </a:rPr>
              <a:t>В,</a:t>
            </a:r>
            <a:r>
              <a:rPr lang="en-US" sz="1400" dirty="0">
                <a:latin typeface="+mn-lt"/>
                <a:sym typeface="Symbol" pitchFamily="18" charset="2"/>
              </a:rPr>
              <a:t>	</a:t>
            </a:r>
            <a:r>
              <a:rPr lang="ru-RU" sz="1400" dirty="0">
                <a:latin typeface="+mn-lt"/>
                <a:sym typeface="Symbol" pitchFamily="18" charset="2"/>
              </a:rPr>
              <a:t>С</a:t>
            </a:r>
            <a:r>
              <a:rPr lang="en-US" sz="1400" dirty="0">
                <a:latin typeface="+mn-lt"/>
                <a:sym typeface="Symbol" pitchFamily="18" charset="2"/>
              </a:rPr>
              <a:t>,	</a:t>
            </a:r>
            <a:r>
              <a:rPr lang="en-US" sz="1400" dirty="0">
                <a:solidFill>
                  <a:srgbClr val="FF0000"/>
                </a:solidFill>
                <a:latin typeface="+mn-lt"/>
                <a:sym typeface="Symbol" pitchFamily="18" charset="2"/>
              </a:rPr>
              <a:t>A</a:t>
            </a:r>
            <a:r>
              <a:rPr lang="en-US" sz="1400" baseline="-25000" dirty="0">
                <a:solidFill>
                  <a:srgbClr val="FF0000"/>
                </a:solidFill>
                <a:latin typeface="+mn-lt"/>
                <a:sym typeface="Symbol" pitchFamily="18" charset="2"/>
              </a:rPr>
              <a:t>2</a:t>
            </a:r>
            <a:r>
              <a:rPr lang="en-US" sz="1400" dirty="0">
                <a:latin typeface="+mn-lt"/>
                <a:sym typeface="Symbol" pitchFamily="18" charset="2"/>
              </a:rPr>
              <a:t>,	D	)</a:t>
            </a:r>
            <a:br>
              <a:rPr lang="en-US" sz="1400" dirty="0">
                <a:latin typeface="+mn-lt"/>
                <a:sym typeface="Symbol" pitchFamily="18" charset="2"/>
              </a:rPr>
            </a:br>
            <a:r>
              <a:rPr lang="en-US" sz="1400" dirty="0">
                <a:latin typeface="+mn-lt"/>
                <a:sym typeface="Symbol" pitchFamily="18" charset="2"/>
              </a:rPr>
              <a:t>	</a:t>
            </a:r>
            <a:r>
              <a:rPr lang="ru-RU" sz="1400" b="1" dirty="0">
                <a:solidFill>
                  <a:schemeClr val="accent1"/>
                </a:solidFill>
                <a:latin typeface="+mn-lt"/>
                <a:sym typeface="Symbol" pitchFamily="18" charset="2"/>
              </a:rPr>
              <a:t>1</a:t>
            </a:r>
            <a:r>
              <a:rPr lang="en-US" sz="1400" b="1" dirty="0">
                <a:solidFill>
                  <a:schemeClr val="accent1"/>
                </a:solidFill>
                <a:latin typeface="+mn-lt"/>
                <a:sym typeface="Symbol" pitchFamily="18" charset="2"/>
              </a:rPr>
              <a:t>	</a:t>
            </a:r>
            <a:r>
              <a:rPr lang="ru-RU" sz="1400" b="1" dirty="0">
                <a:solidFill>
                  <a:schemeClr val="accent1"/>
                </a:solidFill>
                <a:latin typeface="+mn-lt"/>
                <a:sym typeface="Symbol" pitchFamily="18" charset="2"/>
              </a:rPr>
              <a:t>3</a:t>
            </a:r>
            <a:r>
              <a:rPr lang="en-US" sz="1400" b="1" dirty="0">
                <a:solidFill>
                  <a:schemeClr val="accent1"/>
                </a:solidFill>
                <a:latin typeface="+mn-lt"/>
                <a:sym typeface="Symbol" pitchFamily="18" charset="2"/>
              </a:rPr>
              <a:t>	</a:t>
            </a:r>
            <a:r>
              <a:rPr lang="ru-RU" sz="1400" b="1" dirty="0">
                <a:solidFill>
                  <a:schemeClr val="accent1"/>
                </a:solidFill>
                <a:latin typeface="+mn-lt"/>
                <a:sym typeface="Symbol" pitchFamily="18" charset="2"/>
              </a:rPr>
              <a:t>5</a:t>
            </a:r>
            <a:r>
              <a:rPr lang="en-US" sz="1400" b="1" dirty="0">
                <a:solidFill>
                  <a:srgbClr val="3333FF"/>
                </a:solidFill>
                <a:latin typeface="+mn-lt"/>
                <a:sym typeface="Symbol" pitchFamily="18" charset="2"/>
              </a:rPr>
              <a:t>	</a:t>
            </a:r>
            <a:r>
              <a:rPr lang="ru-RU" sz="1400" b="1" dirty="0">
                <a:solidFill>
                  <a:schemeClr val="accent4"/>
                </a:solidFill>
                <a:latin typeface="+mn-lt"/>
                <a:sym typeface="Symbol" pitchFamily="18" charset="2"/>
              </a:rPr>
              <a:t>2</a:t>
            </a:r>
            <a:r>
              <a:rPr lang="en-US" sz="1400" b="1" dirty="0">
                <a:solidFill>
                  <a:schemeClr val="accent4"/>
                </a:solidFill>
                <a:latin typeface="+mn-lt"/>
                <a:sym typeface="Symbol" pitchFamily="18" charset="2"/>
              </a:rPr>
              <a:t>	</a:t>
            </a:r>
            <a:r>
              <a:rPr lang="ru-RU" sz="1400" b="1" dirty="0">
                <a:solidFill>
                  <a:schemeClr val="accent4"/>
                </a:solidFill>
                <a:latin typeface="+mn-lt"/>
                <a:sym typeface="Symbol" pitchFamily="18" charset="2"/>
              </a:rPr>
              <a:t>4</a:t>
            </a:r>
            <a:r>
              <a:rPr lang="en-US" sz="1400" b="1" dirty="0">
                <a:solidFill>
                  <a:srgbClr val="33CC33"/>
                </a:solidFill>
                <a:latin typeface="+mn-lt"/>
                <a:sym typeface="Symbol" pitchFamily="18" charset="2"/>
              </a:rPr>
              <a:t>	</a:t>
            </a:r>
            <a:r>
              <a:rPr lang="ru-RU" sz="1400" b="1" dirty="0">
                <a:solidFill>
                  <a:schemeClr val="accent1"/>
                </a:solidFill>
                <a:latin typeface="+mn-lt"/>
                <a:sym typeface="Symbol" pitchFamily="18" charset="2"/>
              </a:rPr>
              <a:t>1</a:t>
            </a:r>
            <a:r>
              <a:rPr lang="en-US" sz="1400" b="1" dirty="0">
                <a:solidFill>
                  <a:schemeClr val="accent1"/>
                </a:solidFill>
                <a:latin typeface="+mn-lt"/>
                <a:sym typeface="Symbol" pitchFamily="18" charset="2"/>
              </a:rPr>
              <a:t>	</a:t>
            </a:r>
            <a:r>
              <a:rPr lang="ru-RU" sz="1400" b="1" dirty="0">
                <a:solidFill>
                  <a:schemeClr val="accent1"/>
                </a:solidFill>
                <a:latin typeface="+mn-lt"/>
                <a:sym typeface="Symbol" pitchFamily="18" charset="2"/>
              </a:rPr>
              <a:t>3</a:t>
            </a:r>
            <a:r>
              <a:rPr lang="en-US" sz="1400" b="1" dirty="0">
                <a:solidFill>
                  <a:schemeClr val="accent1"/>
                </a:solidFill>
                <a:latin typeface="+mn-lt"/>
                <a:sym typeface="Symbol" pitchFamily="18" charset="2"/>
              </a:rPr>
              <a:t>	</a:t>
            </a:r>
            <a:r>
              <a:rPr lang="ru-RU" sz="1400" b="1" dirty="0">
                <a:solidFill>
                  <a:schemeClr val="accent1"/>
                </a:solidFill>
                <a:latin typeface="+mn-lt"/>
                <a:sym typeface="Symbol" pitchFamily="18" charset="2"/>
              </a:rPr>
              <a:t>5</a:t>
            </a:r>
            <a:r>
              <a:rPr lang="en-US" sz="1400" b="1" dirty="0">
                <a:solidFill>
                  <a:srgbClr val="3333FF"/>
                </a:solidFill>
                <a:latin typeface="+mn-lt"/>
                <a:sym typeface="Symbol" pitchFamily="18" charset="2"/>
              </a:rPr>
              <a:t>	</a:t>
            </a:r>
            <a:r>
              <a:rPr lang="ru-RU" sz="1400" b="1" dirty="0">
                <a:solidFill>
                  <a:schemeClr val="accent4"/>
                </a:solidFill>
                <a:latin typeface="+mn-lt"/>
                <a:sym typeface="Symbol" pitchFamily="18" charset="2"/>
              </a:rPr>
              <a:t>2</a:t>
            </a:r>
            <a:r>
              <a:rPr lang="en-US" sz="1400" b="1" dirty="0">
                <a:solidFill>
                  <a:schemeClr val="accent4"/>
                </a:solidFill>
                <a:latin typeface="+mn-lt"/>
                <a:sym typeface="Symbol" pitchFamily="18" charset="2"/>
              </a:rPr>
              <a:t>	</a:t>
            </a:r>
            <a:r>
              <a:rPr lang="ru-RU" sz="1400" b="1" dirty="0">
                <a:solidFill>
                  <a:schemeClr val="accent4"/>
                </a:solidFill>
                <a:latin typeface="+mn-lt"/>
                <a:sym typeface="Symbol" pitchFamily="18" charset="2"/>
              </a:rPr>
              <a:t>4</a:t>
            </a:r>
            <a:br>
              <a:rPr lang="en-US" sz="1400" b="1" dirty="0">
                <a:solidFill>
                  <a:srgbClr val="33CC33"/>
                </a:solidFill>
                <a:latin typeface="+mn-lt"/>
                <a:sym typeface="Symbol" pitchFamily="18" charset="2"/>
              </a:rPr>
            </a:br>
            <a:r>
              <a:rPr lang="en-US" sz="1400" b="1" dirty="0">
                <a:solidFill>
                  <a:srgbClr val="33CC33"/>
                </a:solidFill>
                <a:latin typeface="+mn-lt"/>
                <a:sym typeface="Symbol" pitchFamily="18" charset="2"/>
              </a:rPr>
              <a:t>	</a:t>
            </a:r>
            <a:r>
              <a:rPr lang="ru-RU" sz="1400" b="1" dirty="0">
                <a:solidFill>
                  <a:schemeClr val="accent2"/>
                </a:solidFill>
                <a:latin typeface="+mn-lt"/>
                <a:sym typeface="Symbol" pitchFamily="18" charset="2"/>
              </a:rPr>
              <a:t>7</a:t>
            </a:r>
            <a:r>
              <a:rPr lang="en-US" sz="1400" b="1" dirty="0">
                <a:solidFill>
                  <a:schemeClr val="accent2"/>
                </a:solidFill>
                <a:latin typeface="+mn-lt"/>
                <a:sym typeface="Symbol" pitchFamily="18" charset="2"/>
              </a:rPr>
              <a:t>	</a:t>
            </a:r>
            <a:r>
              <a:rPr lang="ru-RU" sz="1400" b="1" dirty="0">
                <a:solidFill>
                  <a:schemeClr val="accent2"/>
                </a:solidFill>
                <a:latin typeface="+mn-lt"/>
                <a:sym typeface="Symbol" pitchFamily="18" charset="2"/>
              </a:rPr>
              <a:t>9</a:t>
            </a:r>
            <a:r>
              <a:rPr lang="en-US" sz="1400" b="1" dirty="0">
                <a:solidFill>
                  <a:schemeClr val="accent2"/>
                </a:solidFill>
                <a:latin typeface="+mn-lt"/>
                <a:sym typeface="Symbol" pitchFamily="18" charset="2"/>
              </a:rPr>
              <a:t>	</a:t>
            </a:r>
            <a:r>
              <a:rPr lang="ru-RU" sz="1400" b="1" dirty="0">
                <a:solidFill>
                  <a:schemeClr val="accent2"/>
                </a:solidFill>
                <a:latin typeface="+mn-lt"/>
                <a:sym typeface="Symbol" pitchFamily="18" charset="2"/>
              </a:rPr>
              <a:t>3</a:t>
            </a:r>
            <a:r>
              <a:rPr lang="en-US" sz="1400" b="1" dirty="0">
                <a:solidFill>
                  <a:srgbClr val="3333FF"/>
                </a:solidFill>
                <a:latin typeface="+mn-lt"/>
                <a:sym typeface="Symbol" pitchFamily="18" charset="2"/>
              </a:rPr>
              <a:t>	</a:t>
            </a:r>
            <a:r>
              <a:rPr lang="ru-RU" sz="1400" b="1" dirty="0">
                <a:solidFill>
                  <a:schemeClr val="accent5"/>
                </a:solidFill>
                <a:latin typeface="+mn-lt"/>
                <a:sym typeface="Symbol" pitchFamily="18" charset="2"/>
              </a:rPr>
              <a:t>6</a:t>
            </a:r>
            <a:r>
              <a:rPr lang="en-US" sz="1400" b="1" dirty="0">
                <a:solidFill>
                  <a:schemeClr val="accent5"/>
                </a:solidFill>
                <a:latin typeface="+mn-lt"/>
                <a:sym typeface="Symbol" pitchFamily="18" charset="2"/>
              </a:rPr>
              <a:t>	</a:t>
            </a:r>
            <a:r>
              <a:rPr lang="ru-RU" sz="1400" b="1" dirty="0">
                <a:solidFill>
                  <a:schemeClr val="accent5"/>
                </a:solidFill>
                <a:latin typeface="+mn-lt"/>
                <a:sym typeface="Symbol" pitchFamily="18" charset="2"/>
              </a:rPr>
              <a:t>8</a:t>
            </a:r>
            <a:r>
              <a:rPr lang="en-US" sz="1400" b="1" dirty="0">
                <a:solidFill>
                  <a:srgbClr val="FFC000"/>
                </a:solidFill>
                <a:latin typeface="+mn-lt"/>
                <a:sym typeface="Symbol" pitchFamily="18" charset="2"/>
              </a:rPr>
              <a:t>	</a:t>
            </a:r>
            <a:r>
              <a:rPr lang="ru-RU" sz="1400" b="1" dirty="0">
                <a:solidFill>
                  <a:schemeClr val="accent2"/>
                </a:solidFill>
                <a:latin typeface="+mn-lt"/>
                <a:sym typeface="Symbol" pitchFamily="18" charset="2"/>
              </a:rPr>
              <a:t>7</a:t>
            </a:r>
            <a:r>
              <a:rPr lang="en-US" sz="1400" b="1" dirty="0">
                <a:solidFill>
                  <a:schemeClr val="accent2"/>
                </a:solidFill>
                <a:latin typeface="+mn-lt"/>
                <a:sym typeface="Symbol" pitchFamily="18" charset="2"/>
              </a:rPr>
              <a:t>	</a:t>
            </a:r>
            <a:r>
              <a:rPr lang="ru-RU" sz="1400" b="1" dirty="0">
                <a:solidFill>
                  <a:schemeClr val="accent2"/>
                </a:solidFill>
                <a:latin typeface="+mn-lt"/>
                <a:sym typeface="Symbol" pitchFamily="18" charset="2"/>
              </a:rPr>
              <a:t>9</a:t>
            </a:r>
            <a:r>
              <a:rPr lang="en-US" sz="1400" b="1" dirty="0">
                <a:solidFill>
                  <a:schemeClr val="accent2"/>
                </a:solidFill>
                <a:latin typeface="+mn-lt"/>
                <a:sym typeface="Symbol" pitchFamily="18" charset="2"/>
              </a:rPr>
              <a:t>	</a:t>
            </a:r>
            <a:r>
              <a:rPr lang="ru-RU" sz="1400" b="1" dirty="0">
                <a:solidFill>
                  <a:schemeClr val="accent2"/>
                </a:solidFill>
                <a:latin typeface="+mn-lt"/>
                <a:sym typeface="Symbol" pitchFamily="18" charset="2"/>
              </a:rPr>
              <a:t>3</a:t>
            </a:r>
            <a:r>
              <a:rPr lang="en-US" sz="1400" b="1" dirty="0">
                <a:solidFill>
                  <a:srgbClr val="3333FF"/>
                </a:solidFill>
                <a:latin typeface="+mn-lt"/>
                <a:sym typeface="Symbol" pitchFamily="18" charset="2"/>
              </a:rPr>
              <a:t>	</a:t>
            </a:r>
            <a:r>
              <a:rPr lang="ru-RU" sz="1400" b="1" dirty="0">
                <a:solidFill>
                  <a:schemeClr val="accent4"/>
                </a:solidFill>
                <a:latin typeface="+mn-lt"/>
                <a:sym typeface="Symbol" pitchFamily="18" charset="2"/>
              </a:rPr>
              <a:t>2</a:t>
            </a:r>
            <a:r>
              <a:rPr lang="en-US" sz="1400" b="1" dirty="0">
                <a:solidFill>
                  <a:schemeClr val="accent4"/>
                </a:solidFill>
                <a:latin typeface="+mn-lt"/>
                <a:sym typeface="Symbol" pitchFamily="18" charset="2"/>
              </a:rPr>
              <a:t>	</a:t>
            </a:r>
            <a:r>
              <a:rPr lang="ru-RU" sz="1400" b="1" dirty="0">
                <a:solidFill>
                  <a:schemeClr val="accent4"/>
                </a:solidFill>
                <a:latin typeface="+mn-lt"/>
                <a:sym typeface="Symbol" pitchFamily="18" charset="2"/>
              </a:rPr>
              <a:t>4</a:t>
            </a:r>
            <a:br>
              <a:rPr lang="en-US" sz="1400" b="1" dirty="0">
                <a:solidFill>
                  <a:srgbClr val="33CC33"/>
                </a:solidFill>
                <a:latin typeface="+mn-lt"/>
                <a:sym typeface="Symbol" pitchFamily="18" charset="2"/>
              </a:rPr>
            </a:br>
            <a:r>
              <a:rPr lang="en-US" sz="1400" dirty="0">
                <a:latin typeface="+mn-lt"/>
                <a:sym typeface="Symbol" pitchFamily="18" charset="2"/>
              </a:rPr>
              <a:t>				</a:t>
            </a:r>
            <a:r>
              <a:rPr lang="ru-RU" sz="1400" b="1" dirty="0">
                <a:solidFill>
                  <a:schemeClr val="accent6"/>
                </a:solidFill>
                <a:latin typeface="+mn-lt"/>
                <a:sym typeface="Symbol" pitchFamily="18" charset="2"/>
              </a:rPr>
              <a:t>3</a:t>
            </a:r>
            <a:r>
              <a:rPr lang="en-US" sz="1400" b="1" dirty="0">
                <a:solidFill>
                  <a:schemeClr val="accent6"/>
                </a:solidFill>
                <a:latin typeface="+mn-lt"/>
                <a:sym typeface="Symbol" pitchFamily="18" charset="2"/>
              </a:rPr>
              <a:t>	</a:t>
            </a:r>
            <a:r>
              <a:rPr lang="ru-RU" sz="1400" b="1" dirty="0">
                <a:solidFill>
                  <a:schemeClr val="accent6"/>
                </a:solidFill>
                <a:latin typeface="+mn-lt"/>
                <a:sym typeface="Symbol" pitchFamily="18" charset="2"/>
              </a:rPr>
              <a:t>7</a:t>
            </a:r>
            <a:r>
              <a:rPr lang="en-US" sz="1400" b="1" dirty="0">
                <a:latin typeface="+mn-lt"/>
                <a:sym typeface="Symbol" pitchFamily="18" charset="2"/>
              </a:rPr>
              <a:t>	</a:t>
            </a:r>
            <a:r>
              <a:rPr lang="ru-RU" sz="1400" b="1" dirty="0">
                <a:solidFill>
                  <a:schemeClr val="accent1"/>
                </a:solidFill>
                <a:latin typeface="+mn-lt"/>
                <a:sym typeface="Symbol" pitchFamily="18" charset="2"/>
              </a:rPr>
              <a:t>1</a:t>
            </a:r>
            <a:r>
              <a:rPr lang="en-US" sz="1400" b="1" dirty="0">
                <a:solidFill>
                  <a:schemeClr val="accent1"/>
                </a:solidFill>
                <a:latin typeface="+mn-lt"/>
                <a:sym typeface="Symbol" pitchFamily="18" charset="2"/>
              </a:rPr>
              <a:t>	</a:t>
            </a:r>
            <a:r>
              <a:rPr lang="ru-RU" sz="1400" b="1" dirty="0">
                <a:solidFill>
                  <a:schemeClr val="accent1"/>
                </a:solidFill>
                <a:latin typeface="+mn-lt"/>
                <a:sym typeface="Symbol" pitchFamily="18" charset="2"/>
              </a:rPr>
              <a:t>3</a:t>
            </a:r>
            <a:r>
              <a:rPr lang="en-US" sz="1400" b="1" dirty="0">
                <a:solidFill>
                  <a:schemeClr val="accent1"/>
                </a:solidFill>
                <a:latin typeface="+mn-lt"/>
                <a:sym typeface="Symbol" pitchFamily="18" charset="2"/>
              </a:rPr>
              <a:t>	</a:t>
            </a:r>
            <a:r>
              <a:rPr lang="ru-RU" sz="1400" b="1" dirty="0">
                <a:solidFill>
                  <a:schemeClr val="accent1"/>
                </a:solidFill>
                <a:latin typeface="+mn-lt"/>
                <a:sym typeface="Symbol" pitchFamily="18" charset="2"/>
              </a:rPr>
              <a:t>5</a:t>
            </a:r>
            <a:r>
              <a:rPr lang="en-US" sz="1400" b="1" dirty="0">
                <a:solidFill>
                  <a:srgbClr val="3333FF"/>
                </a:solidFill>
                <a:latin typeface="+mn-lt"/>
                <a:sym typeface="Symbol" pitchFamily="18" charset="2"/>
              </a:rPr>
              <a:t>	</a:t>
            </a:r>
            <a:r>
              <a:rPr lang="ru-RU" sz="1400" b="1" dirty="0">
                <a:solidFill>
                  <a:schemeClr val="accent5"/>
                </a:solidFill>
                <a:latin typeface="+mn-lt"/>
                <a:sym typeface="Symbol" pitchFamily="18" charset="2"/>
              </a:rPr>
              <a:t>6</a:t>
            </a:r>
            <a:r>
              <a:rPr lang="en-US" sz="1400" b="1" dirty="0">
                <a:solidFill>
                  <a:schemeClr val="accent5"/>
                </a:solidFill>
                <a:latin typeface="+mn-lt"/>
                <a:sym typeface="Symbol" pitchFamily="18" charset="2"/>
              </a:rPr>
              <a:t>	</a:t>
            </a:r>
            <a:r>
              <a:rPr lang="ru-RU" sz="1400" b="1" dirty="0">
                <a:solidFill>
                  <a:schemeClr val="accent5"/>
                </a:solidFill>
                <a:latin typeface="+mn-lt"/>
                <a:sym typeface="Symbol" pitchFamily="18" charset="2"/>
              </a:rPr>
              <a:t>8</a:t>
            </a:r>
            <a:br>
              <a:rPr lang="en-US" sz="1400" b="1" dirty="0">
                <a:solidFill>
                  <a:srgbClr val="FFC000"/>
                </a:solidFill>
                <a:latin typeface="+mn-lt"/>
                <a:sym typeface="Symbol" pitchFamily="18" charset="2"/>
              </a:rPr>
            </a:br>
            <a:r>
              <a:rPr lang="en-US" sz="1400" dirty="0">
                <a:latin typeface="+mn-lt"/>
                <a:sym typeface="Symbol" pitchFamily="18" charset="2"/>
              </a:rPr>
              <a:t>						</a:t>
            </a:r>
            <a:r>
              <a:rPr lang="ru-RU" sz="1400" b="1" dirty="0">
                <a:solidFill>
                  <a:schemeClr val="accent2"/>
                </a:solidFill>
                <a:latin typeface="+mn-lt"/>
                <a:sym typeface="Symbol" pitchFamily="18" charset="2"/>
              </a:rPr>
              <a:t>7</a:t>
            </a:r>
            <a:r>
              <a:rPr lang="en-US" sz="1400" b="1" dirty="0">
                <a:solidFill>
                  <a:schemeClr val="accent2"/>
                </a:solidFill>
                <a:latin typeface="+mn-lt"/>
                <a:sym typeface="Symbol" pitchFamily="18" charset="2"/>
              </a:rPr>
              <a:t>	</a:t>
            </a:r>
            <a:r>
              <a:rPr lang="ru-RU" sz="1400" b="1" dirty="0">
                <a:solidFill>
                  <a:schemeClr val="accent2"/>
                </a:solidFill>
                <a:latin typeface="+mn-lt"/>
                <a:sym typeface="Symbol" pitchFamily="18" charset="2"/>
              </a:rPr>
              <a:t>9</a:t>
            </a:r>
            <a:r>
              <a:rPr lang="en-US" sz="1400" b="1" dirty="0">
                <a:solidFill>
                  <a:schemeClr val="accent2"/>
                </a:solidFill>
                <a:latin typeface="+mn-lt"/>
                <a:sym typeface="Symbol" pitchFamily="18" charset="2"/>
              </a:rPr>
              <a:t>	</a:t>
            </a:r>
            <a:r>
              <a:rPr lang="ru-RU" sz="1400" b="1" dirty="0">
                <a:solidFill>
                  <a:schemeClr val="accent2"/>
                </a:solidFill>
                <a:latin typeface="+mn-lt"/>
                <a:sym typeface="Symbol" pitchFamily="18" charset="2"/>
              </a:rPr>
              <a:t>3</a:t>
            </a:r>
            <a:r>
              <a:rPr lang="en-US" sz="1400" b="1" dirty="0">
                <a:solidFill>
                  <a:srgbClr val="3333FF"/>
                </a:solidFill>
                <a:latin typeface="+mn-lt"/>
                <a:sym typeface="Symbol" pitchFamily="18" charset="2"/>
              </a:rPr>
              <a:t>	</a:t>
            </a:r>
            <a:r>
              <a:rPr lang="ru-RU" sz="1400" b="1" dirty="0">
                <a:solidFill>
                  <a:schemeClr val="accent5"/>
                </a:solidFill>
                <a:latin typeface="+mn-lt"/>
                <a:sym typeface="Symbol" pitchFamily="18" charset="2"/>
              </a:rPr>
              <a:t>6</a:t>
            </a:r>
            <a:r>
              <a:rPr lang="en-US" sz="1400" b="1" dirty="0">
                <a:solidFill>
                  <a:schemeClr val="accent5"/>
                </a:solidFill>
                <a:latin typeface="+mn-lt"/>
                <a:sym typeface="Symbol" pitchFamily="18" charset="2"/>
              </a:rPr>
              <a:t>	</a:t>
            </a:r>
            <a:r>
              <a:rPr lang="ru-RU" sz="1400" b="1" dirty="0">
                <a:solidFill>
                  <a:schemeClr val="accent5"/>
                </a:solidFill>
                <a:latin typeface="+mn-lt"/>
                <a:sym typeface="Symbol" pitchFamily="18" charset="2"/>
              </a:rPr>
              <a:t>8</a:t>
            </a:r>
            <a:br>
              <a:rPr lang="en-US" sz="1400" b="1" dirty="0">
                <a:solidFill>
                  <a:srgbClr val="FFC000"/>
                </a:solidFill>
                <a:latin typeface="+mn-lt"/>
                <a:sym typeface="Symbol" pitchFamily="18" charset="2"/>
              </a:rPr>
            </a:br>
            <a:r>
              <a:rPr lang="en-US" sz="1400" b="1" dirty="0">
                <a:solidFill>
                  <a:srgbClr val="FFC000"/>
                </a:solidFill>
                <a:latin typeface="+mn-lt"/>
                <a:sym typeface="Symbol" pitchFamily="18" charset="2"/>
              </a:rPr>
              <a:t>		</a:t>
            </a:r>
            <a:r>
              <a:rPr lang="en-US" sz="1400" dirty="0">
                <a:latin typeface="+mn-lt"/>
                <a:sym typeface="Symbol" pitchFamily="18" charset="2"/>
              </a:rPr>
              <a:t>				</a:t>
            </a:r>
            <a:r>
              <a:rPr lang="ru-RU" sz="1400" b="1" dirty="0">
                <a:solidFill>
                  <a:schemeClr val="accent1"/>
                </a:solidFill>
                <a:latin typeface="+mn-lt"/>
                <a:sym typeface="Symbol" pitchFamily="18" charset="2"/>
              </a:rPr>
              <a:t>1</a:t>
            </a:r>
            <a:r>
              <a:rPr lang="en-US" sz="1400" b="1" dirty="0">
                <a:solidFill>
                  <a:schemeClr val="accent1"/>
                </a:solidFill>
                <a:latin typeface="+mn-lt"/>
                <a:sym typeface="Symbol" pitchFamily="18" charset="2"/>
              </a:rPr>
              <a:t>	</a:t>
            </a:r>
            <a:r>
              <a:rPr lang="ru-RU" sz="1400" b="1" dirty="0">
                <a:solidFill>
                  <a:schemeClr val="accent1"/>
                </a:solidFill>
                <a:latin typeface="+mn-lt"/>
                <a:sym typeface="Symbol" pitchFamily="18" charset="2"/>
              </a:rPr>
              <a:t>3</a:t>
            </a:r>
            <a:r>
              <a:rPr lang="en-US" sz="1400" b="1" dirty="0">
                <a:solidFill>
                  <a:schemeClr val="accent1"/>
                </a:solidFill>
                <a:latin typeface="+mn-lt"/>
                <a:sym typeface="Symbol" pitchFamily="18" charset="2"/>
              </a:rPr>
              <a:t>	</a:t>
            </a:r>
            <a:r>
              <a:rPr lang="ru-RU" sz="1400" b="1" dirty="0">
                <a:solidFill>
                  <a:schemeClr val="accent1"/>
                </a:solidFill>
                <a:latin typeface="+mn-lt"/>
                <a:sym typeface="Symbol" pitchFamily="18" charset="2"/>
              </a:rPr>
              <a:t>5</a:t>
            </a:r>
            <a:r>
              <a:rPr lang="en-US" sz="1400" b="1" dirty="0">
                <a:solidFill>
                  <a:srgbClr val="3333FF"/>
                </a:solidFill>
                <a:latin typeface="+mn-lt"/>
                <a:sym typeface="Symbol" pitchFamily="18" charset="2"/>
              </a:rPr>
              <a:t>	</a:t>
            </a:r>
            <a:r>
              <a:rPr lang="ru-RU" sz="1400" b="1" dirty="0">
                <a:solidFill>
                  <a:schemeClr val="accent6"/>
                </a:solidFill>
                <a:latin typeface="+mn-lt"/>
                <a:sym typeface="Symbol" pitchFamily="18" charset="2"/>
              </a:rPr>
              <a:t>3</a:t>
            </a:r>
            <a:r>
              <a:rPr lang="en-US" sz="1400" b="1" dirty="0">
                <a:solidFill>
                  <a:schemeClr val="accent6"/>
                </a:solidFill>
                <a:latin typeface="+mn-lt"/>
                <a:sym typeface="Symbol" pitchFamily="18" charset="2"/>
              </a:rPr>
              <a:t>	</a:t>
            </a:r>
            <a:r>
              <a:rPr lang="ru-RU" sz="1400" b="1" dirty="0">
                <a:solidFill>
                  <a:schemeClr val="accent6"/>
                </a:solidFill>
                <a:latin typeface="+mn-lt"/>
                <a:sym typeface="Symbol" pitchFamily="18" charset="2"/>
              </a:rPr>
              <a:t>7</a:t>
            </a:r>
            <a:r>
              <a:rPr lang="en-US" sz="1400" dirty="0">
                <a:solidFill>
                  <a:schemeClr val="accent6"/>
                </a:solidFill>
                <a:latin typeface="+mn-lt"/>
                <a:sym typeface="Symbol" pitchFamily="18" charset="2"/>
              </a:rPr>
              <a:t>	</a:t>
            </a:r>
            <a:r>
              <a:rPr lang="en-US" sz="1400" dirty="0">
                <a:latin typeface="+mn-lt"/>
                <a:sym typeface="Symbol" pitchFamily="18" charset="2"/>
              </a:rPr>
              <a:t>							</a:t>
            </a:r>
            <a:r>
              <a:rPr lang="ru-RU" sz="1400" b="1" dirty="0">
                <a:solidFill>
                  <a:schemeClr val="accent2"/>
                </a:solidFill>
                <a:latin typeface="+mn-lt"/>
                <a:sym typeface="Symbol" pitchFamily="18" charset="2"/>
              </a:rPr>
              <a:t>7</a:t>
            </a:r>
            <a:r>
              <a:rPr lang="en-US" sz="1400" b="1" dirty="0">
                <a:solidFill>
                  <a:schemeClr val="accent2"/>
                </a:solidFill>
                <a:latin typeface="+mn-lt"/>
                <a:sym typeface="Symbol" pitchFamily="18" charset="2"/>
              </a:rPr>
              <a:t>	</a:t>
            </a:r>
            <a:r>
              <a:rPr lang="ru-RU" sz="1400" b="1" dirty="0">
                <a:solidFill>
                  <a:schemeClr val="accent2"/>
                </a:solidFill>
                <a:latin typeface="+mn-lt"/>
                <a:sym typeface="Symbol" pitchFamily="18" charset="2"/>
              </a:rPr>
              <a:t>9</a:t>
            </a:r>
            <a:r>
              <a:rPr lang="en-US" sz="1400" b="1" dirty="0">
                <a:solidFill>
                  <a:schemeClr val="accent2"/>
                </a:solidFill>
                <a:latin typeface="+mn-lt"/>
                <a:sym typeface="Symbol" pitchFamily="18" charset="2"/>
              </a:rPr>
              <a:t>	</a:t>
            </a:r>
            <a:r>
              <a:rPr lang="ru-RU" sz="1400" b="1" dirty="0">
                <a:solidFill>
                  <a:schemeClr val="accent2"/>
                </a:solidFill>
                <a:latin typeface="+mn-lt"/>
                <a:sym typeface="Symbol" pitchFamily="18" charset="2"/>
              </a:rPr>
              <a:t>3</a:t>
            </a:r>
            <a:r>
              <a:rPr lang="en-US" sz="1400" dirty="0">
                <a:latin typeface="+mn-lt"/>
                <a:sym typeface="Symbol" pitchFamily="18" charset="2"/>
              </a:rPr>
              <a:t>	</a:t>
            </a:r>
            <a:r>
              <a:rPr lang="ru-RU" sz="1400" b="1" dirty="0">
                <a:solidFill>
                  <a:schemeClr val="accent6"/>
                </a:solidFill>
                <a:latin typeface="+mn-lt"/>
                <a:sym typeface="Symbol" pitchFamily="18" charset="2"/>
              </a:rPr>
              <a:t>3</a:t>
            </a:r>
            <a:r>
              <a:rPr lang="en-US" sz="1400" b="1" dirty="0">
                <a:solidFill>
                  <a:schemeClr val="accent6"/>
                </a:solidFill>
                <a:latin typeface="+mn-lt"/>
                <a:sym typeface="Symbol" pitchFamily="18" charset="2"/>
              </a:rPr>
              <a:t>	</a:t>
            </a:r>
            <a:r>
              <a:rPr lang="ru-RU" sz="1400" b="1" dirty="0">
                <a:solidFill>
                  <a:schemeClr val="accent6"/>
                </a:solidFill>
                <a:latin typeface="+mn-lt"/>
                <a:sym typeface="Symbol" pitchFamily="18" charset="2"/>
              </a:rPr>
              <a:t>7</a:t>
            </a:r>
            <a:endParaRPr lang="en-US" sz="1400" dirty="0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761AE1-3D91-7FA1-C851-C3412964AF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1813"/>
            <a:ext cx="3933130" cy="2570162"/>
          </a:xfrm>
        </p:spPr>
        <p:txBody>
          <a:bodyPr>
            <a:normAutofit/>
          </a:bodyPr>
          <a:lstStyle/>
          <a:p>
            <a:pPr marL="0" indent="0">
              <a:buNone/>
              <a:tabLst>
                <a:tab pos="266700" algn="l"/>
                <a:tab pos="715963" algn="l"/>
                <a:tab pos="2065338" algn="l"/>
                <a:tab pos="2598738" algn="l"/>
              </a:tabLst>
            </a:pPr>
            <a:r>
              <a:rPr lang="en-US" sz="1400" b="1" dirty="0">
                <a:solidFill>
                  <a:schemeClr val="accent1"/>
                </a:solidFill>
                <a:latin typeface="+mn-lt"/>
                <a:sym typeface="Symbol" pitchFamily="18" charset="2"/>
              </a:rPr>
              <a:t>R</a:t>
            </a:r>
            <a:r>
              <a:rPr lang="en-US" sz="1400" dirty="0">
                <a:latin typeface="+mn-lt"/>
                <a:sym typeface="Symbol" pitchFamily="18" charset="2"/>
              </a:rPr>
              <a:t>(	</a:t>
            </a:r>
            <a:r>
              <a:rPr lang="ru-RU" sz="1400" dirty="0">
                <a:latin typeface="+mn-lt"/>
                <a:sym typeface="Symbol" pitchFamily="18" charset="2"/>
              </a:rPr>
              <a:t>А:</a:t>
            </a:r>
            <a:r>
              <a:rPr lang="en-US" sz="1400" dirty="0">
                <a:latin typeface="+mn-lt"/>
                <a:sym typeface="Symbol" pitchFamily="18" charset="2"/>
              </a:rPr>
              <a:t>int</a:t>
            </a:r>
            <a:r>
              <a:rPr lang="ru-RU" sz="1400" dirty="0">
                <a:latin typeface="+mn-lt"/>
                <a:sym typeface="Symbol" pitchFamily="18" charset="2"/>
              </a:rPr>
              <a:t>,</a:t>
            </a:r>
            <a:r>
              <a:rPr lang="en-US" sz="1400" dirty="0">
                <a:latin typeface="+mn-lt"/>
                <a:sym typeface="Symbol" pitchFamily="18" charset="2"/>
              </a:rPr>
              <a:t>	</a:t>
            </a:r>
            <a:r>
              <a:rPr lang="ru-RU" sz="1400" dirty="0">
                <a:latin typeface="+mn-lt"/>
                <a:sym typeface="Symbol" pitchFamily="18" charset="2"/>
              </a:rPr>
              <a:t>В:</a:t>
            </a:r>
            <a:r>
              <a:rPr lang="en-US" sz="1400" dirty="0">
                <a:latin typeface="+mn-lt"/>
                <a:sym typeface="Symbol" pitchFamily="18" charset="2"/>
              </a:rPr>
              <a:t>char</a:t>
            </a:r>
            <a:r>
              <a:rPr lang="ru-RU" sz="1400" dirty="0">
                <a:latin typeface="+mn-lt"/>
                <a:sym typeface="Symbol" pitchFamily="18" charset="2"/>
              </a:rPr>
              <a:t>(10) ∪</a:t>
            </a:r>
            <a:r>
              <a:rPr lang="en-US" sz="1400" dirty="0">
                <a:latin typeface="+mn-lt"/>
                <a:sym typeface="Symbol" pitchFamily="18" charset="2"/>
              </a:rPr>
              <a:t> </a:t>
            </a:r>
            <a:r>
              <a:rPr lang="en-US" sz="1400" b="1" dirty="0">
                <a:solidFill>
                  <a:schemeClr val="accent2"/>
                </a:solidFill>
                <a:latin typeface="+mn-lt"/>
                <a:sym typeface="Symbol" pitchFamily="18" charset="2"/>
              </a:rPr>
              <a:t>S</a:t>
            </a:r>
            <a:r>
              <a:rPr lang="en-US" sz="1400" dirty="0">
                <a:latin typeface="+mn-lt"/>
                <a:sym typeface="Symbol" pitchFamily="18" charset="2"/>
              </a:rPr>
              <a:t>(</a:t>
            </a:r>
            <a:r>
              <a:rPr lang="ru-RU" sz="1400" dirty="0">
                <a:latin typeface="+mn-lt"/>
                <a:sym typeface="Symbol" pitchFamily="18" charset="2"/>
              </a:rPr>
              <a:t>А:</a:t>
            </a:r>
            <a:r>
              <a:rPr lang="en-US" sz="1400" dirty="0">
                <a:latin typeface="+mn-lt"/>
                <a:sym typeface="Symbol" pitchFamily="18" charset="2"/>
              </a:rPr>
              <a:t>int</a:t>
            </a:r>
            <a:r>
              <a:rPr lang="ru-RU" sz="1400" dirty="0">
                <a:latin typeface="+mn-lt"/>
                <a:sym typeface="Symbol" pitchFamily="18" charset="2"/>
              </a:rPr>
              <a:t>,</a:t>
            </a:r>
            <a:r>
              <a:rPr lang="en-US" sz="1400" dirty="0">
                <a:latin typeface="+mn-lt"/>
                <a:sym typeface="Symbol" pitchFamily="18" charset="2"/>
              </a:rPr>
              <a:t>	</a:t>
            </a:r>
            <a:r>
              <a:rPr lang="ru-RU" sz="1400" dirty="0">
                <a:latin typeface="+mn-lt"/>
                <a:sym typeface="Symbol" pitchFamily="18" charset="2"/>
              </a:rPr>
              <a:t>В:</a:t>
            </a:r>
            <a:r>
              <a:rPr lang="en-US" sz="1400" dirty="0">
                <a:latin typeface="+mn-lt"/>
                <a:sym typeface="Symbol" pitchFamily="18" charset="2"/>
              </a:rPr>
              <a:t>char</a:t>
            </a:r>
            <a:r>
              <a:rPr lang="ru-RU" sz="1400" dirty="0">
                <a:latin typeface="+mn-lt"/>
                <a:sym typeface="Symbol" pitchFamily="18" charset="2"/>
              </a:rPr>
              <a:t>(10)</a:t>
            </a:r>
            <a:r>
              <a:rPr lang="en-US" sz="1400" dirty="0">
                <a:latin typeface="+mn-lt"/>
                <a:sym typeface="Symbol" pitchFamily="18" charset="2"/>
              </a:rPr>
              <a:t>) =</a:t>
            </a:r>
            <a:br>
              <a:rPr lang="en-US" sz="1400" dirty="0">
                <a:latin typeface="+mn-lt"/>
                <a:sym typeface="Symbol" pitchFamily="18" charset="2"/>
              </a:rPr>
            </a:br>
            <a:r>
              <a:rPr lang="en-US" sz="1400" dirty="0">
                <a:latin typeface="+mn-lt"/>
                <a:sym typeface="Symbol" pitchFamily="18" charset="2"/>
              </a:rPr>
              <a:t>	</a:t>
            </a:r>
            <a:r>
              <a:rPr lang="ru-RU" sz="1400" dirty="0">
                <a:solidFill>
                  <a:schemeClr val="accent1"/>
                </a:solidFill>
                <a:latin typeface="+mn-lt"/>
                <a:sym typeface="Symbol" pitchFamily="18" charset="2"/>
              </a:rPr>
              <a:t>6,</a:t>
            </a:r>
            <a:r>
              <a:rPr lang="en-US" sz="1400" dirty="0">
                <a:solidFill>
                  <a:schemeClr val="accent1"/>
                </a:solidFill>
                <a:latin typeface="+mn-lt"/>
                <a:sym typeface="Symbol" pitchFamily="18" charset="2"/>
              </a:rPr>
              <a:t>	</a:t>
            </a:r>
            <a:r>
              <a:rPr lang="ru-RU" sz="1400" dirty="0">
                <a:solidFill>
                  <a:schemeClr val="accent1"/>
                </a:solidFill>
                <a:latin typeface="+mn-lt"/>
                <a:sym typeface="Symbol" pitchFamily="18" charset="2"/>
              </a:rPr>
              <a:t>Петров</a:t>
            </a:r>
            <a:r>
              <a:rPr lang="en-US" sz="1400" dirty="0">
                <a:latin typeface="+mn-lt"/>
                <a:sym typeface="Symbol" pitchFamily="18" charset="2"/>
              </a:rPr>
              <a:t>	</a:t>
            </a:r>
            <a:r>
              <a:rPr lang="ru-RU" sz="1400" dirty="0">
                <a:solidFill>
                  <a:schemeClr val="accent2"/>
                </a:solidFill>
                <a:latin typeface="+mn-lt"/>
                <a:sym typeface="Symbol" pitchFamily="18" charset="2"/>
              </a:rPr>
              <a:t>7,</a:t>
            </a:r>
            <a:r>
              <a:rPr lang="en-US" sz="1400" dirty="0">
                <a:solidFill>
                  <a:schemeClr val="accent2"/>
                </a:solidFill>
                <a:latin typeface="+mn-lt"/>
                <a:sym typeface="Symbol" pitchFamily="18" charset="2"/>
              </a:rPr>
              <a:t>	</a:t>
            </a:r>
            <a:r>
              <a:rPr lang="ru-RU" sz="1400" dirty="0">
                <a:solidFill>
                  <a:schemeClr val="accent2"/>
                </a:solidFill>
                <a:latin typeface="+mn-lt"/>
                <a:sym typeface="Symbol" pitchFamily="18" charset="2"/>
              </a:rPr>
              <a:t>Голубев</a:t>
            </a:r>
            <a:br>
              <a:rPr lang="en-US" sz="1400" dirty="0">
                <a:latin typeface="+mn-lt"/>
                <a:sym typeface="Symbol" pitchFamily="18" charset="2"/>
              </a:rPr>
            </a:br>
            <a:r>
              <a:rPr lang="en-US" sz="1400" dirty="0">
                <a:latin typeface="+mn-lt"/>
                <a:sym typeface="Symbol" pitchFamily="18" charset="2"/>
              </a:rPr>
              <a:t>	</a:t>
            </a:r>
            <a:r>
              <a:rPr lang="ru-RU" sz="1400" dirty="0">
                <a:solidFill>
                  <a:schemeClr val="accent1"/>
                </a:solidFill>
                <a:latin typeface="+mn-lt"/>
                <a:sym typeface="Symbol" pitchFamily="18" charset="2"/>
              </a:rPr>
              <a:t>7,</a:t>
            </a:r>
            <a:r>
              <a:rPr lang="en-US" sz="1400" dirty="0">
                <a:solidFill>
                  <a:schemeClr val="accent1"/>
                </a:solidFill>
                <a:latin typeface="+mn-lt"/>
                <a:sym typeface="Symbol" pitchFamily="18" charset="2"/>
              </a:rPr>
              <a:t>	</a:t>
            </a:r>
            <a:r>
              <a:rPr lang="ru-RU" sz="1400" dirty="0">
                <a:solidFill>
                  <a:schemeClr val="accent1"/>
                </a:solidFill>
                <a:latin typeface="+mn-lt"/>
                <a:sym typeface="Symbol" pitchFamily="18" charset="2"/>
              </a:rPr>
              <a:t>Голубев</a:t>
            </a:r>
            <a:r>
              <a:rPr lang="en-US" sz="1400" dirty="0">
                <a:latin typeface="+mn-lt"/>
                <a:sym typeface="Symbol" pitchFamily="18" charset="2"/>
              </a:rPr>
              <a:t>	</a:t>
            </a:r>
            <a:r>
              <a:rPr lang="ru-RU" sz="1400" dirty="0">
                <a:solidFill>
                  <a:schemeClr val="accent2"/>
                </a:solidFill>
                <a:latin typeface="+mn-lt"/>
                <a:sym typeface="Symbol" pitchFamily="18" charset="2"/>
              </a:rPr>
              <a:t>9,</a:t>
            </a:r>
            <a:r>
              <a:rPr lang="en-US" sz="1400" dirty="0">
                <a:solidFill>
                  <a:schemeClr val="accent2"/>
                </a:solidFill>
                <a:latin typeface="+mn-lt"/>
                <a:sym typeface="Symbol" pitchFamily="18" charset="2"/>
              </a:rPr>
              <a:t>	</a:t>
            </a:r>
            <a:r>
              <a:rPr lang="ru-RU" sz="1400" dirty="0">
                <a:solidFill>
                  <a:schemeClr val="accent2"/>
                </a:solidFill>
                <a:latin typeface="+mn-lt"/>
                <a:sym typeface="Symbol" pitchFamily="18" charset="2"/>
              </a:rPr>
              <a:t>Соколов</a:t>
            </a:r>
            <a:endParaRPr lang="en-US" sz="1400" dirty="0">
              <a:solidFill>
                <a:schemeClr val="accent2"/>
              </a:solidFill>
              <a:latin typeface="+mn-lt"/>
              <a:sym typeface="Symbol" pitchFamily="18" charset="2"/>
            </a:endParaRPr>
          </a:p>
          <a:p>
            <a:pPr marL="0" indent="0">
              <a:buNone/>
              <a:tabLst>
                <a:tab pos="266700" algn="l"/>
                <a:tab pos="715963" algn="l"/>
                <a:tab pos="2065338" algn="l"/>
                <a:tab pos="2598738" algn="l"/>
              </a:tabLst>
            </a:pP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  <a:latin typeface="+mn-lt"/>
                <a:sym typeface="Symbol" pitchFamily="18" charset="2"/>
              </a:rPr>
              <a:t>T</a:t>
            </a:r>
            <a:r>
              <a:rPr lang="en-US" sz="1400" dirty="0">
                <a:latin typeface="+mn-lt"/>
                <a:sym typeface="Symbol" pitchFamily="18" charset="2"/>
              </a:rPr>
              <a:t>(	</a:t>
            </a:r>
            <a:r>
              <a:rPr lang="ru-RU" sz="1400" dirty="0">
                <a:latin typeface="+mn-lt"/>
                <a:sym typeface="Symbol" pitchFamily="18" charset="2"/>
              </a:rPr>
              <a:t>А:</a:t>
            </a:r>
            <a:r>
              <a:rPr lang="en-US" sz="1400" dirty="0">
                <a:latin typeface="+mn-lt"/>
                <a:sym typeface="Symbol" pitchFamily="18" charset="2"/>
              </a:rPr>
              <a:t>int</a:t>
            </a:r>
            <a:r>
              <a:rPr lang="ru-RU" sz="1400" dirty="0">
                <a:latin typeface="+mn-lt"/>
                <a:sym typeface="Symbol" pitchFamily="18" charset="2"/>
              </a:rPr>
              <a:t>,</a:t>
            </a:r>
            <a:r>
              <a:rPr lang="en-US" sz="1400" dirty="0">
                <a:latin typeface="+mn-lt"/>
                <a:sym typeface="Symbol" pitchFamily="18" charset="2"/>
              </a:rPr>
              <a:t>	</a:t>
            </a:r>
            <a:r>
              <a:rPr lang="ru-RU" sz="1400" dirty="0">
                <a:latin typeface="+mn-lt"/>
                <a:sym typeface="Symbol" pitchFamily="18" charset="2"/>
              </a:rPr>
              <a:t>В:</a:t>
            </a:r>
            <a:r>
              <a:rPr lang="en-US" sz="1400" dirty="0">
                <a:latin typeface="+mn-lt"/>
                <a:sym typeface="Symbol" pitchFamily="18" charset="2"/>
              </a:rPr>
              <a:t>char</a:t>
            </a:r>
            <a:r>
              <a:rPr lang="ru-RU" sz="1400" dirty="0">
                <a:latin typeface="+mn-lt"/>
                <a:sym typeface="Symbol" pitchFamily="18" charset="2"/>
              </a:rPr>
              <a:t>(10)</a:t>
            </a:r>
            <a:br>
              <a:rPr lang="en-US" sz="1400" dirty="0">
                <a:solidFill>
                  <a:schemeClr val="accent2"/>
                </a:solidFill>
                <a:latin typeface="+mn-lt"/>
                <a:sym typeface="Symbol" pitchFamily="18" charset="2"/>
              </a:rPr>
            </a:b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+mn-lt"/>
                <a:sym typeface="Symbol" pitchFamily="18" charset="2"/>
              </a:rPr>
              <a:t>	</a:t>
            </a:r>
            <a:r>
              <a:rPr lang="ru-RU" sz="1400" dirty="0">
                <a:solidFill>
                  <a:schemeClr val="accent6">
                    <a:lumMod val="75000"/>
                  </a:schemeClr>
                </a:solidFill>
                <a:latin typeface="+mn-lt"/>
                <a:sym typeface="Symbol" pitchFamily="18" charset="2"/>
              </a:rPr>
              <a:t>6,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+mn-lt"/>
                <a:sym typeface="Symbol" pitchFamily="18" charset="2"/>
              </a:rPr>
              <a:t>	</a:t>
            </a:r>
            <a:r>
              <a:rPr lang="ru-RU" sz="1400" dirty="0">
                <a:solidFill>
                  <a:schemeClr val="accent6">
                    <a:lumMod val="75000"/>
                  </a:schemeClr>
                </a:solidFill>
                <a:latin typeface="+mn-lt"/>
                <a:sym typeface="Symbol" pitchFamily="18" charset="2"/>
              </a:rPr>
              <a:t>Петров</a:t>
            </a:r>
            <a:br>
              <a:rPr lang="en-US" sz="1400" dirty="0">
                <a:solidFill>
                  <a:schemeClr val="accent6">
                    <a:lumMod val="75000"/>
                  </a:schemeClr>
                </a:solidFill>
                <a:latin typeface="+mn-lt"/>
                <a:sym typeface="Symbol" pitchFamily="18" charset="2"/>
              </a:rPr>
            </a:b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+mn-lt"/>
                <a:sym typeface="Symbol" pitchFamily="18" charset="2"/>
              </a:rPr>
              <a:t>	</a:t>
            </a:r>
            <a:r>
              <a:rPr lang="ru-RU" sz="1400" dirty="0">
                <a:solidFill>
                  <a:schemeClr val="accent6">
                    <a:lumMod val="75000"/>
                  </a:schemeClr>
                </a:solidFill>
                <a:latin typeface="+mn-lt"/>
                <a:sym typeface="Symbol" pitchFamily="18" charset="2"/>
              </a:rPr>
              <a:t>7,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+mn-lt"/>
                <a:sym typeface="Symbol" pitchFamily="18" charset="2"/>
              </a:rPr>
              <a:t>	</a:t>
            </a:r>
            <a:r>
              <a:rPr lang="ru-RU" sz="1400" dirty="0">
                <a:solidFill>
                  <a:schemeClr val="accent6">
                    <a:lumMod val="75000"/>
                  </a:schemeClr>
                </a:solidFill>
                <a:latin typeface="+mn-lt"/>
                <a:sym typeface="Symbol" pitchFamily="18" charset="2"/>
              </a:rPr>
              <a:t>Голубев</a:t>
            </a:r>
            <a:br>
              <a:rPr lang="en-US" sz="1400" dirty="0">
                <a:solidFill>
                  <a:schemeClr val="accent6">
                    <a:lumMod val="75000"/>
                  </a:schemeClr>
                </a:solidFill>
                <a:latin typeface="+mn-lt"/>
                <a:sym typeface="Symbol" pitchFamily="18" charset="2"/>
              </a:rPr>
            </a:b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+mn-lt"/>
                <a:sym typeface="Symbol" pitchFamily="18" charset="2"/>
              </a:rPr>
              <a:t>	</a:t>
            </a:r>
            <a:r>
              <a:rPr lang="ru-RU" sz="1400" dirty="0">
                <a:solidFill>
                  <a:schemeClr val="accent6">
                    <a:lumMod val="75000"/>
                  </a:schemeClr>
                </a:solidFill>
                <a:latin typeface="+mn-lt"/>
                <a:sym typeface="Symbol" pitchFamily="18" charset="2"/>
              </a:rPr>
              <a:t>9,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+mn-lt"/>
                <a:sym typeface="Symbol" pitchFamily="18" charset="2"/>
              </a:rPr>
              <a:t>	</a:t>
            </a:r>
            <a:r>
              <a:rPr lang="ru-RU" sz="1400" dirty="0">
                <a:solidFill>
                  <a:schemeClr val="accent6">
                    <a:lumMod val="75000"/>
                  </a:schemeClr>
                </a:solidFill>
                <a:latin typeface="+mn-lt"/>
                <a:sym typeface="Symbol" pitchFamily="18" charset="2"/>
              </a:rPr>
              <a:t>Соколов</a:t>
            </a:r>
            <a:endParaRPr lang="en-US" sz="1400" dirty="0">
              <a:solidFill>
                <a:schemeClr val="accent6">
                  <a:lumMod val="75000"/>
                </a:schemeClr>
              </a:solidFill>
              <a:latin typeface="+mn-lt"/>
              <a:sym typeface="Symbol" pitchFamily="18" charset="2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5EC7D8-4052-2E5F-762E-CE3EEA2D93F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cap="all" dirty="0"/>
              <a:t>объединение</a:t>
            </a:r>
            <a:endParaRPr lang="en-US" cap="all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BB190B5-5628-B828-B398-6A22292C3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Реляционная алгебра: примеры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47956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C03F07-E4F0-B541-6C9A-CFCF60C99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519269-2045-7EBE-53B0-F572809733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Объединение</a:t>
            </a:r>
          </a:p>
          <a:p>
            <a:r>
              <a:rPr lang="ru-RU" dirty="0"/>
              <a:t>Пересечение</a:t>
            </a:r>
          </a:p>
          <a:p>
            <a:r>
              <a:rPr lang="ru-RU" dirty="0"/>
              <a:t>Разность</a:t>
            </a:r>
          </a:p>
          <a:p>
            <a:r>
              <a:rPr lang="ru-RU" dirty="0"/>
              <a:t>Декартово произведение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4CE54CC-AE4D-72EB-81C1-B53C644BFA5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576461"/>
          </a:xfrm>
        </p:spPr>
        <p:txBody>
          <a:bodyPr>
            <a:normAutofit fontScale="92500" lnSpcReduction="10000"/>
          </a:bodyPr>
          <a:lstStyle/>
          <a:p>
            <a:r>
              <a:rPr lang="ru-RU" cap="all" dirty="0"/>
              <a:t>Какова степень и кардинальное число результатов следующих операций?</a:t>
            </a:r>
            <a:endParaRPr lang="en-US" cap="all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D1BDD73-605B-9BE1-7528-F97408CAF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Реляционная алгебра: контрольные вопросы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9333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E613E8-2542-5D52-6B08-83D2CD458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D3EB650-9E63-751F-F80D-B69F2AE0D6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779662"/>
            <a:ext cx="8541643" cy="2592313"/>
          </a:xfrm>
        </p:spPr>
        <p:txBody>
          <a:bodyPr>
            <a:normAutofit fontScale="70000" lnSpcReduction="20000"/>
          </a:bodyPr>
          <a:lstStyle/>
          <a:p>
            <a:pPr marL="590550" indent="-533400"/>
            <a:r>
              <a:rPr lang="ru-RU" sz="3400" dirty="0"/>
              <a:t>Селекция (отбор)</a:t>
            </a:r>
          </a:p>
          <a:p>
            <a:pPr marL="590550" indent="-533400"/>
            <a:r>
              <a:rPr lang="ru-RU" sz="3400" dirty="0"/>
              <a:t>Проекция</a:t>
            </a:r>
            <a:endParaRPr lang="en-US" sz="3400" dirty="0"/>
          </a:p>
          <a:p>
            <a:pPr marL="590550" indent="-533400"/>
            <a:r>
              <a:rPr lang="ru-RU" sz="3400" dirty="0"/>
              <a:t>Соединения </a:t>
            </a:r>
            <a:r>
              <a:rPr lang="en-US" sz="3400" dirty="0"/>
              <a:t>(JOIN)</a:t>
            </a:r>
            <a:endParaRPr lang="ru-RU" sz="3400" dirty="0"/>
          </a:p>
          <a:p>
            <a:pPr marL="990600" lvl="1" indent="-533400"/>
            <a:r>
              <a:rPr lang="ru-RU" dirty="0"/>
              <a:t>Эквисоединение</a:t>
            </a:r>
          </a:p>
          <a:p>
            <a:pPr marL="990600" lvl="1" indent="-533400"/>
            <a:r>
              <a:rPr lang="ru-RU" dirty="0"/>
              <a:t>Натуральное соединение (</a:t>
            </a:r>
            <a:r>
              <a:rPr lang="en-US" dirty="0"/>
              <a:t>Natural JOIN)</a:t>
            </a:r>
          </a:p>
          <a:p>
            <a:pPr marL="990600" lvl="1" indent="-533400"/>
            <a:r>
              <a:rPr lang="en-US" dirty="0"/>
              <a:t>LEFT   OUTER  JOIN</a:t>
            </a:r>
          </a:p>
          <a:p>
            <a:pPr marL="990600" lvl="1" indent="-533400"/>
            <a:r>
              <a:rPr lang="en-US" dirty="0"/>
              <a:t>RIGHT OUTER  JOIN</a:t>
            </a:r>
          </a:p>
          <a:p>
            <a:pPr marL="990600" lvl="1" indent="-533400"/>
            <a:r>
              <a:rPr lang="en-US" dirty="0"/>
              <a:t>FULL   OUTER  JOIN</a:t>
            </a:r>
          </a:p>
          <a:p>
            <a:pPr marL="590550" indent="-533400"/>
            <a:r>
              <a:rPr lang="ru-RU" sz="3400" dirty="0"/>
              <a:t>Деление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C1CFAB7-A6DF-47EB-CAA2-F157A1E11F2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cap="all" dirty="0"/>
              <a:t>Специальные реляционные операции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DD22BE3-8884-E771-1CEB-92ECAB0B2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Реляционная алгебра</a:t>
            </a:r>
            <a:r>
              <a:rPr lang="en-US" dirty="0"/>
              <a:t> (</a:t>
            </a:r>
            <a:r>
              <a:rPr lang="ru-RU" dirty="0"/>
              <a:t>продолжение)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81550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D3EB650-9E63-751F-F80D-B69F2AE0D6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779662"/>
            <a:ext cx="8541643" cy="259231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/>
              <a:t>Операция </a:t>
            </a:r>
            <a:r>
              <a:rPr lang="ru-RU" b="1" dirty="0" err="1"/>
              <a:t>Ϭ</a:t>
            </a:r>
            <a:r>
              <a:rPr lang="ru-RU" baseline="-25000" dirty="0" err="1">
                <a:solidFill>
                  <a:schemeClr val="accent2"/>
                </a:solidFill>
              </a:rPr>
              <a:t>f</a:t>
            </a:r>
            <a:r>
              <a:rPr lang="ru-RU" dirty="0"/>
              <a:t>(</a:t>
            </a:r>
            <a:r>
              <a:rPr lang="ru-RU" b="1" dirty="0"/>
              <a:t>R</a:t>
            </a:r>
            <a:r>
              <a:rPr lang="ru-RU" dirty="0"/>
              <a:t>(</a:t>
            </a:r>
            <a:r>
              <a:rPr lang="ru-RU" dirty="0">
                <a:solidFill>
                  <a:schemeClr val="accent1"/>
                </a:solidFill>
              </a:rPr>
              <a:t>A</a:t>
            </a:r>
            <a:r>
              <a:rPr lang="ru-RU" baseline="-25000" dirty="0">
                <a:solidFill>
                  <a:schemeClr val="accent1"/>
                </a:solidFill>
              </a:rPr>
              <a:t>1</a:t>
            </a:r>
            <a:r>
              <a:rPr lang="ru-RU" dirty="0">
                <a:solidFill>
                  <a:schemeClr val="accent1"/>
                </a:solidFill>
              </a:rPr>
              <a:t>,A</a:t>
            </a:r>
            <a:r>
              <a:rPr lang="ru-RU" baseline="-25000" dirty="0">
                <a:solidFill>
                  <a:schemeClr val="accent1"/>
                </a:solidFill>
              </a:rPr>
              <a:t>2</a:t>
            </a:r>
            <a:r>
              <a:rPr lang="ru-RU" dirty="0">
                <a:solidFill>
                  <a:schemeClr val="accent1"/>
                </a:solidFill>
              </a:rPr>
              <a:t>, … </a:t>
            </a:r>
            <a:r>
              <a:rPr lang="ru-RU" dirty="0" err="1">
                <a:solidFill>
                  <a:schemeClr val="accent1"/>
                </a:solidFill>
              </a:rPr>
              <a:t>A</a:t>
            </a:r>
            <a:r>
              <a:rPr lang="ru-RU" baseline="-25000" dirty="0" err="1">
                <a:solidFill>
                  <a:schemeClr val="accent1"/>
                </a:solidFill>
              </a:rPr>
              <a:t>k</a:t>
            </a:r>
            <a:r>
              <a:rPr lang="ru-RU" dirty="0"/>
              <a:t>)) порождает отношение </a:t>
            </a:r>
            <a:r>
              <a:rPr lang="en-US" b="1" dirty="0"/>
              <a:t>S</a:t>
            </a:r>
            <a:r>
              <a:rPr lang="ru-RU" dirty="0"/>
              <a:t>(</a:t>
            </a:r>
            <a:r>
              <a:rPr lang="ru-RU" dirty="0">
                <a:solidFill>
                  <a:schemeClr val="accent1"/>
                </a:solidFill>
              </a:rPr>
              <a:t>A</a:t>
            </a:r>
            <a:r>
              <a:rPr lang="ru-RU" baseline="-25000" dirty="0">
                <a:solidFill>
                  <a:schemeClr val="accent1"/>
                </a:solidFill>
              </a:rPr>
              <a:t>1</a:t>
            </a:r>
            <a:r>
              <a:rPr lang="ru-RU" dirty="0">
                <a:solidFill>
                  <a:schemeClr val="accent1"/>
                </a:solidFill>
              </a:rPr>
              <a:t>,A</a:t>
            </a:r>
            <a:r>
              <a:rPr lang="ru-RU" baseline="-25000" dirty="0">
                <a:solidFill>
                  <a:schemeClr val="accent1"/>
                </a:solidFill>
              </a:rPr>
              <a:t>2</a:t>
            </a:r>
            <a:r>
              <a:rPr lang="ru-RU" dirty="0">
                <a:solidFill>
                  <a:schemeClr val="accent1"/>
                </a:solidFill>
              </a:rPr>
              <a:t>, … </a:t>
            </a:r>
            <a:r>
              <a:rPr lang="ru-RU" dirty="0" err="1">
                <a:solidFill>
                  <a:schemeClr val="accent1"/>
                </a:solidFill>
              </a:rPr>
              <a:t>A</a:t>
            </a:r>
            <a:r>
              <a:rPr lang="ru-RU" baseline="-25000" dirty="0" err="1">
                <a:solidFill>
                  <a:schemeClr val="accent1"/>
                </a:solidFill>
              </a:rPr>
              <a:t>k</a:t>
            </a:r>
            <a:r>
              <a:rPr lang="ru-RU" dirty="0"/>
              <a:t>)</a:t>
            </a:r>
            <a:r>
              <a:rPr lang="en-US" dirty="0"/>
              <a:t>,</a:t>
            </a:r>
            <a:r>
              <a:rPr lang="ru-RU" dirty="0"/>
              <a:t> кортежи которого</a:t>
            </a:r>
          </a:p>
          <a:p>
            <a:pPr marL="358775" indent="-358775">
              <a:buFont typeface="+mj-lt"/>
              <a:buAutoNum type="arabicPeriod"/>
            </a:pPr>
            <a:r>
              <a:rPr lang="ru-RU" dirty="0"/>
              <a:t>принадлежат исходному отношению </a:t>
            </a:r>
            <a:r>
              <a:rPr lang="ru-RU" b="1" dirty="0"/>
              <a:t>R</a:t>
            </a:r>
            <a:r>
              <a:rPr lang="ru-RU" dirty="0"/>
              <a:t>(</a:t>
            </a:r>
            <a:r>
              <a:rPr lang="ru-RU" dirty="0">
                <a:solidFill>
                  <a:schemeClr val="accent1"/>
                </a:solidFill>
              </a:rPr>
              <a:t>A</a:t>
            </a:r>
            <a:r>
              <a:rPr lang="ru-RU" baseline="-25000" dirty="0">
                <a:solidFill>
                  <a:schemeClr val="accent1"/>
                </a:solidFill>
              </a:rPr>
              <a:t>1</a:t>
            </a:r>
            <a:r>
              <a:rPr lang="ru-RU" dirty="0">
                <a:solidFill>
                  <a:schemeClr val="accent1"/>
                </a:solidFill>
              </a:rPr>
              <a:t>,A</a:t>
            </a:r>
            <a:r>
              <a:rPr lang="ru-RU" baseline="-25000" dirty="0">
                <a:solidFill>
                  <a:schemeClr val="accent1"/>
                </a:solidFill>
              </a:rPr>
              <a:t>2</a:t>
            </a:r>
            <a:r>
              <a:rPr lang="ru-RU" dirty="0">
                <a:solidFill>
                  <a:schemeClr val="accent1"/>
                </a:solidFill>
              </a:rPr>
              <a:t>, … </a:t>
            </a:r>
            <a:r>
              <a:rPr lang="ru-RU" dirty="0" err="1">
                <a:solidFill>
                  <a:schemeClr val="accent1"/>
                </a:solidFill>
              </a:rPr>
              <a:t>A</a:t>
            </a:r>
            <a:r>
              <a:rPr lang="ru-RU" baseline="-25000" dirty="0" err="1">
                <a:solidFill>
                  <a:schemeClr val="accent1"/>
                </a:solidFill>
              </a:rPr>
              <a:t>k</a:t>
            </a:r>
            <a:r>
              <a:rPr lang="ru-RU" dirty="0"/>
              <a:t>)</a:t>
            </a:r>
          </a:p>
          <a:p>
            <a:pPr marL="358775" indent="-358775">
              <a:buFont typeface="+mj-lt"/>
              <a:buAutoNum type="arabicPeriod"/>
            </a:pPr>
            <a:r>
              <a:rPr lang="ru-RU" dirty="0"/>
              <a:t>удовлетворяют логической функции </a:t>
            </a:r>
            <a:r>
              <a:rPr lang="ru-RU" dirty="0">
                <a:solidFill>
                  <a:schemeClr val="accent2"/>
                </a:solidFill>
              </a:rPr>
              <a:t>f</a:t>
            </a:r>
            <a:r>
              <a:rPr lang="ru-RU" dirty="0"/>
              <a:t>, которая строится из</a:t>
            </a:r>
            <a:endParaRPr lang="en-US" dirty="0"/>
          </a:p>
          <a:p>
            <a:pPr marL="358775" lvl="1" indent="0">
              <a:buNone/>
            </a:pPr>
            <a:r>
              <a:rPr lang="ru-RU" dirty="0"/>
              <a:t>а)</a:t>
            </a:r>
            <a:r>
              <a:rPr lang="en-US" dirty="0"/>
              <a:t> </a:t>
            </a:r>
            <a:r>
              <a:rPr lang="ru-RU" dirty="0"/>
              <a:t>операндов </a:t>
            </a:r>
            <a:endParaRPr lang="en-US" dirty="0"/>
          </a:p>
          <a:p>
            <a:pPr marL="898525" marR="0" lvl="1" indent="-271463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3"/>
              </a:buBlip>
              <a:tabLst/>
              <a:defRPr/>
            </a:pPr>
            <a:r>
              <a:rPr lang="ru-RU" sz="1500" dirty="0"/>
              <a:t>атрибутов</a:t>
            </a:r>
            <a:r>
              <a:rPr lang="en-US" sz="1500" dirty="0"/>
              <a:t> </a:t>
            </a:r>
            <a:r>
              <a:rPr lang="ru-RU" sz="1500" dirty="0">
                <a:solidFill>
                  <a:schemeClr val="accent1"/>
                </a:solidFill>
              </a:rPr>
              <a:t>A</a:t>
            </a:r>
            <a:r>
              <a:rPr lang="ru-RU" sz="1500" baseline="-25000" dirty="0">
                <a:solidFill>
                  <a:schemeClr val="accent1"/>
                </a:solidFill>
              </a:rPr>
              <a:t>1</a:t>
            </a:r>
            <a:r>
              <a:rPr lang="ru-RU" sz="1500" dirty="0">
                <a:solidFill>
                  <a:schemeClr val="accent1"/>
                </a:solidFill>
              </a:rPr>
              <a:t>,A</a:t>
            </a:r>
            <a:r>
              <a:rPr lang="ru-RU" sz="1500" baseline="-25000" dirty="0">
                <a:solidFill>
                  <a:schemeClr val="accent1"/>
                </a:solidFill>
              </a:rPr>
              <a:t>2</a:t>
            </a:r>
            <a:r>
              <a:rPr lang="ru-RU" sz="1500" dirty="0">
                <a:solidFill>
                  <a:schemeClr val="accent1"/>
                </a:solidFill>
              </a:rPr>
              <a:t>, … </a:t>
            </a:r>
            <a:r>
              <a:rPr lang="ru-RU" sz="1500" dirty="0" err="1">
                <a:solidFill>
                  <a:schemeClr val="accent1"/>
                </a:solidFill>
              </a:rPr>
              <a:t>A</a:t>
            </a:r>
            <a:r>
              <a:rPr lang="ru-RU" sz="1500" baseline="-25000" dirty="0" err="1">
                <a:solidFill>
                  <a:schemeClr val="accent1"/>
                </a:solidFill>
              </a:rPr>
              <a:t>k</a:t>
            </a:r>
            <a:r>
              <a:rPr lang="ru-RU" sz="1500" dirty="0"/>
              <a:t> отношения R</a:t>
            </a:r>
            <a:endParaRPr lang="en-US" sz="1500" dirty="0"/>
          </a:p>
          <a:p>
            <a:pPr marL="898525" marR="0" lvl="1" indent="-271463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Blip>
                <a:blip r:embed="rId3"/>
              </a:buBlip>
              <a:tabLst/>
              <a:defRPr/>
            </a:pPr>
            <a:r>
              <a:rPr lang="ru-RU" sz="1500" dirty="0"/>
              <a:t>констант</a:t>
            </a:r>
            <a:endParaRPr lang="en-US" dirty="0"/>
          </a:p>
          <a:p>
            <a:pPr marL="358775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ru-RU" dirty="0"/>
              <a:t>б) операторов сравнения: </a:t>
            </a:r>
            <a:r>
              <a:rPr lang="ru-RU" dirty="0">
                <a:solidFill>
                  <a:schemeClr val="accent1"/>
                </a:solidFill>
              </a:rPr>
              <a:t>&gt;</a:t>
            </a:r>
            <a:r>
              <a:rPr lang="ru-RU" dirty="0"/>
              <a:t>,</a:t>
            </a:r>
            <a:r>
              <a:rPr lang="ru-RU" dirty="0">
                <a:solidFill>
                  <a:schemeClr val="accent1"/>
                </a:solidFill>
              </a:rPr>
              <a:t>&lt;</a:t>
            </a:r>
            <a:r>
              <a:rPr lang="ru-RU" dirty="0"/>
              <a:t>,</a:t>
            </a:r>
            <a:r>
              <a:rPr lang="ru-RU" dirty="0">
                <a:solidFill>
                  <a:schemeClr val="accent1"/>
                </a:solidFill>
              </a:rPr>
              <a:t>=</a:t>
            </a:r>
            <a:r>
              <a:rPr lang="ru-RU" dirty="0"/>
              <a:t>,</a:t>
            </a:r>
            <a:r>
              <a:rPr lang="ru-RU" dirty="0">
                <a:solidFill>
                  <a:schemeClr val="accent1"/>
                </a:solidFill>
              </a:rPr>
              <a:t>≠</a:t>
            </a:r>
            <a:r>
              <a:rPr lang="ru-RU" dirty="0"/>
              <a:t>,</a:t>
            </a:r>
            <a:r>
              <a:rPr lang="ru-RU" dirty="0">
                <a:solidFill>
                  <a:schemeClr val="accent1"/>
                </a:solidFill>
              </a:rPr>
              <a:t>≤</a:t>
            </a:r>
            <a:r>
              <a:rPr lang="ru-RU" dirty="0"/>
              <a:t>,</a:t>
            </a:r>
            <a:r>
              <a:rPr lang="ru-RU" dirty="0">
                <a:solidFill>
                  <a:schemeClr val="accent1"/>
                </a:solidFill>
              </a:rPr>
              <a:t>≥</a:t>
            </a:r>
            <a:r>
              <a:rPr lang="ru-RU" dirty="0"/>
              <a:t>,</a:t>
            </a:r>
            <a:endParaRPr lang="en-US" dirty="0"/>
          </a:p>
          <a:p>
            <a:pPr marL="358775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ru-RU" dirty="0"/>
              <a:t>в) логических операторов: </a:t>
            </a:r>
            <a:r>
              <a:rPr lang="ru-RU" dirty="0" err="1">
                <a:solidFill>
                  <a:schemeClr val="accent1"/>
                </a:solidFill>
              </a:rPr>
              <a:t>and</a:t>
            </a:r>
            <a:r>
              <a:rPr lang="ru-RU" dirty="0"/>
              <a:t>, </a:t>
            </a:r>
            <a:r>
              <a:rPr lang="ru-RU" dirty="0" err="1">
                <a:solidFill>
                  <a:schemeClr val="accent1"/>
                </a:solidFill>
              </a:rPr>
              <a:t>or</a:t>
            </a:r>
            <a:r>
              <a:rPr lang="ru-RU" dirty="0"/>
              <a:t>, </a:t>
            </a:r>
            <a:r>
              <a:rPr lang="ru-RU" dirty="0" err="1">
                <a:solidFill>
                  <a:schemeClr val="accent1"/>
                </a:solidFill>
              </a:rPr>
              <a:t>not</a:t>
            </a:r>
            <a:r>
              <a:rPr lang="ru-RU" dirty="0"/>
              <a:t> </a:t>
            </a:r>
            <a:endParaRPr lang="en-US" dirty="0"/>
          </a:p>
          <a:p>
            <a:pPr marL="358775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ru-RU" dirty="0"/>
              <a:t>г) скобок: </a:t>
            </a:r>
            <a:r>
              <a:rPr lang="ru-RU" dirty="0">
                <a:solidFill>
                  <a:schemeClr val="accent1"/>
                </a:solidFill>
              </a:rPr>
              <a:t>(</a:t>
            </a:r>
            <a:r>
              <a:rPr lang="ru-RU" dirty="0"/>
              <a:t>, </a:t>
            </a:r>
            <a:r>
              <a:rPr lang="ru-RU" dirty="0">
                <a:solidFill>
                  <a:schemeClr val="accent1"/>
                </a:solidFill>
              </a:rPr>
              <a:t>)</a:t>
            </a:r>
          </a:p>
          <a:p>
            <a:pPr marL="590550" indent="-533400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29D4067-1448-F8C7-43D0-626BAA8C63F6}"/>
              </a:ext>
            </a:extLst>
          </p:cNvPr>
          <p:cNvSpPr/>
          <p:nvPr/>
        </p:nvSpPr>
        <p:spPr>
          <a:xfrm>
            <a:off x="4860032" y="2859783"/>
            <a:ext cx="3744416" cy="136815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E613E8-2542-5D52-6B08-83D2CD458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C1CFAB7-A6DF-47EB-CAA2-F157A1E11F2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cap="all" dirty="0"/>
              <a:t>Селекция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DD22BE3-8884-E771-1CEB-92ECAB0B2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Реляционная алгебра</a:t>
            </a:r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41BC67F-39AC-7E07-01AF-A55342223D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1806866"/>
              </p:ext>
            </p:extLst>
          </p:nvPr>
        </p:nvGraphicFramePr>
        <p:xfrm>
          <a:off x="5050120" y="2949708"/>
          <a:ext cx="1614025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5983">
                  <a:extLst>
                    <a:ext uri="{9D8B030D-6E8A-4147-A177-3AD203B41FA5}">
                      <a16:colId xmlns:a16="http://schemas.microsoft.com/office/drawing/2014/main" val="1142257944"/>
                    </a:ext>
                  </a:extLst>
                </a:gridCol>
                <a:gridCol w="244500">
                  <a:extLst>
                    <a:ext uri="{9D8B030D-6E8A-4147-A177-3AD203B41FA5}">
                      <a16:colId xmlns:a16="http://schemas.microsoft.com/office/drawing/2014/main" val="2352542166"/>
                    </a:ext>
                  </a:extLst>
                </a:gridCol>
                <a:gridCol w="244500">
                  <a:extLst>
                    <a:ext uri="{9D8B030D-6E8A-4147-A177-3AD203B41FA5}">
                      <a16:colId xmlns:a16="http://schemas.microsoft.com/office/drawing/2014/main" val="2220010211"/>
                    </a:ext>
                  </a:extLst>
                </a:gridCol>
                <a:gridCol w="244500">
                  <a:extLst>
                    <a:ext uri="{9D8B030D-6E8A-4147-A177-3AD203B41FA5}">
                      <a16:colId xmlns:a16="http://schemas.microsoft.com/office/drawing/2014/main" val="3955243320"/>
                    </a:ext>
                  </a:extLst>
                </a:gridCol>
                <a:gridCol w="244500">
                  <a:extLst>
                    <a:ext uri="{9D8B030D-6E8A-4147-A177-3AD203B41FA5}">
                      <a16:colId xmlns:a16="http://schemas.microsoft.com/office/drawing/2014/main" val="4236615275"/>
                    </a:ext>
                  </a:extLst>
                </a:gridCol>
                <a:gridCol w="360042">
                  <a:extLst>
                    <a:ext uri="{9D8B030D-6E8A-4147-A177-3AD203B41FA5}">
                      <a16:colId xmlns:a16="http://schemas.microsoft.com/office/drawing/2014/main" val="2875645376"/>
                    </a:ext>
                  </a:extLst>
                </a:gridCol>
              </a:tblGrid>
              <a:tr h="219139">
                <a:tc>
                  <a:txBody>
                    <a:bodyPr/>
                    <a:lstStyle/>
                    <a:p>
                      <a:r>
                        <a:rPr lang="en-US" b="1" dirty="0"/>
                        <a:t>R(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A,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B,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C,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)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89590"/>
                  </a:ext>
                </a:extLst>
              </a:tr>
              <a:tr h="21913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5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96290307"/>
                  </a:ext>
                </a:extLst>
              </a:tr>
              <a:tr h="21913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2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5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295291441"/>
                  </a:ext>
                </a:extLst>
              </a:tr>
              <a:tr h="21913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55886781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3BE3519-9752-F056-06F0-C76FE78EA6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8806541"/>
              </p:ext>
            </p:extLst>
          </p:nvPr>
        </p:nvGraphicFramePr>
        <p:xfrm>
          <a:off x="6841905" y="2934468"/>
          <a:ext cx="1614025" cy="853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5983">
                  <a:extLst>
                    <a:ext uri="{9D8B030D-6E8A-4147-A177-3AD203B41FA5}">
                      <a16:colId xmlns:a16="http://schemas.microsoft.com/office/drawing/2014/main" val="1142257944"/>
                    </a:ext>
                  </a:extLst>
                </a:gridCol>
                <a:gridCol w="244500">
                  <a:extLst>
                    <a:ext uri="{9D8B030D-6E8A-4147-A177-3AD203B41FA5}">
                      <a16:colId xmlns:a16="http://schemas.microsoft.com/office/drawing/2014/main" val="2352542166"/>
                    </a:ext>
                  </a:extLst>
                </a:gridCol>
                <a:gridCol w="244500">
                  <a:extLst>
                    <a:ext uri="{9D8B030D-6E8A-4147-A177-3AD203B41FA5}">
                      <a16:colId xmlns:a16="http://schemas.microsoft.com/office/drawing/2014/main" val="2220010211"/>
                    </a:ext>
                  </a:extLst>
                </a:gridCol>
                <a:gridCol w="244500">
                  <a:extLst>
                    <a:ext uri="{9D8B030D-6E8A-4147-A177-3AD203B41FA5}">
                      <a16:colId xmlns:a16="http://schemas.microsoft.com/office/drawing/2014/main" val="3955243320"/>
                    </a:ext>
                  </a:extLst>
                </a:gridCol>
                <a:gridCol w="244500">
                  <a:extLst>
                    <a:ext uri="{9D8B030D-6E8A-4147-A177-3AD203B41FA5}">
                      <a16:colId xmlns:a16="http://schemas.microsoft.com/office/drawing/2014/main" val="4236615275"/>
                    </a:ext>
                  </a:extLst>
                </a:gridCol>
                <a:gridCol w="360042">
                  <a:extLst>
                    <a:ext uri="{9D8B030D-6E8A-4147-A177-3AD203B41FA5}">
                      <a16:colId xmlns:a16="http://schemas.microsoft.com/office/drawing/2014/main" val="2875645376"/>
                    </a:ext>
                  </a:extLst>
                </a:gridCol>
              </a:tblGrid>
              <a:tr h="219139"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2000" b="1" kern="0" dirty="0">
                          <a:latin typeface="+mn-lt"/>
                          <a:cs typeface="Times New Roman" pitchFamily="18" charset="0"/>
                        </a:rPr>
                        <a:t>Ϭ</a:t>
                      </a:r>
                      <a:r>
                        <a:rPr lang="en-US" sz="1800" b="1" kern="0" baseline="-25000" dirty="0">
                          <a:solidFill>
                            <a:schemeClr val="accent2"/>
                          </a:solidFill>
                          <a:latin typeface="+mn-lt"/>
                          <a:cs typeface="Times New Roman" pitchFamily="18" charset="0"/>
                        </a:rPr>
                        <a:t>A&lt;3 and C=5</a:t>
                      </a:r>
                      <a:r>
                        <a:rPr lang="ru-RU" sz="1800" b="1" kern="0" dirty="0">
                          <a:solidFill>
                            <a:srgbClr val="FF0000"/>
                          </a:solidFill>
                          <a:latin typeface="+mn-lt"/>
                          <a:cs typeface="Times New Roman" pitchFamily="18" charset="0"/>
                        </a:rPr>
                        <a:t> </a:t>
                      </a:r>
                      <a:r>
                        <a:rPr lang="ru-RU" sz="1800" b="1" kern="0" dirty="0">
                          <a:latin typeface="+mn-lt"/>
                          <a:cs typeface="Times New Roman" pitchFamily="18" charset="0"/>
                        </a:rPr>
                        <a:t>(</a:t>
                      </a:r>
                      <a:r>
                        <a:rPr lang="en-US" sz="1800" b="1" kern="0" dirty="0">
                          <a:solidFill>
                            <a:srgbClr val="3333FF"/>
                          </a:solidFill>
                          <a:latin typeface="+mn-lt"/>
                          <a:cs typeface="Times New Roman" pitchFamily="18" charset="0"/>
                        </a:rPr>
                        <a:t>R</a:t>
                      </a:r>
                      <a:r>
                        <a:rPr lang="en-US" sz="1800" kern="0" dirty="0">
                          <a:latin typeface="+mn-lt"/>
                          <a:cs typeface="Times New Roman" pitchFamily="18" charset="0"/>
                        </a:rPr>
                        <a:t>)</a:t>
                      </a:r>
                      <a:endParaRPr lang="ru-RU" dirty="0">
                        <a:latin typeface="+mn-lt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89590"/>
                  </a:ext>
                </a:extLst>
              </a:tr>
              <a:tr h="21913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96290307"/>
                  </a:ext>
                </a:extLst>
              </a:tr>
              <a:tr h="21913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2952914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48383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D3EB650-9E63-751F-F80D-B69F2AE0D6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779662"/>
            <a:ext cx="5339547" cy="290244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/>
              <a:t>Пусть </a:t>
            </a:r>
            <a:r>
              <a:rPr lang="ru-RU" b="1" dirty="0"/>
              <a:t>R</a:t>
            </a:r>
            <a:r>
              <a:rPr lang="ru-RU" dirty="0"/>
              <a:t>(</a:t>
            </a:r>
            <a:r>
              <a:rPr lang="ru-RU" dirty="0">
                <a:solidFill>
                  <a:schemeClr val="accent1"/>
                </a:solidFill>
              </a:rPr>
              <a:t>A</a:t>
            </a:r>
            <a:r>
              <a:rPr lang="ru-RU" baseline="-25000" dirty="0">
                <a:solidFill>
                  <a:schemeClr val="accent1"/>
                </a:solidFill>
              </a:rPr>
              <a:t>1</a:t>
            </a:r>
            <a:r>
              <a:rPr lang="ru-RU" dirty="0">
                <a:solidFill>
                  <a:schemeClr val="accent1"/>
                </a:solidFill>
              </a:rPr>
              <a:t>,A</a:t>
            </a:r>
            <a:r>
              <a:rPr lang="ru-RU" baseline="-25000" dirty="0">
                <a:solidFill>
                  <a:schemeClr val="accent1"/>
                </a:solidFill>
              </a:rPr>
              <a:t>2</a:t>
            </a:r>
            <a:r>
              <a:rPr lang="ru-RU" dirty="0">
                <a:solidFill>
                  <a:schemeClr val="accent1"/>
                </a:solidFill>
              </a:rPr>
              <a:t>, … </a:t>
            </a:r>
            <a:r>
              <a:rPr lang="ru-RU" dirty="0" err="1">
                <a:solidFill>
                  <a:schemeClr val="accent1"/>
                </a:solidFill>
              </a:rPr>
              <a:t>A</a:t>
            </a:r>
            <a:r>
              <a:rPr lang="ru-RU" baseline="-25000" dirty="0" err="1">
                <a:solidFill>
                  <a:schemeClr val="accent1"/>
                </a:solidFill>
              </a:rPr>
              <a:t>k</a:t>
            </a:r>
            <a:r>
              <a:rPr lang="ru-RU" dirty="0"/>
              <a:t>) – отношение.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dirty="0"/>
              <a:t>Операция 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ru-RU" baseline="-25000" dirty="0">
                <a:solidFill>
                  <a:schemeClr val="accent2"/>
                </a:solidFill>
              </a:rPr>
              <a:t>A</a:t>
            </a:r>
            <a:r>
              <a:rPr lang="ru-RU" baseline="-50000" dirty="0">
                <a:solidFill>
                  <a:schemeClr val="accent2"/>
                </a:solidFill>
              </a:rPr>
              <a:t>i</a:t>
            </a:r>
            <a:r>
              <a:rPr lang="ru-RU" baseline="-70000" dirty="0">
                <a:solidFill>
                  <a:schemeClr val="accent2"/>
                </a:solidFill>
              </a:rPr>
              <a:t>1</a:t>
            </a:r>
            <a:r>
              <a:rPr lang="ru-RU" baseline="-25000" dirty="0">
                <a:solidFill>
                  <a:schemeClr val="accent2"/>
                </a:solidFill>
              </a:rPr>
              <a:t>, A</a:t>
            </a:r>
            <a:r>
              <a:rPr lang="ru-RU" baseline="-50000" dirty="0">
                <a:solidFill>
                  <a:schemeClr val="accent2"/>
                </a:solidFill>
              </a:rPr>
              <a:t>i</a:t>
            </a:r>
            <a:r>
              <a:rPr lang="ru-RU" baseline="-70000" dirty="0">
                <a:solidFill>
                  <a:schemeClr val="accent2"/>
                </a:solidFill>
              </a:rPr>
              <a:t>2</a:t>
            </a:r>
            <a:r>
              <a:rPr lang="ru-RU" baseline="-25000" dirty="0">
                <a:solidFill>
                  <a:schemeClr val="accent2"/>
                </a:solidFill>
              </a:rPr>
              <a:t>, … </a:t>
            </a:r>
            <a:r>
              <a:rPr lang="ru-RU" baseline="-25000" dirty="0" err="1">
                <a:solidFill>
                  <a:schemeClr val="accent2"/>
                </a:solidFill>
              </a:rPr>
              <a:t>A</a:t>
            </a:r>
            <a:r>
              <a:rPr lang="ru-RU" baseline="-50000" dirty="0" err="1">
                <a:solidFill>
                  <a:schemeClr val="accent2"/>
                </a:solidFill>
              </a:rPr>
              <a:t>i</a:t>
            </a:r>
            <a:r>
              <a:rPr lang="ru-RU" baseline="-70000" dirty="0" err="1">
                <a:solidFill>
                  <a:schemeClr val="accent2"/>
                </a:solidFill>
              </a:rPr>
              <a:t>s</a:t>
            </a:r>
            <a:r>
              <a:rPr lang="ru-RU" dirty="0"/>
              <a:t>(R) порождает отношение R1 с</a:t>
            </a:r>
            <a:r>
              <a:rPr lang="en-US" dirty="0"/>
              <a:t> </a:t>
            </a:r>
            <a:r>
              <a:rPr lang="ru-RU" dirty="0"/>
              <a:t>атрибутами </a:t>
            </a:r>
            <a:r>
              <a:rPr lang="ru-RU" dirty="0">
                <a:solidFill>
                  <a:schemeClr val="accent2"/>
                </a:solidFill>
              </a:rPr>
              <a:t>A</a:t>
            </a:r>
            <a:r>
              <a:rPr lang="ru-RU" baseline="-25000" dirty="0">
                <a:solidFill>
                  <a:schemeClr val="accent2"/>
                </a:solidFill>
              </a:rPr>
              <a:t>i</a:t>
            </a:r>
            <a:r>
              <a:rPr lang="ru-RU" baseline="-50000" dirty="0">
                <a:solidFill>
                  <a:schemeClr val="accent2"/>
                </a:solidFill>
              </a:rPr>
              <a:t>1</a:t>
            </a:r>
            <a:r>
              <a:rPr lang="ru-RU" dirty="0">
                <a:solidFill>
                  <a:schemeClr val="accent2"/>
                </a:solidFill>
              </a:rPr>
              <a:t>, </a:t>
            </a:r>
            <a:r>
              <a:rPr lang="ru-RU" dirty="0" err="1">
                <a:solidFill>
                  <a:schemeClr val="accent2"/>
                </a:solidFill>
              </a:rPr>
              <a:t>A</a:t>
            </a:r>
            <a:r>
              <a:rPr lang="ru-RU" baseline="-25000" dirty="0" err="1">
                <a:solidFill>
                  <a:schemeClr val="accent2"/>
                </a:solidFill>
              </a:rPr>
              <a:t>i</a:t>
            </a:r>
            <a:r>
              <a:rPr lang="en-US" baseline="-50000" dirty="0">
                <a:solidFill>
                  <a:schemeClr val="accent2"/>
                </a:solidFill>
              </a:rPr>
              <a:t>2</a:t>
            </a:r>
            <a:r>
              <a:rPr lang="ru-RU" dirty="0">
                <a:solidFill>
                  <a:schemeClr val="accent2"/>
                </a:solidFill>
              </a:rPr>
              <a:t>, </a:t>
            </a:r>
            <a:r>
              <a:rPr lang="ru-RU" dirty="0"/>
              <a:t>…</a:t>
            </a:r>
            <a:r>
              <a:rPr lang="ru-RU" dirty="0">
                <a:solidFill>
                  <a:schemeClr val="accent2"/>
                </a:solidFill>
              </a:rPr>
              <a:t> </a:t>
            </a:r>
            <a:r>
              <a:rPr lang="ru-RU" dirty="0" err="1">
                <a:solidFill>
                  <a:schemeClr val="accent2"/>
                </a:solidFill>
              </a:rPr>
              <a:t>A</a:t>
            </a:r>
            <a:r>
              <a:rPr lang="ru-RU" baseline="-25000" dirty="0" err="1">
                <a:solidFill>
                  <a:schemeClr val="accent2"/>
                </a:solidFill>
              </a:rPr>
              <a:t>i</a:t>
            </a:r>
            <a:r>
              <a:rPr lang="en-US" baseline="-50000" dirty="0">
                <a:solidFill>
                  <a:schemeClr val="accent2"/>
                </a:solidFill>
              </a:rPr>
              <a:t>s</a:t>
            </a:r>
            <a:r>
              <a:rPr lang="en-US" dirty="0"/>
              <a:t> </a:t>
            </a:r>
            <a:r>
              <a:rPr lang="ru-RU" dirty="0"/>
              <a:t>из отношения R, где </a:t>
            </a:r>
            <a:r>
              <a:rPr lang="ru-RU" dirty="0" err="1">
                <a:solidFill>
                  <a:schemeClr val="accent2"/>
                </a:solidFill>
              </a:rPr>
              <a:t>i</a:t>
            </a:r>
            <a:r>
              <a:rPr lang="ru-RU" baseline="-25000" dirty="0" err="1">
                <a:solidFill>
                  <a:schemeClr val="accent2"/>
                </a:solidFill>
              </a:rPr>
              <a:t>s</a:t>
            </a:r>
            <a:r>
              <a:rPr lang="ru-RU" dirty="0"/>
              <a:t> ≤ </a:t>
            </a:r>
            <a:r>
              <a:rPr lang="ru-RU" dirty="0">
                <a:solidFill>
                  <a:schemeClr val="accent2"/>
                </a:solidFill>
              </a:rPr>
              <a:t>k</a:t>
            </a:r>
            <a:r>
              <a:rPr lang="ru-RU" dirty="0"/>
              <a:t>, следующим образом: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dirty="0"/>
              <a:t>1. Каждый кортеж в R1  формируется из кортежа отношения R путем удаления не отмеченных в операции 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ru-RU" baseline="-25000" dirty="0">
                <a:solidFill>
                  <a:schemeClr val="accent2"/>
                </a:solidFill>
              </a:rPr>
              <a:t>A</a:t>
            </a:r>
            <a:r>
              <a:rPr lang="ru-RU" baseline="-50000" dirty="0">
                <a:solidFill>
                  <a:schemeClr val="accent2"/>
                </a:solidFill>
              </a:rPr>
              <a:t>i</a:t>
            </a:r>
            <a:r>
              <a:rPr lang="ru-RU" baseline="-70000" dirty="0">
                <a:solidFill>
                  <a:schemeClr val="accent2"/>
                </a:solidFill>
              </a:rPr>
              <a:t>1</a:t>
            </a:r>
            <a:r>
              <a:rPr lang="ru-RU" baseline="-25000" dirty="0">
                <a:solidFill>
                  <a:schemeClr val="accent2"/>
                </a:solidFill>
              </a:rPr>
              <a:t>, A</a:t>
            </a:r>
            <a:r>
              <a:rPr lang="ru-RU" baseline="-50000" dirty="0">
                <a:solidFill>
                  <a:schemeClr val="accent2"/>
                </a:solidFill>
              </a:rPr>
              <a:t>i</a:t>
            </a:r>
            <a:r>
              <a:rPr lang="ru-RU" baseline="-70000" dirty="0">
                <a:solidFill>
                  <a:schemeClr val="accent2"/>
                </a:solidFill>
              </a:rPr>
              <a:t>2</a:t>
            </a:r>
            <a:r>
              <a:rPr lang="ru-RU" baseline="-25000" dirty="0">
                <a:solidFill>
                  <a:schemeClr val="accent2"/>
                </a:solidFill>
              </a:rPr>
              <a:t>, … </a:t>
            </a:r>
            <a:r>
              <a:rPr lang="ru-RU" baseline="-25000" dirty="0" err="1">
                <a:solidFill>
                  <a:schemeClr val="accent2"/>
                </a:solidFill>
              </a:rPr>
              <a:t>A</a:t>
            </a:r>
            <a:r>
              <a:rPr lang="ru-RU" baseline="-50000" dirty="0" err="1">
                <a:solidFill>
                  <a:schemeClr val="accent2"/>
                </a:solidFill>
              </a:rPr>
              <a:t>i</a:t>
            </a:r>
            <a:r>
              <a:rPr lang="ru-RU" baseline="-70000" dirty="0" err="1">
                <a:solidFill>
                  <a:schemeClr val="accent2"/>
                </a:solidFill>
              </a:rPr>
              <a:t>s</a:t>
            </a:r>
            <a:r>
              <a:rPr lang="ru-RU" dirty="0"/>
              <a:t>(R) значений атрибутов</a:t>
            </a:r>
          </a:p>
          <a:p>
            <a:pPr marL="0" indent="0">
              <a:buNone/>
            </a:pPr>
            <a:r>
              <a:rPr lang="ru-RU" dirty="0"/>
              <a:t>2. В получившемся отношении одинаковые кортежи удаляются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29D4067-1448-F8C7-43D0-626BAA8C63F6}"/>
              </a:ext>
            </a:extLst>
          </p:cNvPr>
          <p:cNvSpPr/>
          <p:nvPr/>
        </p:nvSpPr>
        <p:spPr>
          <a:xfrm>
            <a:off x="5868144" y="1779662"/>
            <a:ext cx="2921708" cy="1567186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E613E8-2542-5D52-6B08-83D2CD458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C1CFAB7-A6DF-47EB-CAA2-F157A1E11F2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cap="all" dirty="0"/>
              <a:t>Проекция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DD22BE3-8884-E771-1CEB-92ECAB0B2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Реляционная алгебра</a:t>
            </a:r>
            <a:r>
              <a:rPr lang="en-US" dirty="0"/>
              <a:t> (</a:t>
            </a:r>
            <a:r>
              <a:rPr lang="ru-RU" dirty="0"/>
              <a:t>продолжение)</a:t>
            </a:r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41BC67F-39AC-7E07-01AF-A55342223D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3282570"/>
              </p:ext>
            </p:extLst>
          </p:nvPr>
        </p:nvGraphicFramePr>
        <p:xfrm>
          <a:off x="5964176" y="1885950"/>
          <a:ext cx="1614025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5983">
                  <a:extLst>
                    <a:ext uri="{9D8B030D-6E8A-4147-A177-3AD203B41FA5}">
                      <a16:colId xmlns:a16="http://schemas.microsoft.com/office/drawing/2014/main" val="1142257944"/>
                    </a:ext>
                  </a:extLst>
                </a:gridCol>
                <a:gridCol w="244500">
                  <a:extLst>
                    <a:ext uri="{9D8B030D-6E8A-4147-A177-3AD203B41FA5}">
                      <a16:colId xmlns:a16="http://schemas.microsoft.com/office/drawing/2014/main" val="2352542166"/>
                    </a:ext>
                  </a:extLst>
                </a:gridCol>
                <a:gridCol w="244500">
                  <a:extLst>
                    <a:ext uri="{9D8B030D-6E8A-4147-A177-3AD203B41FA5}">
                      <a16:colId xmlns:a16="http://schemas.microsoft.com/office/drawing/2014/main" val="2220010211"/>
                    </a:ext>
                  </a:extLst>
                </a:gridCol>
                <a:gridCol w="244500">
                  <a:extLst>
                    <a:ext uri="{9D8B030D-6E8A-4147-A177-3AD203B41FA5}">
                      <a16:colId xmlns:a16="http://schemas.microsoft.com/office/drawing/2014/main" val="3955243320"/>
                    </a:ext>
                  </a:extLst>
                </a:gridCol>
                <a:gridCol w="244500">
                  <a:extLst>
                    <a:ext uri="{9D8B030D-6E8A-4147-A177-3AD203B41FA5}">
                      <a16:colId xmlns:a16="http://schemas.microsoft.com/office/drawing/2014/main" val="4236615275"/>
                    </a:ext>
                  </a:extLst>
                </a:gridCol>
                <a:gridCol w="360042">
                  <a:extLst>
                    <a:ext uri="{9D8B030D-6E8A-4147-A177-3AD203B41FA5}">
                      <a16:colId xmlns:a16="http://schemas.microsoft.com/office/drawing/2014/main" val="2875645376"/>
                    </a:ext>
                  </a:extLst>
                </a:gridCol>
              </a:tblGrid>
              <a:tr h="219139">
                <a:tc>
                  <a:txBody>
                    <a:bodyPr/>
                    <a:lstStyle/>
                    <a:p>
                      <a:r>
                        <a:rPr lang="en-US" b="1" dirty="0"/>
                        <a:t>R(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accent6"/>
                          </a:solidFill>
                        </a:rPr>
                        <a:t>A</a:t>
                      </a:r>
                      <a:r>
                        <a:rPr lang="en-US" b="1" dirty="0"/>
                        <a:t>,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B,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accent6"/>
                          </a:solidFill>
                        </a:rPr>
                        <a:t>C</a:t>
                      </a:r>
                      <a:r>
                        <a:rPr lang="en-US" b="1" dirty="0"/>
                        <a:t>,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)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89590"/>
                  </a:ext>
                </a:extLst>
              </a:tr>
              <a:tr h="21913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5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96290307"/>
                  </a:ext>
                </a:extLst>
              </a:tr>
              <a:tr h="21913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2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5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295291441"/>
                  </a:ext>
                </a:extLst>
              </a:tr>
              <a:tr h="21913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3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6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55886781"/>
                  </a:ext>
                </a:extLst>
              </a:tr>
              <a:tr h="21913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5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4052450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3BE3519-9752-F056-06F0-C76FE78EA6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3914444"/>
              </p:ext>
            </p:extLst>
          </p:nvPr>
        </p:nvGraphicFramePr>
        <p:xfrm>
          <a:off x="7755961" y="1870710"/>
          <a:ext cx="1009483" cy="1402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5983">
                  <a:extLst>
                    <a:ext uri="{9D8B030D-6E8A-4147-A177-3AD203B41FA5}">
                      <a16:colId xmlns:a16="http://schemas.microsoft.com/office/drawing/2014/main" val="1142257944"/>
                    </a:ext>
                  </a:extLst>
                </a:gridCol>
                <a:gridCol w="244500">
                  <a:extLst>
                    <a:ext uri="{9D8B030D-6E8A-4147-A177-3AD203B41FA5}">
                      <a16:colId xmlns:a16="http://schemas.microsoft.com/office/drawing/2014/main" val="2352542166"/>
                    </a:ext>
                  </a:extLst>
                </a:gridCol>
                <a:gridCol w="244500">
                  <a:extLst>
                    <a:ext uri="{9D8B030D-6E8A-4147-A177-3AD203B41FA5}">
                      <a16:colId xmlns:a16="http://schemas.microsoft.com/office/drawing/2014/main" val="2220010211"/>
                    </a:ext>
                  </a:extLst>
                </a:gridCol>
                <a:gridCol w="244500">
                  <a:extLst>
                    <a:ext uri="{9D8B030D-6E8A-4147-A177-3AD203B41FA5}">
                      <a16:colId xmlns:a16="http://schemas.microsoft.com/office/drawing/2014/main" val="3955243320"/>
                    </a:ext>
                  </a:extLst>
                </a:gridCol>
              </a:tblGrid>
              <a:tr h="219139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π</a:t>
                      </a:r>
                      <a:r>
                        <a:rPr lang="en-US" sz="1800" b="1" kern="0" baseline="-25000" dirty="0">
                          <a:solidFill>
                            <a:schemeClr val="accent2"/>
                          </a:solidFill>
                          <a:latin typeface="+mn-lt"/>
                          <a:cs typeface="Times New Roman" pitchFamily="18" charset="0"/>
                        </a:rPr>
                        <a:t>A,C</a:t>
                      </a:r>
                      <a:r>
                        <a:rPr lang="ru-RU" sz="1800" b="1" kern="0" dirty="0">
                          <a:solidFill>
                            <a:srgbClr val="FF0000"/>
                          </a:solidFill>
                          <a:latin typeface="+mn-lt"/>
                          <a:cs typeface="Times New Roman" pitchFamily="18" charset="0"/>
                        </a:rPr>
                        <a:t> </a:t>
                      </a:r>
                      <a:r>
                        <a:rPr lang="ru-RU" sz="1800" b="1" kern="0" dirty="0">
                          <a:latin typeface="+mn-lt"/>
                          <a:cs typeface="Times New Roman" pitchFamily="18" charset="0"/>
                        </a:rPr>
                        <a:t>(</a:t>
                      </a:r>
                      <a:r>
                        <a:rPr lang="en-US" sz="1800" b="1" kern="0" dirty="0">
                          <a:solidFill>
                            <a:srgbClr val="3333FF"/>
                          </a:solidFill>
                          <a:latin typeface="+mn-lt"/>
                          <a:cs typeface="Times New Roman" pitchFamily="18" charset="0"/>
                        </a:rPr>
                        <a:t>R</a:t>
                      </a:r>
                      <a:r>
                        <a:rPr lang="en-US" sz="1800" kern="0" dirty="0">
                          <a:latin typeface="+mn-lt"/>
                          <a:cs typeface="Times New Roman" pitchFamily="18" charset="0"/>
                        </a:rPr>
                        <a:t>)</a:t>
                      </a:r>
                      <a:endParaRPr lang="ru-RU" dirty="0">
                        <a:latin typeface="+mn-lt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89590"/>
                  </a:ext>
                </a:extLst>
              </a:tr>
              <a:tr h="21913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96290307"/>
                  </a:ext>
                </a:extLst>
              </a:tr>
              <a:tr h="21913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295291441"/>
                  </a:ext>
                </a:extLst>
              </a:tr>
              <a:tr h="21913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102591918"/>
                  </a:ext>
                </a:extLst>
              </a:tr>
              <a:tr h="21913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trike="sngStrike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trike="sngStrike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strike="sngStrike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8915228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45846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DD3EB650-9E63-751F-F80D-B69F2AE0D605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899592" y="1779662"/>
                <a:ext cx="7890260" cy="2902446"/>
              </a:xfrm>
            </p:spPr>
            <p:txBody>
              <a:bodyPr>
                <a:normAutofit fontScale="70000" lnSpcReduction="20000"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None/>
                  <a:tabLst/>
                  <a:defRPr/>
                </a:pPr>
                <a:r>
                  <a:rPr lang="ru-RU" dirty="0"/>
                  <a:t>Эквисоединение</a:t>
                </a:r>
              </a:p>
              <a:p>
                <a:pPr marL="179388" indent="0">
                  <a:buNone/>
                </a:pPr>
                <a:r>
                  <a:rPr lang="en-US" dirty="0"/>
                  <a:t>R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/>
                      </m:mr>
                      <m:mr>
                        <m:e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⋈</m:t>
                          </m:r>
                        </m:e>
                      </m:mr>
                      <m:m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</m:mr>
                    </m:m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S = </a:t>
                </a:r>
                <a:r>
                  <a:rPr lang="ru-RU" b="1" dirty="0" err="1"/>
                  <a:t>Ϭ</a:t>
                </a:r>
                <a:r>
                  <a:rPr lang="ru-RU" baseline="-25000" dirty="0" err="1">
                    <a:solidFill>
                      <a:schemeClr val="accent2"/>
                    </a:solidFill>
                  </a:rPr>
                  <a:t>f</a:t>
                </a:r>
                <a:r>
                  <a:rPr lang="ru-RU" dirty="0"/>
                  <a:t>(</a:t>
                </a:r>
                <a:r>
                  <a:rPr lang="en-US" dirty="0"/>
                  <a:t>R</a:t>
                </a:r>
                <a:r>
                  <a:rPr lang="ru-RU" dirty="0"/>
                  <a:t>×</a:t>
                </a:r>
                <a:r>
                  <a:rPr lang="en-US" dirty="0"/>
                  <a:t>S)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None/>
                  <a:tabLst/>
                  <a:defRPr/>
                </a:pPr>
                <a:r>
                  <a:rPr lang="ru-RU" dirty="0"/>
                  <a:t>Натуральное соединение (</a:t>
                </a:r>
                <a:r>
                  <a:rPr lang="en-US" dirty="0"/>
                  <a:t>Natural JOIN, Inner JOIN). </a:t>
                </a:r>
                <a:r>
                  <a:rPr lang="ru-RU" dirty="0"/>
                  <a:t>Для </a:t>
                </a:r>
                <a:r>
                  <a:rPr lang="en-US" dirty="0"/>
                  <a:t>R </a:t>
                </a:r>
                <a:r>
                  <a:rPr lang="ru-RU" dirty="0"/>
                  <a:t>и </a:t>
                </a:r>
                <a:r>
                  <a:rPr lang="en-US" dirty="0"/>
                  <a:t>S </a:t>
                </a:r>
                <a:r>
                  <a:rPr lang="ru-RU" dirty="0"/>
                  <a:t>имеющих одинаковые атрибуты</a:t>
                </a:r>
              </a:p>
              <a:p>
                <a:pPr marL="179388" indent="0">
                  <a:buNone/>
                </a:pPr>
                <a:r>
                  <a:rPr lang="en-US" dirty="0"/>
                  <a:t>R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⋈</m:t>
                    </m:r>
                  </m:oMath>
                </a14:m>
                <a:r>
                  <a:rPr lang="en-US" dirty="0"/>
                  <a:t>S = </a:t>
                </a:r>
                <a:r>
                  <a:rPr lang="ru-RU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π</a:t>
                </a:r>
                <a:r>
                  <a:rPr lang="ru-RU" baseline="-25000" dirty="0" err="1">
                    <a:solidFill>
                      <a:schemeClr val="accent2"/>
                    </a:solidFill>
                  </a:rPr>
                  <a:t>атр</a:t>
                </a:r>
                <a:r>
                  <a:rPr lang="en-US" baseline="-25000" dirty="0">
                    <a:solidFill>
                      <a:schemeClr val="accent2"/>
                    </a:solidFill>
                  </a:rPr>
                  <a:t>.R U </a:t>
                </a:r>
                <a:r>
                  <a:rPr lang="ru-RU" baseline="-25000" dirty="0" err="1">
                    <a:solidFill>
                      <a:schemeClr val="accent2"/>
                    </a:solidFill>
                  </a:rPr>
                  <a:t>атр</a:t>
                </a:r>
                <a:r>
                  <a:rPr lang="ru-RU" baseline="-25000" dirty="0">
                    <a:solidFill>
                      <a:schemeClr val="accent2"/>
                    </a:solidFill>
                  </a:rPr>
                  <a:t>.</a:t>
                </a:r>
                <a:r>
                  <a:rPr lang="en-US" baseline="-25000" dirty="0">
                    <a:solidFill>
                      <a:schemeClr val="accent2"/>
                    </a:solidFill>
                  </a:rPr>
                  <a:t>S</a:t>
                </a:r>
                <a:r>
                  <a:rPr lang="en-US" dirty="0">
                    <a:solidFill>
                      <a:schemeClr val="accent2"/>
                    </a:solidFill>
                  </a:rPr>
                  <a:t> </a:t>
                </a:r>
                <a:r>
                  <a:rPr lang="ru-RU" dirty="0"/>
                  <a:t>(</a:t>
                </a:r>
                <a:r>
                  <a:rPr lang="ru-RU" b="1" dirty="0" err="1"/>
                  <a:t>Ϭ</a:t>
                </a:r>
                <a:r>
                  <a:rPr lang="ru-RU" baseline="-25000" dirty="0" err="1">
                    <a:solidFill>
                      <a:schemeClr val="accent2"/>
                    </a:solidFill>
                  </a:rPr>
                  <a:t>f</a:t>
                </a:r>
                <a:r>
                  <a:rPr lang="ru-RU" dirty="0"/>
                  <a:t>(</a:t>
                </a:r>
                <a:r>
                  <a:rPr lang="en-US" dirty="0"/>
                  <a:t>R</a:t>
                </a:r>
                <a:r>
                  <a:rPr lang="ru-RU" dirty="0"/>
                  <a:t>×</a:t>
                </a:r>
                <a:r>
                  <a:rPr lang="en-US" dirty="0"/>
                  <a:t>S)), </a:t>
                </a:r>
                <a:r>
                  <a:rPr lang="ru-RU" dirty="0"/>
                  <a:t>где </a:t>
                </a:r>
                <a:r>
                  <a:rPr lang="en-US" dirty="0">
                    <a:solidFill>
                      <a:schemeClr val="accent2"/>
                    </a:solidFill>
                  </a:rPr>
                  <a:t>f</a:t>
                </a:r>
                <a:r>
                  <a:rPr lang="en-US" dirty="0"/>
                  <a:t> - </a:t>
                </a:r>
                <a:r>
                  <a:rPr lang="ru-RU" dirty="0"/>
                  <a:t>функция вида</a:t>
                </a:r>
                <a:r>
                  <a:rPr lang="en-US" dirty="0"/>
                  <a:t> </a:t>
                </a:r>
                <a:r>
                  <a:rPr lang="ru-RU" dirty="0">
                    <a:solidFill>
                      <a:schemeClr val="accent2"/>
                    </a:solidFill>
                  </a:rPr>
                  <a:t>A</a:t>
                </a:r>
                <a:r>
                  <a:rPr lang="en-US" baseline="-25000" dirty="0">
                    <a:solidFill>
                      <a:schemeClr val="accent2"/>
                    </a:solidFill>
                  </a:rPr>
                  <a:t>r</a:t>
                </a:r>
                <a:r>
                  <a:rPr lang="ru-RU" baseline="-50000" dirty="0">
                    <a:solidFill>
                      <a:schemeClr val="accent2"/>
                    </a:solidFill>
                  </a:rPr>
                  <a:t>1</a:t>
                </a:r>
                <a:r>
                  <a:rPr lang="en-US" dirty="0">
                    <a:solidFill>
                      <a:schemeClr val="accent2"/>
                    </a:solidFill>
                  </a:rPr>
                  <a:t>=</a:t>
                </a:r>
                <a:r>
                  <a:rPr lang="ru-RU" dirty="0">
                    <a:solidFill>
                      <a:schemeClr val="accent2"/>
                    </a:solidFill>
                  </a:rPr>
                  <a:t> A</a:t>
                </a:r>
                <a:r>
                  <a:rPr lang="en-US" baseline="-25000" dirty="0">
                    <a:solidFill>
                      <a:schemeClr val="accent2"/>
                    </a:solidFill>
                  </a:rPr>
                  <a:t>s</a:t>
                </a:r>
                <a:r>
                  <a:rPr lang="en-US" baseline="-50000" dirty="0">
                    <a:solidFill>
                      <a:schemeClr val="accent2"/>
                    </a:solidFill>
                  </a:rPr>
                  <a:t>1</a:t>
                </a:r>
                <a:r>
                  <a:rPr lang="ru-RU" dirty="0">
                    <a:solidFill>
                      <a:schemeClr val="accent2"/>
                    </a:solidFill>
                  </a:rPr>
                  <a:t> </a:t>
                </a:r>
                <a:r>
                  <a:rPr lang="en-US" dirty="0">
                    <a:solidFill>
                      <a:schemeClr val="accent2"/>
                    </a:solidFill>
                  </a:rPr>
                  <a:t>and</a:t>
                </a:r>
                <a:r>
                  <a:rPr lang="ru-RU" dirty="0">
                    <a:solidFill>
                      <a:schemeClr val="accent2"/>
                    </a:solidFill>
                  </a:rPr>
                  <a:t> A</a:t>
                </a:r>
                <a:r>
                  <a:rPr lang="en-US" baseline="-25000" dirty="0">
                    <a:solidFill>
                      <a:schemeClr val="accent2"/>
                    </a:solidFill>
                  </a:rPr>
                  <a:t>r</a:t>
                </a:r>
                <a:r>
                  <a:rPr lang="en-US" baseline="-50000" dirty="0">
                    <a:solidFill>
                      <a:schemeClr val="accent2"/>
                    </a:solidFill>
                  </a:rPr>
                  <a:t>2</a:t>
                </a:r>
                <a:r>
                  <a:rPr lang="en-US" dirty="0">
                    <a:solidFill>
                      <a:schemeClr val="accent2"/>
                    </a:solidFill>
                  </a:rPr>
                  <a:t>=</a:t>
                </a:r>
                <a:r>
                  <a:rPr lang="ru-RU" dirty="0">
                    <a:solidFill>
                      <a:schemeClr val="accent2"/>
                    </a:solidFill>
                  </a:rPr>
                  <a:t> A</a:t>
                </a:r>
                <a:r>
                  <a:rPr lang="en-US" baseline="-25000" dirty="0">
                    <a:solidFill>
                      <a:schemeClr val="accent2"/>
                    </a:solidFill>
                  </a:rPr>
                  <a:t>s</a:t>
                </a:r>
                <a:r>
                  <a:rPr lang="en-US" baseline="-50000" dirty="0">
                    <a:solidFill>
                      <a:schemeClr val="accent2"/>
                    </a:solidFill>
                  </a:rPr>
                  <a:t>2</a:t>
                </a:r>
                <a:r>
                  <a:rPr lang="en-US" dirty="0"/>
                  <a:t>, …</a:t>
                </a:r>
                <a:r>
                  <a:rPr lang="ru-RU" dirty="0"/>
                  <a:t>,</a:t>
                </a:r>
                <a:r>
                  <a:rPr lang="en-US" dirty="0"/>
                  <a:t> </a:t>
                </a:r>
                <a:r>
                  <a:rPr lang="ru-RU" dirty="0"/>
                  <a:t>а </a:t>
                </a:r>
                <a:br>
                  <a:rPr lang="en-US" dirty="0"/>
                </a:br>
                <a:br>
                  <a:rPr lang="en-US" dirty="0"/>
                </a:br>
                <a:r>
                  <a:rPr lang="ru-RU" dirty="0">
                    <a:solidFill>
                      <a:schemeClr val="accent2"/>
                    </a:solidFill>
                  </a:rPr>
                  <a:t>A</a:t>
                </a:r>
                <a:r>
                  <a:rPr lang="en-US" baseline="-25000" dirty="0" err="1">
                    <a:solidFill>
                      <a:schemeClr val="accent2"/>
                    </a:solidFill>
                  </a:rPr>
                  <a:t>r</a:t>
                </a:r>
                <a:r>
                  <a:rPr lang="en-US" baseline="-50000" dirty="0" err="1">
                    <a:solidFill>
                      <a:schemeClr val="accent2"/>
                    </a:solidFill>
                  </a:rPr>
                  <a:t>i</a:t>
                </a:r>
                <a:r>
                  <a:rPr lang="en-US" dirty="0">
                    <a:solidFill>
                      <a:schemeClr val="accent2"/>
                    </a:solidFill>
                  </a:rPr>
                  <a:t>=</a:t>
                </a:r>
                <a:r>
                  <a:rPr lang="ru-RU" dirty="0">
                    <a:solidFill>
                      <a:schemeClr val="accent2"/>
                    </a:solidFill>
                  </a:rPr>
                  <a:t> A</a:t>
                </a:r>
                <a:r>
                  <a:rPr lang="en-US" baseline="-25000" dirty="0" err="1">
                    <a:solidFill>
                      <a:schemeClr val="accent2"/>
                    </a:solidFill>
                  </a:rPr>
                  <a:t>s</a:t>
                </a:r>
                <a:r>
                  <a:rPr lang="en-US" baseline="-50000" dirty="0" err="1">
                    <a:solidFill>
                      <a:schemeClr val="accent2"/>
                    </a:solidFill>
                  </a:rPr>
                  <a:t>i</a:t>
                </a:r>
                <a:r>
                  <a:rPr lang="en-US" dirty="0"/>
                  <a:t> – </a:t>
                </a:r>
                <a:r>
                  <a:rPr lang="ru-RU" dirty="0"/>
                  <a:t>одинаковые атрибуты из </a:t>
                </a:r>
                <a:r>
                  <a:rPr lang="en-US" dirty="0"/>
                  <a:t>R </a:t>
                </a:r>
                <a:r>
                  <a:rPr lang="ru-RU" dirty="0"/>
                  <a:t>и </a:t>
                </a:r>
                <a:r>
                  <a:rPr lang="en-US" dirty="0"/>
                  <a:t>S</a:t>
                </a:r>
              </a:p>
              <a:p>
                <a:pPr marL="0" indent="0">
                  <a:buNone/>
                  <a:defRPr/>
                </a:pPr>
                <a:r>
                  <a:rPr lang="en-US" dirty="0"/>
                  <a:t>Left OUTER JOIN  R 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u2400"/>
                  </a:rPr>
                  <a:t>⟕ </a:t>
                </a:r>
                <a:r>
                  <a:rPr lang="en-US" dirty="0"/>
                  <a:t>S</a:t>
                </a:r>
              </a:p>
              <a:p>
                <a:pPr marL="0" indent="0">
                  <a:buNone/>
                  <a:defRPr/>
                </a:pPr>
                <a:r>
                  <a:rPr lang="en-US" dirty="0"/>
                  <a:t>Right OUTER JOIN R 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u2400"/>
                  </a:rPr>
                  <a:t>⟖ </a:t>
                </a:r>
                <a:r>
                  <a:rPr lang="en-US" dirty="0"/>
                  <a:t>S </a:t>
                </a:r>
              </a:p>
              <a:p>
                <a:pPr marL="0" indent="0">
                  <a:buNone/>
                  <a:defRPr/>
                </a:pPr>
                <a:r>
                  <a:rPr lang="en-US" dirty="0"/>
                  <a:t>Full OUTER JOIN R 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u2400"/>
                  </a:rPr>
                  <a:t>⟗ </a:t>
                </a:r>
                <a:r>
                  <a:rPr lang="en-US" dirty="0"/>
                  <a:t>S</a:t>
                </a:r>
                <a:endParaRPr lang="ru-RU" dirty="0"/>
              </a:p>
            </p:txBody>
          </p:sp>
        </mc:Choice>
        <mc:Fallback xmlns="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DD3EB650-9E63-751F-F80D-B69F2AE0D6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899592" y="1779662"/>
                <a:ext cx="7890260" cy="2902446"/>
              </a:xfrm>
              <a:blipFill>
                <a:blip r:embed="rId3"/>
                <a:stretch>
                  <a:fillRect l="-232" t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E613E8-2542-5D52-6B08-83D2CD458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C1CFAB7-A6DF-47EB-CAA2-F157A1E11F2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cap="all" dirty="0"/>
              <a:t>Соединения (</a:t>
            </a:r>
            <a:r>
              <a:rPr lang="en-US" cap="all" dirty="0"/>
              <a:t>JOIN)</a:t>
            </a:r>
            <a:endParaRPr lang="ru-RU" cap="all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DD22BE3-8884-E771-1CEB-92ECAB0B2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Реляционная алгебра</a:t>
            </a:r>
            <a:r>
              <a:rPr lang="en-US" dirty="0"/>
              <a:t> (</a:t>
            </a:r>
            <a:r>
              <a:rPr lang="ru-RU" dirty="0"/>
              <a:t>продолжение)</a:t>
            </a:r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D5F0679-1F09-D764-F6A1-2D02068452FA}"/>
              </a:ext>
            </a:extLst>
          </p:cNvPr>
          <p:cNvGrpSpPr/>
          <p:nvPr/>
        </p:nvGrpSpPr>
        <p:grpSpPr>
          <a:xfrm>
            <a:off x="494923" y="3867894"/>
            <a:ext cx="404670" cy="234736"/>
            <a:chOff x="2642226" y="4128612"/>
            <a:chExt cx="404670" cy="234736"/>
          </a:xfrm>
        </p:grpSpPr>
        <p:sp>
          <p:nvSpPr>
            <p:cNvPr id="8" name="Овал 12">
              <a:extLst>
                <a:ext uri="{FF2B5EF4-FFF2-40B4-BE49-F238E27FC236}">
                  <a16:creationId xmlns:a16="http://schemas.microsoft.com/office/drawing/2014/main" id="{7A52FF24-884B-3242-0A11-E633CD24E11D}"/>
                </a:ext>
              </a:extLst>
            </p:cNvPr>
            <p:cNvSpPr/>
            <p:nvPr/>
          </p:nvSpPr>
          <p:spPr>
            <a:xfrm>
              <a:off x="2794559" y="4128613"/>
              <a:ext cx="252337" cy="23473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Овал 13">
              <a:extLst>
                <a:ext uri="{FF2B5EF4-FFF2-40B4-BE49-F238E27FC236}">
                  <a16:creationId xmlns:a16="http://schemas.microsoft.com/office/drawing/2014/main" id="{5820910F-EBA6-246A-391F-D6A3268FD7F3}"/>
                </a:ext>
              </a:extLst>
            </p:cNvPr>
            <p:cNvSpPr/>
            <p:nvPr/>
          </p:nvSpPr>
          <p:spPr>
            <a:xfrm>
              <a:off x="2642226" y="4128612"/>
              <a:ext cx="252337" cy="23473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B7EA62C-CD81-4761-F47B-E75E7B1F9C76}"/>
              </a:ext>
            </a:extLst>
          </p:cNvPr>
          <p:cNvGrpSpPr/>
          <p:nvPr/>
        </p:nvGrpSpPr>
        <p:grpSpPr>
          <a:xfrm>
            <a:off x="494923" y="3594551"/>
            <a:ext cx="404669" cy="234736"/>
            <a:chOff x="2642227" y="3813519"/>
            <a:chExt cx="404669" cy="234736"/>
          </a:xfrm>
        </p:grpSpPr>
        <p:sp>
          <p:nvSpPr>
            <p:cNvPr id="16" name="Овал 12">
              <a:extLst>
                <a:ext uri="{FF2B5EF4-FFF2-40B4-BE49-F238E27FC236}">
                  <a16:creationId xmlns:a16="http://schemas.microsoft.com/office/drawing/2014/main" id="{F72608C3-4CF4-43B0-1103-6A9344586A2A}"/>
                </a:ext>
              </a:extLst>
            </p:cNvPr>
            <p:cNvSpPr/>
            <p:nvPr/>
          </p:nvSpPr>
          <p:spPr>
            <a:xfrm>
              <a:off x="2642227" y="3813520"/>
              <a:ext cx="252337" cy="23473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Овал 13">
              <a:extLst>
                <a:ext uri="{FF2B5EF4-FFF2-40B4-BE49-F238E27FC236}">
                  <a16:creationId xmlns:a16="http://schemas.microsoft.com/office/drawing/2014/main" id="{5DF44358-A185-3A22-6650-E20F607EA410}"/>
                </a:ext>
              </a:extLst>
            </p:cNvPr>
            <p:cNvSpPr/>
            <p:nvPr/>
          </p:nvSpPr>
          <p:spPr>
            <a:xfrm>
              <a:off x="2794559" y="3813519"/>
              <a:ext cx="252337" cy="23473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D510F45-8B0E-ADFD-0840-9DC38C8380BC}"/>
              </a:ext>
            </a:extLst>
          </p:cNvPr>
          <p:cNvGrpSpPr/>
          <p:nvPr/>
        </p:nvGrpSpPr>
        <p:grpSpPr>
          <a:xfrm>
            <a:off x="494923" y="4141239"/>
            <a:ext cx="417643" cy="234735"/>
            <a:chOff x="2638289" y="4443704"/>
            <a:chExt cx="417643" cy="234735"/>
          </a:xfrm>
        </p:grpSpPr>
        <p:sp>
          <p:nvSpPr>
            <p:cNvPr id="13" name="Овал 16">
              <a:extLst>
                <a:ext uri="{FF2B5EF4-FFF2-40B4-BE49-F238E27FC236}">
                  <a16:creationId xmlns:a16="http://schemas.microsoft.com/office/drawing/2014/main" id="{161B5233-8E56-EBE8-A3E5-273D04ECE612}"/>
                </a:ext>
              </a:extLst>
            </p:cNvPr>
            <p:cNvSpPr/>
            <p:nvPr/>
          </p:nvSpPr>
          <p:spPr>
            <a:xfrm>
              <a:off x="2642785" y="4443704"/>
              <a:ext cx="252337" cy="23473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Овал 15">
              <a:extLst>
                <a:ext uri="{FF2B5EF4-FFF2-40B4-BE49-F238E27FC236}">
                  <a16:creationId xmlns:a16="http://schemas.microsoft.com/office/drawing/2014/main" id="{2B813DCB-579C-53E2-07C4-35FA114F3C95}"/>
                </a:ext>
              </a:extLst>
            </p:cNvPr>
            <p:cNvSpPr/>
            <p:nvPr/>
          </p:nvSpPr>
          <p:spPr>
            <a:xfrm>
              <a:off x="2803595" y="4443704"/>
              <a:ext cx="252337" cy="234735"/>
            </a:xfrm>
            <a:prstGeom prst="ellipse">
              <a:avLst/>
            </a:prstGeom>
            <a:effectLst>
              <a:glow rad="127000">
                <a:schemeClr val="accent1">
                  <a:alpha val="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Овал 16">
              <a:extLst>
                <a:ext uri="{FF2B5EF4-FFF2-40B4-BE49-F238E27FC236}">
                  <a16:creationId xmlns:a16="http://schemas.microsoft.com/office/drawing/2014/main" id="{EE6ED6DD-7523-D408-B2EA-94AA84DF7083}"/>
                </a:ext>
              </a:extLst>
            </p:cNvPr>
            <p:cNvSpPr/>
            <p:nvPr/>
          </p:nvSpPr>
          <p:spPr>
            <a:xfrm>
              <a:off x="2638289" y="4443704"/>
              <a:ext cx="252337" cy="23473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11F7FA2-2A2F-1789-765D-120BFA6C74A5}"/>
              </a:ext>
            </a:extLst>
          </p:cNvPr>
          <p:cNvGrpSpPr/>
          <p:nvPr/>
        </p:nvGrpSpPr>
        <p:grpSpPr>
          <a:xfrm>
            <a:off x="486093" y="1753102"/>
            <a:ext cx="404669" cy="235215"/>
            <a:chOff x="3203848" y="3872991"/>
            <a:chExt cx="404669" cy="235215"/>
          </a:xfrm>
        </p:grpSpPr>
        <p:sp>
          <p:nvSpPr>
            <p:cNvPr id="24" name="Овал 13">
              <a:extLst>
                <a:ext uri="{FF2B5EF4-FFF2-40B4-BE49-F238E27FC236}">
                  <a16:creationId xmlns:a16="http://schemas.microsoft.com/office/drawing/2014/main" id="{13610FB1-F443-8501-888E-909F72CD10B6}"/>
                </a:ext>
              </a:extLst>
            </p:cNvPr>
            <p:cNvSpPr/>
            <p:nvPr/>
          </p:nvSpPr>
          <p:spPr>
            <a:xfrm>
              <a:off x="3356180" y="3872991"/>
              <a:ext cx="252337" cy="23473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914DC8EC-B0EB-20A5-C7F8-25CB020DD11E}"/>
                </a:ext>
              </a:extLst>
            </p:cNvPr>
            <p:cNvSpPr/>
            <p:nvPr/>
          </p:nvSpPr>
          <p:spPr>
            <a:xfrm>
              <a:off x="3356179" y="3899182"/>
              <a:ext cx="100006" cy="182352"/>
            </a:xfrm>
            <a:custGeom>
              <a:avLst/>
              <a:gdLst>
                <a:gd name="connsiteX0" fmla="*/ 50002 w 100006"/>
                <a:gd name="connsiteY0" fmla="*/ 0 h 182352"/>
                <a:gd name="connsiteX1" fmla="*/ 63052 w 100006"/>
                <a:gd name="connsiteY1" fmla="*/ 8184 h 182352"/>
                <a:gd name="connsiteX2" fmla="*/ 100006 w 100006"/>
                <a:gd name="connsiteY2" fmla="*/ 91176 h 182352"/>
                <a:gd name="connsiteX3" fmla="*/ 63052 w 100006"/>
                <a:gd name="connsiteY3" fmla="*/ 174168 h 182352"/>
                <a:gd name="connsiteX4" fmla="*/ 50004 w 100006"/>
                <a:gd name="connsiteY4" fmla="*/ 182352 h 182352"/>
                <a:gd name="connsiteX5" fmla="*/ 36954 w 100006"/>
                <a:gd name="connsiteY5" fmla="*/ 174167 h 182352"/>
                <a:gd name="connsiteX6" fmla="*/ 0 w 100006"/>
                <a:gd name="connsiteY6" fmla="*/ 91175 h 182352"/>
                <a:gd name="connsiteX7" fmla="*/ 36954 w 100006"/>
                <a:gd name="connsiteY7" fmla="*/ 8183 h 182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0006" h="182352">
                  <a:moveTo>
                    <a:pt x="50002" y="0"/>
                  </a:moveTo>
                  <a:lnTo>
                    <a:pt x="63052" y="8184"/>
                  </a:lnTo>
                  <a:cubicBezTo>
                    <a:pt x="85884" y="29424"/>
                    <a:pt x="100006" y="58766"/>
                    <a:pt x="100006" y="91176"/>
                  </a:cubicBezTo>
                  <a:cubicBezTo>
                    <a:pt x="100006" y="123587"/>
                    <a:pt x="85884" y="152929"/>
                    <a:pt x="63052" y="174168"/>
                  </a:cubicBezTo>
                  <a:lnTo>
                    <a:pt x="50004" y="182352"/>
                  </a:lnTo>
                  <a:lnTo>
                    <a:pt x="36954" y="174167"/>
                  </a:lnTo>
                  <a:cubicBezTo>
                    <a:pt x="14122" y="152928"/>
                    <a:pt x="0" y="123586"/>
                    <a:pt x="0" y="91175"/>
                  </a:cubicBezTo>
                  <a:cubicBezTo>
                    <a:pt x="0" y="58765"/>
                    <a:pt x="14122" y="29423"/>
                    <a:pt x="36954" y="8183"/>
                  </a:cubicBez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/>
            </a:p>
          </p:txBody>
        </p:sp>
        <p:sp>
          <p:nvSpPr>
            <p:cNvPr id="29" name="Овал 13">
              <a:extLst>
                <a:ext uri="{FF2B5EF4-FFF2-40B4-BE49-F238E27FC236}">
                  <a16:creationId xmlns:a16="http://schemas.microsoft.com/office/drawing/2014/main" id="{C9A50A83-13C4-B300-3293-918800C9526D}"/>
                </a:ext>
              </a:extLst>
            </p:cNvPr>
            <p:cNvSpPr/>
            <p:nvPr/>
          </p:nvSpPr>
          <p:spPr>
            <a:xfrm>
              <a:off x="3203848" y="3873471"/>
              <a:ext cx="252337" cy="23473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9347832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C131C38B-5227-46BC-511A-8F9E0AD42D8B}"/>
              </a:ext>
            </a:extLst>
          </p:cNvPr>
          <p:cNvSpPr/>
          <p:nvPr/>
        </p:nvSpPr>
        <p:spPr>
          <a:xfrm>
            <a:off x="350838" y="1638172"/>
            <a:ext cx="4149154" cy="1607555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E613E8-2542-5D52-6B08-83D2CD458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288" y="4681538"/>
            <a:ext cx="393700" cy="314325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C1CFAB7-A6DF-47EB-CAA2-F157A1E11F2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8" y="1301115"/>
            <a:ext cx="8542337" cy="382588"/>
          </a:xfrm>
        </p:spPr>
        <p:txBody>
          <a:bodyPr/>
          <a:lstStyle/>
          <a:p>
            <a:r>
              <a:rPr lang="ru-RU" cap="all" dirty="0"/>
              <a:t>Примеры соединений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DD22BE3-8884-E771-1CEB-92ECAB0B2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/>
          <a:lstStyle/>
          <a:p>
            <a:r>
              <a:rPr lang="ru-RU" dirty="0"/>
              <a:t>Реляционная алгебра</a:t>
            </a:r>
            <a:r>
              <a:rPr lang="en-US" dirty="0"/>
              <a:t> (</a:t>
            </a:r>
            <a:r>
              <a:rPr lang="ru-RU" dirty="0"/>
              <a:t>продолжение)</a:t>
            </a:r>
            <a:endParaRPr 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07DC706-C754-EF57-6280-4EEC884BA6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5275086"/>
              </p:ext>
            </p:extLst>
          </p:nvPr>
        </p:nvGraphicFramePr>
        <p:xfrm>
          <a:off x="407909" y="1948815"/>
          <a:ext cx="624840" cy="1219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91060249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0164178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063595217"/>
                    </a:ext>
                  </a:extLst>
                </a:gridCol>
              </a:tblGrid>
              <a:tr h="12603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843895"/>
                  </a:ext>
                </a:extLst>
              </a:tr>
              <a:tr h="12603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9719409"/>
                  </a:ext>
                </a:extLst>
              </a:tr>
              <a:tr h="12603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672874"/>
                  </a:ext>
                </a:extLst>
              </a:tr>
              <a:tr h="12603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99228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F0C61C4-FC2E-7606-389A-E8904A9053EB}"/>
                  </a:ext>
                </a:extLst>
              </p:cNvPr>
              <p:cNvSpPr txBox="1"/>
              <p:nvPr/>
            </p:nvSpPr>
            <p:spPr>
              <a:xfrm>
                <a:off x="1032750" y="2017078"/>
                <a:ext cx="841500" cy="5386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⋈</m:t>
                      </m:r>
                    </m:oMath>
                    <m:oMath xmlns:m="http://schemas.openxmlformats.org/officeDocument/2006/math">
                      <m:r>
                        <a:rPr lang="en-US" sz="9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n-US" sz="9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9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sz="9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9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en-US" sz="9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9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br>
                  <a:rPr lang="en-US" sz="2400" b="0" dirty="0">
                    <a:ea typeface="Cambria Math" panose="02040503050406030204" pitchFamily="18" charset="0"/>
                  </a:rPr>
                </a:br>
                <a:endParaRPr lang="en-US" sz="2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F0C61C4-FC2E-7606-389A-E8904A9053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750" y="2017078"/>
                <a:ext cx="841500" cy="5386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45DC4C88-73F1-9D80-FBE1-2E2A51763DCA}"/>
              </a:ext>
            </a:extLst>
          </p:cNvPr>
          <p:cNvSpPr txBox="1"/>
          <p:nvPr/>
        </p:nvSpPr>
        <p:spPr>
          <a:xfrm>
            <a:off x="407909" y="1683703"/>
            <a:ext cx="203651" cy="276999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r>
              <a:rPr lang="en-US" dirty="0"/>
              <a:t>R</a:t>
            </a: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53413628-60D2-4B80-41CE-51623E709D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4832490"/>
              </p:ext>
            </p:extLst>
          </p:nvPr>
        </p:nvGraphicFramePr>
        <p:xfrm>
          <a:off x="1874249" y="1948815"/>
          <a:ext cx="416560" cy="9144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91060249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01641781"/>
                    </a:ext>
                  </a:extLst>
                </a:gridCol>
              </a:tblGrid>
              <a:tr h="12603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843895"/>
                  </a:ext>
                </a:extLst>
              </a:tr>
              <a:tr h="12603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9719409"/>
                  </a:ext>
                </a:extLst>
              </a:tr>
              <a:tr h="12603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672874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D7606B91-D1CF-30F6-763D-8637E0C21578}"/>
              </a:ext>
            </a:extLst>
          </p:cNvPr>
          <p:cNvSpPr txBox="1"/>
          <p:nvPr/>
        </p:nvSpPr>
        <p:spPr>
          <a:xfrm>
            <a:off x="1874249" y="1683703"/>
            <a:ext cx="203651" cy="276999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r>
              <a:rPr lang="en-US" dirty="0"/>
              <a:t>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8E653D7-6E28-CD08-88FC-34F0439B3971}"/>
                  </a:ext>
                </a:extLst>
              </p:cNvPr>
              <p:cNvSpPr txBox="1"/>
              <p:nvPr/>
            </p:nvSpPr>
            <p:spPr>
              <a:xfrm>
                <a:off x="2290809" y="2021592"/>
                <a:ext cx="552999" cy="4001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br>
                  <a:rPr lang="en-US" sz="2400" b="0" dirty="0">
                    <a:ea typeface="Cambria Math" panose="02040503050406030204" pitchFamily="18" charset="0"/>
                  </a:rPr>
                </a:br>
                <a:endParaRPr lang="en-US" sz="20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8E653D7-6E28-CD08-88FC-34F0439B39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0809" y="2021592"/>
                <a:ext cx="552999" cy="40017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66917004-2600-99A1-7A58-920AEF04CC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8975642"/>
              </p:ext>
            </p:extLst>
          </p:nvPr>
        </p:nvGraphicFramePr>
        <p:xfrm>
          <a:off x="2843808" y="1944251"/>
          <a:ext cx="1520287" cy="1219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73630">
                  <a:extLst>
                    <a:ext uri="{9D8B030D-6E8A-4147-A177-3AD203B41FA5}">
                      <a16:colId xmlns:a16="http://schemas.microsoft.com/office/drawing/2014/main" val="910602493"/>
                    </a:ext>
                  </a:extLst>
                </a:gridCol>
                <a:gridCol w="273630">
                  <a:extLst>
                    <a:ext uri="{9D8B030D-6E8A-4147-A177-3AD203B41FA5}">
                      <a16:colId xmlns:a16="http://schemas.microsoft.com/office/drawing/2014/main" val="1301641781"/>
                    </a:ext>
                  </a:extLst>
                </a:gridCol>
                <a:gridCol w="273630">
                  <a:extLst>
                    <a:ext uri="{9D8B030D-6E8A-4147-A177-3AD203B41FA5}">
                      <a16:colId xmlns:a16="http://schemas.microsoft.com/office/drawing/2014/main" val="3063595217"/>
                    </a:ext>
                  </a:extLst>
                </a:gridCol>
                <a:gridCol w="383427">
                  <a:extLst>
                    <a:ext uri="{9D8B030D-6E8A-4147-A177-3AD203B41FA5}">
                      <a16:colId xmlns:a16="http://schemas.microsoft.com/office/drawing/2014/main" val="1792335430"/>
                    </a:ext>
                  </a:extLst>
                </a:gridCol>
                <a:gridCol w="315970">
                  <a:extLst>
                    <a:ext uri="{9D8B030D-6E8A-4147-A177-3AD203B41FA5}">
                      <a16:colId xmlns:a16="http://schemas.microsoft.com/office/drawing/2014/main" val="3885190725"/>
                    </a:ext>
                  </a:extLst>
                </a:gridCol>
              </a:tblGrid>
              <a:tr h="12603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843895"/>
                  </a:ext>
                </a:extLst>
              </a:tr>
              <a:tr h="12603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9719409"/>
                  </a:ext>
                </a:extLst>
              </a:tr>
              <a:tr h="12603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672874"/>
                  </a:ext>
                </a:extLst>
              </a:tr>
              <a:tr h="12603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9922850"/>
                  </a:ext>
                </a:extLst>
              </a:tr>
            </a:tbl>
          </a:graphicData>
        </a:graphic>
      </p:graphicFrame>
      <p:sp>
        <p:nvSpPr>
          <p:cNvPr id="34" name="Rectangle 33">
            <a:extLst>
              <a:ext uri="{FF2B5EF4-FFF2-40B4-BE49-F238E27FC236}">
                <a16:creationId xmlns:a16="http://schemas.microsoft.com/office/drawing/2014/main" id="{F1DD4F30-218B-943A-6683-14D566B4AE1C}"/>
              </a:ext>
            </a:extLst>
          </p:cNvPr>
          <p:cNvSpPr/>
          <p:nvPr/>
        </p:nvSpPr>
        <p:spPr>
          <a:xfrm>
            <a:off x="4836353" y="1341575"/>
            <a:ext cx="3888068" cy="1170880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0E82C3A-7255-1420-CBDB-C4B1CCCB40F8}"/>
                  </a:ext>
                </a:extLst>
              </p:cNvPr>
              <p:cNvSpPr txBox="1"/>
              <p:nvPr/>
            </p:nvSpPr>
            <p:spPr>
              <a:xfrm>
                <a:off x="4893424" y="1381139"/>
                <a:ext cx="851723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r>
                  <a:rPr lang="en-US" dirty="0"/>
                  <a:t>R</a:t>
                </a:r>
                <a:r>
                  <a:rPr lang="en-US" sz="1800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⋈</m:t>
                    </m:r>
                    <m:r>
                      <m:rPr>
                        <m:nor/>
                      </m:rPr>
                      <a:rPr lang="en-US" dirty="0"/>
                      <m:t>S</m:t>
                    </m:r>
                    <m:r>
                      <m:rPr>
                        <m:nor/>
                      </m:rPr>
                      <a:rPr lang="en-US" b="0" i="0" dirty="0" smtClean="0"/>
                      <m:t>  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0E82C3A-7255-1420-CBDB-C4B1CCCB40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3424" y="1381139"/>
                <a:ext cx="851723" cy="276999"/>
              </a:xfrm>
              <a:prstGeom prst="rect">
                <a:avLst/>
              </a:prstGeom>
              <a:blipFill>
                <a:blip r:embed="rId5"/>
                <a:stretch>
                  <a:fillRect l="-17266" t="-28889" b="-5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3CFBB99-DDA3-19E0-924F-D4EF19CF1BE1}"/>
                  </a:ext>
                </a:extLst>
              </p:cNvPr>
              <p:cNvSpPr txBox="1"/>
              <p:nvPr/>
            </p:nvSpPr>
            <p:spPr>
              <a:xfrm>
                <a:off x="5468647" y="1300798"/>
                <a:ext cx="552999" cy="4001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br>
                  <a:rPr lang="en-US" sz="2400" b="0" dirty="0">
                    <a:ea typeface="Cambria Math" panose="02040503050406030204" pitchFamily="18" charset="0"/>
                  </a:rPr>
                </a:br>
                <a:endParaRPr lang="en-US" sz="2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3CFBB99-DDA3-19E0-924F-D4EF19CF1B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8647" y="1300798"/>
                <a:ext cx="552999" cy="40017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9FFDFC3B-FCCE-90CA-2389-39E02C75E6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9268594"/>
              </p:ext>
            </p:extLst>
          </p:nvPr>
        </p:nvGraphicFramePr>
        <p:xfrm>
          <a:off x="5943204" y="1394536"/>
          <a:ext cx="833120" cy="9144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91060249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0164178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06359521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885190725"/>
                    </a:ext>
                  </a:extLst>
                </a:gridCol>
              </a:tblGrid>
              <a:tr h="12603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843895"/>
                  </a:ext>
                </a:extLst>
              </a:tr>
              <a:tr h="12603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9719409"/>
                  </a:ext>
                </a:extLst>
              </a:tr>
              <a:tr h="12603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672874"/>
                  </a:ext>
                </a:extLst>
              </a:tr>
            </a:tbl>
          </a:graphicData>
        </a:graphic>
      </p:graphicFrame>
      <p:sp>
        <p:nvSpPr>
          <p:cNvPr id="40" name="Rectangle 39">
            <a:extLst>
              <a:ext uri="{FF2B5EF4-FFF2-40B4-BE49-F238E27FC236}">
                <a16:creationId xmlns:a16="http://schemas.microsoft.com/office/drawing/2014/main" id="{067CB857-103F-56BC-A6B5-F32F268C10C0}"/>
              </a:ext>
            </a:extLst>
          </p:cNvPr>
          <p:cNvSpPr/>
          <p:nvPr/>
        </p:nvSpPr>
        <p:spPr>
          <a:xfrm>
            <a:off x="348179" y="3349859"/>
            <a:ext cx="4149154" cy="1350438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00BD783-FC5B-4A8D-6E2D-1144383A2791}"/>
              </a:ext>
            </a:extLst>
          </p:cNvPr>
          <p:cNvSpPr txBox="1"/>
          <p:nvPr/>
        </p:nvSpPr>
        <p:spPr>
          <a:xfrm>
            <a:off x="405250" y="3389423"/>
            <a:ext cx="575223" cy="276999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r>
              <a:rPr lang="en-US" dirty="0"/>
              <a:t>R⟕S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90CC70D-C2F5-097D-4871-FDFE59B31602}"/>
                  </a:ext>
                </a:extLst>
              </p:cNvPr>
              <p:cNvSpPr txBox="1"/>
              <p:nvPr/>
            </p:nvSpPr>
            <p:spPr>
              <a:xfrm>
                <a:off x="980473" y="3309082"/>
                <a:ext cx="454656" cy="4001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br>
                  <a:rPr lang="en-US" sz="2400" b="0" dirty="0">
                    <a:ea typeface="Cambria Math" panose="02040503050406030204" pitchFamily="18" charset="0"/>
                  </a:rPr>
                </a:br>
                <a:endParaRPr lang="en-US" sz="2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90CC70D-C2F5-097D-4871-FDFE59B316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473" y="3309082"/>
                <a:ext cx="454656" cy="40017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0B53F60E-343E-1897-2899-686079A9D9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4986852"/>
              </p:ext>
            </p:extLst>
          </p:nvPr>
        </p:nvGraphicFramePr>
        <p:xfrm>
          <a:off x="1435129" y="3423999"/>
          <a:ext cx="1536568" cy="1219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56088">
                  <a:extLst>
                    <a:ext uri="{9D8B030D-6E8A-4147-A177-3AD203B41FA5}">
                      <a16:colId xmlns:a16="http://schemas.microsoft.com/office/drawing/2014/main" val="910602493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1301641781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3063595217"/>
                    </a:ext>
                  </a:extLst>
                </a:gridCol>
                <a:gridCol w="704416">
                  <a:extLst>
                    <a:ext uri="{9D8B030D-6E8A-4147-A177-3AD203B41FA5}">
                      <a16:colId xmlns:a16="http://schemas.microsoft.com/office/drawing/2014/main" val="3885190725"/>
                    </a:ext>
                  </a:extLst>
                </a:gridCol>
              </a:tblGrid>
              <a:tr h="19679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843895"/>
                  </a:ext>
                </a:extLst>
              </a:tr>
              <a:tr h="19679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9719409"/>
                  </a:ext>
                </a:extLst>
              </a:tr>
              <a:tr h="19679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672874"/>
                  </a:ext>
                </a:extLst>
              </a:tr>
              <a:tr h="19679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9922850"/>
                  </a:ext>
                </a:extLst>
              </a:tr>
            </a:tbl>
          </a:graphicData>
        </a:graphic>
      </p:graphicFrame>
      <p:sp>
        <p:nvSpPr>
          <p:cNvPr id="47" name="Rectangle 46">
            <a:extLst>
              <a:ext uri="{FF2B5EF4-FFF2-40B4-BE49-F238E27FC236}">
                <a16:creationId xmlns:a16="http://schemas.microsoft.com/office/drawing/2014/main" id="{5F8CAC17-E198-C3E1-2087-B3ED14A51A9D}"/>
              </a:ext>
            </a:extLst>
          </p:cNvPr>
          <p:cNvSpPr/>
          <p:nvPr/>
        </p:nvSpPr>
        <p:spPr>
          <a:xfrm>
            <a:off x="4844318" y="2604781"/>
            <a:ext cx="3880103" cy="1763677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E42AD99-3C6E-90F3-B88F-B8BF890E6E79}"/>
              </a:ext>
            </a:extLst>
          </p:cNvPr>
          <p:cNvSpPr txBox="1"/>
          <p:nvPr/>
        </p:nvSpPr>
        <p:spPr>
          <a:xfrm>
            <a:off x="4901390" y="2730698"/>
            <a:ext cx="686799" cy="276999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r>
              <a:rPr lang="en-US" dirty="0"/>
              <a:t>R</a:t>
            </a:r>
            <a:r>
              <a:rPr lang="en-US" b="0" i="0" dirty="0">
                <a:solidFill>
                  <a:srgbClr val="000000"/>
                </a:solidFill>
                <a:effectLst/>
                <a:latin typeface="u2400"/>
              </a:rPr>
              <a:t> ⟗ </a:t>
            </a:r>
            <a:r>
              <a:rPr lang="en-US" dirty="0"/>
              <a:t>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2BE6537-AD10-D4EF-C01A-71E5179F8E22}"/>
                  </a:ext>
                </a:extLst>
              </p:cNvPr>
              <p:cNvSpPr txBox="1"/>
              <p:nvPr/>
            </p:nvSpPr>
            <p:spPr>
              <a:xfrm>
                <a:off x="5476613" y="2650357"/>
                <a:ext cx="454656" cy="4001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br>
                  <a:rPr lang="en-US" sz="2400" b="0" dirty="0">
                    <a:ea typeface="Cambria Math" panose="02040503050406030204" pitchFamily="18" charset="0"/>
                  </a:rPr>
                </a:br>
                <a:endParaRPr lang="en-US" sz="20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2BE6537-AD10-D4EF-C01A-71E5179F8E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6613" y="2650357"/>
                <a:ext cx="454656" cy="40017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0" name="Table 49">
            <a:extLst>
              <a:ext uri="{FF2B5EF4-FFF2-40B4-BE49-F238E27FC236}">
                <a16:creationId xmlns:a16="http://schemas.microsoft.com/office/drawing/2014/main" id="{300FE631-3E93-04BA-8C49-29B11FF061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8557142"/>
              </p:ext>
            </p:extLst>
          </p:nvPr>
        </p:nvGraphicFramePr>
        <p:xfrm>
          <a:off x="5931268" y="2765274"/>
          <a:ext cx="2720259" cy="15240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22630">
                  <a:extLst>
                    <a:ext uri="{9D8B030D-6E8A-4147-A177-3AD203B41FA5}">
                      <a16:colId xmlns:a16="http://schemas.microsoft.com/office/drawing/2014/main" val="910602493"/>
                    </a:ext>
                  </a:extLst>
                </a:gridCol>
                <a:gridCol w="373380">
                  <a:extLst>
                    <a:ext uri="{9D8B030D-6E8A-4147-A177-3AD203B41FA5}">
                      <a16:colId xmlns:a16="http://schemas.microsoft.com/office/drawing/2014/main" val="1301641781"/>
                    </a:ext>
                  </a:extLst>
                </a:gridCol>
                <a:gridCol w="722630">
                  <a:extLst>
                    <a:ext uri="{9D8B030D-6E8A-4147-A177-3AD203B41FA5}">
                      <a16:colId xmlns:a16="http://schemas.microsoft.com/office/drawing/2014/main" val="3063595217"/>
                    </a:ext>
                  </a:extLst>
                </a:gridCol>
                <a:gridCol w="901619">
                  <a:extLst>
                    <a:ext uri="{9D8B030D-6E8A-4147-A177-3AD203B41FA5}">
                      <a16:colId xmlns:a16="http://schemas.microsoft.com/office/drawing/2014/main" val="3885190725"/>
                    </a:ext>
                  </a:extLst>
                </a:gridCol>
              </a:tblGrid>
              <a:tr h="19679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843895"/>
                  </a:ext>
                </a:extLst>
              </a:tr>
              <a:tr h="19679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9719409"/>
                  </a:ext>
                </a:extLst>
              </a:tr>
              <a:tr h="19679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672874"/>
                  </a:ext>
                </a:extLst>
              </a:tr>
              <a:tr h="19679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9922850"/>
                  </a:ext>
                </a:extLst>
              </a:tr>
              <a:tr h="19679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61050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59043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826C9B-B6F2-4CDD-96DB-D0EEF5ED09C7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 anchor="t"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</a:t>
                </a: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ru-RU" dirty="0"/>
                  <a:t> </a:t>
                </a: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</a:t>
                </a: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∨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</m:d>
                  </m:oMath>
                </a14:m>
                <a:r>
                  <a:rPr lang="ru-RU" dirty="0"/>
                  <a:t> </a:t>
                </a: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m:rPr>
                        <m:nor/>
                      </m:rPr>
                      <a:rPr lang="ru-RU" dirty="0"/>
                      <m:t>×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⋀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m:rPr>
                            <m:nor/>
                          </m:rPr>
                          <a:rPr lang="ru-RU" dirty="0"/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ru-RU" dirty="0"/>
                  <a:t> 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826C9B-B6F2-4CDD-96DB-D0EEF5ED09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B33797-31C3-08DF-4C60-D2C1B9ED4A1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Полезные эквивалентности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109A36-9494-418D-B3AA-33A55E70E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Реляционная алгебра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474781"/>
      </p:ext>
    </p:extLst>
  </p:cSld>
  <p:clrMapOvr>
    <a:masterClrMapping/>
  </p:clrMapOvr>
</p:sld>
</file>

<file path=ppt/theme/theme1.xml><?xml version="1.0" encoding="utf-8"?>
<a:theme xmlns:a="http://schemas.openxmlformats.org/drawingml/2006/main" name="NSU 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SU">
      <a:majorFont>
        <a:latin typeface="Acrom Bold"/>
        <a:ea typeface=""/>
        <a:cs typeface=""/>
      </a:majorFont>
      <a:minorFont>
        <a:latin typeface="Acro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SU Caption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SU">
      <a:majorFont>
        <a:latin typeface="Acrom Bold"/>
        <a:ea typeface=""/>
        <a:cs typeface=""/>
      </a:majorFont>
      <a:minorFont>
        <a:latin typeface="Acro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15498</TotalTime>
  <Words>2051</Words>
  <Application>Microsoft Office PowerPoint</Application>
  <PresentationFormat>On-screen Show (16:9)</PresentationFormat>
  <Paragraphs>491</Paragraphs>
  <Slides>23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6" baseType="lpstr">
      <vt:lpstr>Aptos Narrow</vt:lpstr>
      <vt:lpstr>Calibri</vt:lpstr>
      <vt:lpstr>u2400</vt:lpstr>
      <vt:lpstr>Acrom</vt:lpstr>
      <vt:lpstr>Acrom ExtraBold</vt:lpstr>
      <vt:lpstr>Cambria Math</vt:lpstr>
      <vt:lpstr>Aptos</vt:lpstr>
      <vt:lpstr>Acrom Bold</vt:lpstr>
      <vt:lpstr>Arial</vt:lpstr>
      <vt:lpstr>Wingdings</vt:lpstr>
      <vt:lpstr>Times New Roman</vt:lpstr>
      <vt:lpstr>NSU Content</vt:lpstr>
      <vt:lpstr>NSU Captions</vt:lpstr>
      <vt:lpstr>БАЗЫ ДАННЫХ</vt:lpstr>
      <vt:lpstr>PowerPoint Presentation</vt:lpstr>
      <vt:lpstr>История</vt:lpstr>
      <vt:lpstr>Аспекты модели</vt:lpstr>
      <vt:lpstr>Структура данных (1)</vt:lpstr>
      <vt:lpstr>Структура данных (2)</vt:lpstr>
      <vt:lpstr>Неформальные определения</vt:lpstr>
      <vt:lpstr>Пример отношения</vt:lpstr>
      <vt:lpstr>Основные понятия в Реляционной Модели Данных</vt:lpstr>
      <vt:lpstr>Основные понятия в Реляционной Модели Данных</vt:lpstr>
      <vt:lpstr>Основные понятия в Реляционной Модели Данных</vt:lpstr>
      <vt:lpstr>Основные понятия в Реляционной Модели Данных</vt:lpstr>
      <vt:lpstr>Основные понятия в Реляционной Модели Данных</vt:lpstr>
      <vt:lpstr>Основные понятия в Реляционной Модели Данных</vt:lpstr>
      <vt:lpstr>Реляционная алгебра</vt:lpstr>
      <vt:lpstr>Реляционная алгебра: примеры</vt:lpstr>
      <vt:lpstr>Реляционная алгебра: контрольные вопросы</vt:lpstr>
      <vt:lpstr>Реляционная алгебра (продолжение)</vt:lpstr>
      <vt:lpstr>Реляционная алгебра</vt:lpstr>
      <vt:lpstr>Реляционная алгебра (продолжение)</vt:lpstr>
      <vt:lpstr>Реляционная алгебра (продолжение)</vt:lpstr>
      <vt:lpstr>Реляционная алгебра (продолжение)</vt:lpstr>
      <vt:lpstr>Реляционная алгебра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Master</dc:creator>
  <cp:lastModifiedBy>Anton Zlygostev</cp:lastModifiedBy>
  <cp:revision>778</cp:revision>
  <dcterms:created xsi:type="dcterms:W3CDTF">2016-08-15T04:55:12Z</dcterms:created>
  <dcterms:modified xsi:type="dcterms:W3CDTF">2024-12-18T16:57:40Z</dcterms:modified>
</cp:coreProperties>
</file>