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43"/>
  </p:notesMasterIdLst>
  <p:sldIdLst>
    <p:sldId id="514" r:id="rId3"/>
    <p:sldId id="524" r:id="rId4"/>
    <p:sldId id="546" r:id="rId5"/>
    <p:sldId id="547" r:id="rId6"/>
    <p:sldId id="548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557" r:id="rId16"/>
    <p:sldId id="558" r:id="rId17"/>
    <p:sldId id="559" r:id="rId18"/>
    <p:sldId id="572" r:id="rId19"/>
    <p:sldId id="560" r:id="rId20"/>
    <p:sldId id="561" r:id="rId21"/>
    <p:sldId id="562" r:id="rId22"/>
    <p:sldId id="563" r:id="rId23"/>
    <p:sldId id="564" r:id="rId24"/>
    <p:sldId id="565" r:id="rId25"/>
    <p:sldId id="574" r:id="rId26"/>
    <p:sldId id="575" r:id="rId27"/>
    <p:sldId id="576" r:id="rId28"/>
    <p:sldId id="577" r:id="rId29"/>
    <p:sldId id="578" r:id="rId30"/>
    <p:sldId id="570" r:id="rId31"/>
    <p:sldId id="571" r:id="rId32"/>
    <p:sldId id="573" r:id="rId33"/>
    <p:sldId id="579" r:id="rId34"/>
    <p:sldId id="580" r:id="rId35"/>
    <p:sldId id="581" r:id="rId36"/>
    <p:sldId id="582" r:id="rId37"/>
    <p:sldId id="583" r:id="rId38"/>
    <p:sldId id="566" r:id="rId39"/>
    <p:sldId id="567" r:id="rId40"/>
    <p:sldId id="568" r:id="rId41"/>
    <p:sldId id="569" r:id="rId42"/>
  </p:sldIdLst>
  <p:sldSz cx="9144000" cy="5143500" type="screen16x9"/>
  <p:notesSz cx="6858000" cy="9144000"/>
  <p:embeddedFontLst>
    <p:embeddedFont>
      <p:font typeface="Acrom" panose="020B0604020202020204" charset="-52"/>
      <p:regular r:id="rId44"/>
    </p:embeddedFont>
    <p:embeddedFont>
      <p:font typeface="Acrom Bold" panose="020B0604020202020204" charset="-52"/>
      <p:bold r:id="rId45"/>
    </p:embeddedFont>
    <p:embeddedFont>
      <p:font typeface="Acrom ExtraBold" panose="020B0604020202020204" charset="-52"/>
      <p:bold r:id="rId46"/>
    </p:embeddedFont>
    <p:embeddedFont>
      <p:font typeface="Aptos Narrow" panose="020B0004020202020204" pitchFamily="34" charset="0"/>
      <p:regular r:id="rId47"/>
      <p:bold r:id="rId48"/>
      <p:italic r:id="rId49"/>
      <p:boldItalic r:id="rId50"/>
    </p:embeddedFont>
    <p:embeddedFont>
      <p:font typeface="Cascadia Code SemiLight" panose="020B0609020000020004" pitchFamily="49" charset="0"/>
      <p:regular r:id="rId51"/>
      <p:italic r:id="rId52"/>
    </p:embeddedFont>
    <p:embeddedFont>
      <p:font typeface="Cascadia Mono SemiLight" panose="020B0609020000020004" pitchFamily="49" charset="0"/>
      <p:regular r:id="rId53"/>
      <p:italic r:id="rId5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72"/>
            <p14:sldId id="560"/>
            <p14:sldId id="561"/>
            <p14:sldId id="562"/>
            <p14:sldId id="563"/>
            <p14:sldId id="564"/>
            <p14:sldId id="565"/>
            <p14:sldId id="574"/>
            <p14:sldId id="575"/>
            <p14:sldId id="576"/>
            <p14:sldId id="577"/>
            <p14:sldId id="578"/>
            <p14:sldId id="570"/>
            <p14:sldId id="571"/>
            <p14:sldId id="573"/>
            <p14:sldId id="579"/>
            <p14:sldId id="580"/>
            <p14:sldId id="581"/>
            <p14:sldId id="582"/>
            <p14:sldId id="583"/>
            <p14:sldId id="566"/>
            <p14:sldId id="567"/>
            <p14:sldId id="568"/>
            <p14:sldId id="569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EFEFE"/>
    <a:srgbClr val="FF0000"/>
    <a:srgbClr val="C20808"/>
    <a:srgbClr val="F0F0F0"/>
    <a:srgbClr val="B8B8B8"/>
    <a:srgbClr val="DBF2F3"/>
    <a:srgbClr val="D6D6FE"/>
    <a:srgbClr val="9292FB"/>
    <a:srgbClr val="C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81961" autoAdjust="0"/>
  </p:normalViewPr>
  <p:slideViewPr>
    <p:cSldViewPr>
      <p:cViewPr>
        <p:scale>
          <a:sx n="125" d="100"/>
          <a:sy n="125" d="100"/>
        </p:scale>
        <p:origin x="330" y="-4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18.12.2024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84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248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218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5ED3-41D4-5116-B2D0-36C6C657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96434-8639-597E-6B2D-0E01D7FAC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98975-FE0A-8B98-1CA7-CD276608C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DF07F-E56E-982B-E1F2-DF926CF24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074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6B94-06C6-0D7F-666C-A4C98723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3950F-AA8C-F2A2-9E28-B246E3A59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2B2E1-4687-E1C0-F8B0-BE32792FA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352F7-54B8-DADF-DFE0-7A47067FE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42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7C39-B719-486B-4952-754193CE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D9DE8-1F0B-D4EB-012C-7EB1BE8F5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9494E-4880-186C-2089-AA67FC03F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D213D-372E-78F1-1E54-1927DB082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784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360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648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225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32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6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dirty="0"/>
              <a:t>Транзакции и параллелизм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8397626" cy="2305050"/>
          </a:xfrm>
        </p:spPr>
        <p:txBody>
          <a:bodyPr/>
          <a:lstStyle/>
          <a:p>
            <a:pPr eaLnBrk="1" hangingPunct="1"/>
            <a:r>
              <a:rPr lang="ru-RU" dirty="0" err="1"/>
              <a:t>М.Грабер</a:t>
            </a:r>
            <a:r>
              <a:rPr lang="ru-RU" dirty="0"/>
              <a:t>. </a:t>
            </a:r>
            <a:r>
              <a:rPr lang="en-US" b="1" dirty="0"/>
              <a:t>SQL</a:t>
            </a:r>
            <a:r>
              <a:rPr lang="en-US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00FFFF"/>
                </a:highlight>
              </a:rPr>
              <a:t>Глава 17</a:t>
            </a:r>
          </a:p>
          <a:p>
            <a:pPr eaLnBrk="1" hangingPunct="1"/>
            <a:r>
              <a:rPr lang="ru-RU" dirty="0"/>
              <a:t>Дж. Ульман, </a:t>
            </a:r>
            <a:r>
              <a:rPr lang="ru-RU" b="1" dirty="0"/>
              <a:t>Основы Систем баз данных</a:t>
            </a:r>
            <a:r>
              <a:rPr lang="ru-RU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00FFFF"/>
                </a:highlight>
              </a:rPr>
              <a:t>Глава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B69C7B-E66D-04FF-5DDB-C1AEFC372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096741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Существует целый ряд приложений, когда одновременно (параллельно) исполняются несколько программ или различных прогонов одной и той же программы. </a:t>
            </a:r>
            <a:br>
              <a:rPr lang="ru-RU" dirty="0"/>
            </a:br>
            <a:r>
              <a:rPr lang="ru-RU" dirty="0"/>
              <a:t>Пример: продажа авиа или ж/д билетов.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Интуитивно кажется, что не следует допускать параллельное исполнение процессов, которые читают или изменяют значение одного и того же объекта.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Другой пример: статистические базы данных (перепись населения) или информационные базы (флора и фауна континента/страны). </a:t>
            </a:r>
            <a:br>
              <a:rPr lang="ru-RU" dirty="0"/>
            </a:br>
            <a:r>
              <a:rPr lang="ru-RU" dirty="0"/>
              <a:t>В этих случаях для увеличения пропускной способности систем представляется целесообразным предоставить совместный (параллельный) доступ без ограничений.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Возможны разные модели параллельных процессов над базой данных.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F12C53-BA54-5E9C-43B9-DBB51CE8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исполнение операций над БАЗОЙ ДАННЫХ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0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BDF9B-650A-509A-E247-EF60C2C1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62573-6D13-6241-F9F0-7F0650F580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168749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Будем предполагать, что действия над базой данных выполняются с помощью операторов </a:t>
            </a:r>
            <a:r>
              <a:rPr lang="en-US" dirty="0"/>
              <a:t>SQL.</a:t>
            </a:r>
          </a:p>
          <a:p>
            <a:pPr>
              <a:lnSpc>
                <a:spcPct val="120000"/>
              </a:lnSpc>
            </a:pPr>
            <a:r>
              <a:rPr lang="ru-RU" b="1" dirty="0"/>
              <a:t>Транзакция</a:t>
            </a:r>
            <a:r>
              <a:rPr lang="ru-RU" dirty="0"/>
              <a:t> – это последовательность операторов </a:t>
            </a:r>
            <a:r>
              <a:rPr lang="en-US" dirty="0"/>
              <a:t>SQL, </a:t>
            </a:r>
            <a:r>
              <a:rPr lang="ru-RU" dirty="0"/>
              <a:t>которая принимается или отменяется как </a:t>
            </a:r>
            <a:r>
              <a:rPr lang="ru-RU" b="1" dirty="0"/>
              <a:t>единое целое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</a:pPr>
            <a:r>
              <a:rPr lang="ru-RU" dirty="0"/>
              <a:t>Все операторы </a:t>
            </a:r>
            <a:r>
              <a:rPr lang="en-US" dirty="0"/>
              <a:t>SQL </a:t>
            </a:r>
            <a:r>
              <a:rPr lang="ru-RU" dirty="0"/>
              <a:t>начинают транзакцию, кроме следующих: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Connect, Set Connection, Disconnect, Set Session Authorization, Set Catalog, Set Schema, Set Names, Set Time Zone,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Get Diagnostics, Set Transaction, Set Constrains,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Commit, Rollback, Declare Cursor, Declare Local Temporary Table, Begin Declare Section, End Declare Section, Whenever</a:t>
            </a:r>
          </a:p>
          <a:p>
            <a:pPr>
              <a:lnSpc>
                <a:spcPct val="120000"/>
              </a:lnSpc>
            </a:pPr>
            <a:r>
              <a:rPr lang="ru-RU" dirty="0"/>
              <a:t>Инициируя сеанс работы с </a:t>
            </a:r>
            <a:r>
              <a:rPr lang="en-US" dirty="0"/>
              <a:t>SQL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пользователь начинает транзакцию. Все вводимые операторы будут входить в одну транзакцию пока не будет введен </a:t>
            </a:r>
            <a:r>
              <a:rPr lang="en-US" dirty="0"/>
              <a:t>Commit </a:t>
            </a:r>
            <a:r>
              <a:rPr lang="ru-RU" dirty="0"/>
              <a:t>или </a:t>
            </a:r>
            <a:r>
              <a:rPr lang="en-US" dirty="0"/>
              <a:t>Rollback.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</a:t>
            </a:r>
            <a:r>
              <a:rPr lang="en-US" dirty="0"/>
              <a:t> </a:t>
            </a:r>
            <a:r>
              <a:rPr lang="ru-RU" dirty="0"/>
              <a:t>сделает все изменения в БД постоянными,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</a:t>
            </a:r>
            <a:r>
              <a:rPr lang="en-US" dirty="0"/>
              <a:t> </a:t>
            </a:r>
            <a:r>
              <a:rPr lang="ru-RU" dirty="0"/>
              <a:t>отменит все произведенные изменения.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Autocommit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 | OFF</a:t>
            </a:r>
            <a:r>
              <a:rPr lang="en-US" dirty="0"/>
              <a:t> – </a:t>
            </a:r>
            <a:r>
              <a:rPr lang="ru-RU" dirty="0"/>
              <a:t>настройки АБД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Autocommit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=  ON </a:t>
            </a:r>
            <a:r>
              <a:rPr lang="ru-RU" dirty="0"/>
              <a:t>все изменения нормально завершенных операций автоматически фиксируются. 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22255D-DE22-29C6-8C12-CF829A14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ТранзакциИ</a:t>
            </a:r>
            <a:r>
              <a:rPr lang="ru-RU" dirty="0"/>
              <a:t> в </a:t>
            </a:r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2696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196D41-B3E0-01EA-9883-2F8BF60E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45BD38-2A79-47D5-B5A9-FB88D0C5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(1)</a:t>
            </a:r>
            <a:endParaRPr lang="en-US" dirty="0"/>
          </a:p>
        </p:txBody>
      </p:sp>
      <p:graphicFrame>
        <p:nvGraphicFramePr>
          <p:cNvPr id="5" name="Group 158">
            <a:extLst>
              <a:ext uri="{FF2B5EF4-FFF2-40B4-BE49-F238E27FC236}">
                <a16:creationId xmlns:a16="http://schemas.microsoft.com/office/drawing/2014/main" id="{F830A17F-ECFD-8CA7-C454-9F04B41B6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908179"/>
              </p:ext>
            </p:extLst>
          </p:nvPr>
        </p:nvGraphicFramePr>
        <p:xfrm>
          <a:off x="361776" y="1532456"/>
          <a:ext cx="3706168" cy="120964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2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Sname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City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Comm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0,12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0,13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Петров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0,11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Голубев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Омск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0,15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Кузнецов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Томск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Group 263">
            <a:extLst>
              <a:ext uri="{FF2B5EF4-FFF2-40B4-BE49-F238E27FC236}">
                <a16:creationId xmlns:a16="http://schemas.microsoft.com/office/drawing/2014/main" id="{3C8AE6CC-779C-8936-2AE0-468F24A672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9331044"/>
              </p:ext>
            </p:extLst>
          </p:nvPr>
        </p:nvGraphicFramePr>
        <p:xfrm>
          <a:off x="349496" y="3114745"/>
          <a:ext cx="3706167" cy="161286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5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Cname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City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Rating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Светин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Казаков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Барнаул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Руднев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Ревякин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Юрга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Малыгин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NULL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Коршунов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Синицын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62">
            <a:extLst>
              <a:ext uri="{FF2B5EF4-FFF2-40B4-BE49-F238E27FC236}">
                <a16:creationId xmlns:a16="http://schemas.microsoft.com/office/drawing/2014/main" id="{264F0E50-7299-0D79-4341-86CEF47D2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8677638"/>
              </p:ext>
            </p:extLst>
          </p:nvPr>
        </p:nvGraphicFramePr>
        <p:xfrm>
          <a:off x="4578777" y="1532456"/>
          <a:ext cx="4372150" cy="255146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64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Amt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Odate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18.69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767.19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1900.10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1098.16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1713.23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75.75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4723.00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1309.95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9891.88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735B75-8F81-1C8C-B082-FD65BBCB7DFA}"/>
              </a:ext>
            </a:extLst>
          </p:cNvPr>
          <p:cNvSpPr txBox="1"/>
          <p:nvPr/>
        </p:nvSpPr>
        <p:spPr>
          <a:xfrm>
            <a:off x="349495" y="1222323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Salespeople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0DCDC-5DE5-9E71-3C47-7BFE7C8C6CF5}"/>
              </a:ext>
            </a:extLst>
          </p:cNvPr>
          <p:cNvSpPr txBox="1"/>
          <p:nvPr/>
        </p:nvSpPr>
        <p:spPr>
          <a:xfrm>
            <a:off x="292391" y="2789035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A0D1C-7926-2D2D-02D8-95E17B3F98D4}"/>
              </a:ext>
            </a:extLst>
          </p:cNvPr>
          <p:cNvSpPr txBox="1"/>
          <p:nvPr/>
        </p:nvSpPr>
        <p:spPr>
          <a:xfrm>
            <a:off x="4577305" y="1200292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Orders</a:t>
            </a:r>
          </a:p>
        </p:txBody>
      </p:sp>
    </p:spTree>
    <p:extLst>
      <p:ext uri="{BB962C8B-B14F-4D97-AF65-F5344CB8AC3E}">
        <p14:creationId xmlns:p14="http://schemas.microsoft.com/office/powerpoint/2010/main" val="10549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C4CD7-F503-79C1-E211-D634A2EB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3DB2-893A-93C0-DBCD-076DAB880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685659" cy="3096742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деятельности торговой организации произошло событие</a:t>
            </a:r>
            <a:r>
              <a:rPr lang="en-US" dirty="0"/>
              <a:t> </a:t>
            </a:r>
            <a:r>
              <a:rPr lang="ru-RU" dirty="0"/>
              <a:t>«Продавец Петров уволился».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 правилам торговой организации нужно покупателей Петрова передать какому-то продавцу, например,  Иванову.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В транзакции</a:t>
            </a:r>
            <a:r>
              <a:rPr lang="ru-RU" dirty="0"/>
              <a:t> нужно выполнить действия над БД, отражающие это событие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Salespeople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удаляем Петрова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Orders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убираем заказы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с Петрова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Customers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1001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передаем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Иванову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%покупателей Петрова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или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FFE3A2-C989-6DB1-2D7B-AC77D99C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</a:t>
            </a:r>
            <a:r>
              <a:rPr lang="en-US" dirty="0"/>
              <a:t>2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24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064EA-32E1-E576-AEDB-9C64C703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SalesQuery">
            <a:extLst>
              <a:ext uri="{FF2B5EF4-FFF2-40B4-BE49-F238E27FC236}">
                <a16:creationId xmlns:a16="http://schemas.microsoft.com/office/drawing/2014/main" id="{D956B58C-FFAE-DEC1-6D6F-902802189E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6458" y="1603891"/>
            <a:ext cx="4548162" cy="2823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Salespeople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удаляем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Orders 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Null   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убираем заказы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с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Customers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SET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1001 %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передаем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Иванову</a:t>
            </a:r>
            <a:b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%покупателей Петрова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COMMIT; 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или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1336A7-1C3E-7472-B456-7CAE91C5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(3)</a:t>
            </a:r>
            <a:endParaRPr lang="en-US" dirty="0"/>
          </a:p>
        </p:txBody>
      </p:sp>
      <p:graphicFrame>
        <p:nvGraphicFramePr>
          <p:cNvPr id="5" name="SalesTop">
            <a:extLst>
              <a:ext uri="{FF2B5EF4-FFF2-40B4-BE49-F238E27FC236}">
                <a16:creationId xmlns:a16="http://schemas.microsoft.com/office/drawing/2014/main" id="{642C424D-7421-691B-A057-DBEAB1857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907297"/>
              </p:ext>
            </p:extLst>
          </p:nvPr>
        </p:nvGraphicFramePr>
        <p:xfrm>
          <a:off x="4809182" y="1778879"/>
          <a:ext cx="3706168" cy="80643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2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Sname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City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Comm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0,12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0,13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Петров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0,11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alesMark">
            <a:extLst>
              <a:ext uri="{FF2B5EF4-FFF2-40B4-BE49-F238E27FC236}">
                <a16:creationId xmlns:a16="http://schemas.microsoft.com/office/drawing/2014/main" id="{609ADBCA-A062-9FEC-36EE-4113185E674A}"/>
              </a:ext>
            </a:extLst>
          </p:cNvPr>
          <p:cNvSpPr/>
          <p:nvPr/>
        </p:nvSpPr>
        <p:spPr>
          <a:xfrm>
            <a:off x="4796901" y="2381621"/>
            <a:ext cx="3706168" cy="203324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alesHead">
            <a:extLst>
              <a:ext uri="{FF2B5EF4-FFF2-40B4-BE49-F238E27FC236}">
                <a16:creationId xmlns:a16="http://schemas.microsoft.com/office/drawing/2014/main" id="{D795EB86-D309-A151-82C3-A2B972725FE4}"/>
              </a:ext>
            </a:extLst>
          </p:cNvPr>
          <p:cNvSpPr txBox="1"/>
          <p:nvPr/>
        </p:nvSpPr>
        <p:spPr>
          <a:xfrm>
            <a:off x="4796901" y="1468746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Salespeople</a:t>
            </a:r>
          </a:p>
        </p:txBody>
      </p:sp>
      <p:graphicFrame>
        <p:nvGraphicFramePr>
          <p:cNvPr id="8" name="SalesBottom">
            <a:extLst>
              <a:ext uri="{FF2B5EF4-FFF2-40B4-BE49-F238E27FC236}">
                <a16:creationId xmlns:a16="http://schemas.microsoft.com/office/drawing/2014/main" id="{C98E7144-D46D-A2C1-79F1-80E86DE47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28569"/>
              </p:ext>
            </p:extLst>
          </p:nvPr>
        </p:nvGraphicFramePr>
        <p:xfrm>
          <a:off x="4809182" y="2584945"/>
          <a:ext cx="3706168" cy="40321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2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Голубев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Омск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0,15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0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Кузнецов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\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Томск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0,10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00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0392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7A5EA-603B-CE75-2B00-AECCC83E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618D62-FAA9-8B81-772D-82EF2FA6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0D7C8E-9085-E693-EE2C-F952DED1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</a:t>
            </a:r>
            <a:r>
              <a:rPr lang="en-US" dirty="0"/>
              <a:t>4</a:t>
            </a:r>
            <a:r>
              <a:rPr lang="ru-RU" dirty="0"/>
              <a:t>)</a:t>
            </a:r>
            <a:endParaRPr lang="en-US" dirty="0"/>
          </a:p>
        </p:txBody>
      </p:sp>
      <p:graphicFrame>
        <p:nvGraphicFramePr>
          <p:cNvPr id="10" name="OrdersOld">
            <a:extLst>
              <a:ext uri="{FF2B5EF4-FFF2-40B4-BE49-F238E27FC236}">
                <a16:creationId xmlns:a16="http://schemas.microsoft.com/office/drawing/2014/main" id="{C65BEE13-66A1-D08D-8C3D-425E0A51D9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071732"/>
              </p:ext>
            </p:extLst>
          </p:nvPr>
        </p:nvGraphicFramePr>
        <p:xfrm>
          <a:off x="4598797" y="1585460"/>
          <a:ext cx="4372150" cy="252260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64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Amt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Odate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18.69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767.19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1900.10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71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1098.16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7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1713.23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75.75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32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4723.00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98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1309.95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28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9891.88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58764"/>
                  </a:ext>
                </a:extLst>
              </a:tr>
            </a:tbl>
          </a:graphicData>
        </a:graphic>
      </p:graphicFrame>
      <p:graphicFrame>
        <p:nvGraphicFramePr>
          <p:cNvPr id="15" name="OrdersNew">
            <a:extLst>
              <a:ext uri="{FF2B5EF4-FFF2-40B4-BE49-F238E27FC236}">
                <a16:creationId xmlns:a16="http://schemas.microsoft.com/office/drawing/2014/main" id="{8A81EEF3-BDF1-E643-B453-C3672E9452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1513828"/>
              </p:ext>
            </p:extLst>
          </p:nvPr>
        </p:nvGraphicFramePr>
        <p:xfrm>
          <a:off x="4598797" y="1583317"/>
          <a:ext cx="4372150" cy="252260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64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Amt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Odate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18.69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767.19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1900.10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NULL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71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1098.16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7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1713.23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75.75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32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4723.00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NULL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98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1309.95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28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3011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9891.88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36002" marR="36002" marT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58764"/>
                  </a:ext>
                </a:extLst>
              </a:tr>
            </a:tbl>
          </a:graphicData>
        </a:graphic>
      </p:graphicFrame>
      <p:sp>
        <p:nvSpPr>
          <p:cNvPr id="13" name="OrdersMark1">
            <a:extLst>
              <a:ext uri="{FF2B5EF4-FFF2-40B4-BE49-F238E27FC236}">
                <a16:creationId xmlns:a16="http://schemas.microsoft.com/office/drawing/2014/main" id="{0836A268-6F40-9F39-A5DA-ACE4938E130A}"/>
              </a:ext>
            </a:extLst>
          </p:cNvPr>
          <p:cNvSpPr/>
          <p:nvPr/>
        </p:nvSpPr>
        <p:spPr>
          <a:xfrm>
            <a:off x="8100392" y="2280203"/>
            <a:ext cx="870555" cy="228910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rdersHead">
            <a:extLst>
              <a:ext uri="{FF2B5EF4-FFF2-40B4-BE49-F238E27FC236}">
                <a16:creationId xmlns:a16="http://schemas.microsoft.com/office/drawing/2014/main" id="{8F5F7535-F01D-E999-A20F-299691D2DC40}"/>
              </a:ext>
            </a:extLst>
          </p:cNvPr>
          <p:cNvSpPr txBox="1"/>
          <p:nvPr/>
        </p:nvSpPr>
        <p:spPr>
          <a:xfrm>
            <a:off x="4597325" y="1253296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Orders</a:t>
            </a:r>
          </a:p>
        </p:txBody>
      </p:sp>
      <p:sp>
        <p:nvSpPr>
          <p:cNvPr id="17" name="OrdersMark2">
            <a:extLst>
              <a:ext uri="{FF2B5EF4-FFF2-40B4-BE49-F238E27FC236}">
                <a16:creationId xmlns:a16="http://schemas.microsoft.com/office/drawing/2014/main" id="{796A2609-A90C-EB72-ED87-FB04A1682622}"/>
              </a:ext>
            </a:extLst>
          </p:cNvPr>
          <p:cNvSpPr/>
          <p:nvPr/>
        </p:nvSpPr>
        <p:spPr>
          <a:xfrm>
            <a:off x="8100392" y="3420102"/>
            <a:ext cx="870555" cy="228910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alesQuery">
            <a:extLst>
              <a:ext uri="{FF2B5EF4-FFF2-40B4-BE49-F238E27FC236}">
                <a16:creationId xmlns:a16="http://schemas.microsoft.com/office/drawing/2014/main" id="{084C7224-F112-7EE5-C2C0-F76D7EBD8A6C}"/>
              </a:ext>
            </a:extLst>
          </p:cNvPr>
          <p:cNvSpPr txBox="1">
            <a:spLocks/>
          </p:cNvSpPr>
          <p:nvPr/>
        </p:nvSpPr>
        <p:spPr>
          <a:xfrm>
            <a:off x="236458" y="1603891"/>
            <a:ext cx="4551566" cy="282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 FROM Salespeople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 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удаляем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Orders 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убираем заказы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с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Customers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SET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1001 %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передаем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Иванову</a:t>
            </a:r>
            <a:b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%покупателей Петрова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COMMIT; 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или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ROLLBACK;</a:t>
            </a:r>
          </a:p>
          <a:p>
            <a:pPr marL="0" indent="0">
              <a:lnSpc>
                <a:spcPct val="100000"/>
              </a:lnSpc>
              <a:buFontTx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355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64F2-E89D-D976-5837-0ABF8330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A6C695-EB2C-BB5B-2319-8FDCA3B3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837F02-118A-0A37-6586-1A9C1C85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</a:t>
            </a:r>
            <a:r>
              <a:rPr lang="en-US" dirty="0"/>
              <a:t>4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22" name="SalesQuery">
            <a:extLst>
              <a:ext uri="{FF2B5EF4-FFF2-40B4-BE49-F238E27FC236}">
                <a16:creationId xmlns:a16="http://schemas.microsoft.com/office/drawing/2014/main" id="{A5958DA0-9A48-E79D-4439-B46EA18EC9A8}"/>
              </a:ext>
            </a:extLst>
          </p:cNvPr>
          <p:cNvSpPr txBox="1">
            <a:spLocks/>
          </p:cNvSpPr>
          <p:nvPr/>
        </p:nvSpPr>
        <p:spPr>
          <a:xfrm>
            <a:off x="236458" y="1603891"/>
            <a:ext cx="4407550" cy="282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 FROM Salespeople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 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удаляем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Orders 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Null   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убираем заказы</a:t>
            </a:r>
            <a:b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 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с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Customers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1001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передаем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Иванову</a:t>
            </a:r>
            <a:br>
              <a:rPr 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%покупателей Петрова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COMMIT; 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или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ROLLBACK;</a:t>
            </a:r>
          </a:p>
          <a:p>
            <a:pPr marL="0" indent="0">
              <a:lnSpc>
                <a:spcPct val="100000"/>
              </a:lnSpc>
              <a:buFontTx/>
              <a:buNone/>
            </a:pPr>
            <a:endParaRPr lang="en-US" sz="1400" dirty="0"/>
          </a:p>
        </p:txBody>
      </p:sp>
      <p:graphicFrame>
        <p:nvGraphicFramePr>
          <p:cNvPr id="3" name="CustomersOld">
            <a:extLst>
              <a:ext uri="{FF2B5EF4-FFF2-40B4-BE49-F238E27FC236}">
                <a16:creationId xmlns:a16="http://schemas.microsoft.com/office/drawing/2014/main" id="{1697C4A0-413C-75C7-4D5B-BAE9AE56F1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069416"/>
              </p:ext>
            </p:extLst>
          </p:nvPr>
        </p:nvGraphicFramePr>
        <p:xfrm>
          <a:off x="4860032" y="1929199"/>
          <a:ext cx="3706167" cy="161286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5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Cname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City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Rating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Светин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Казаков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Барнаул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Руднев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Ревякин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Юрга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Малыгин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NULL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Коршунов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Синицын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ustomersHead">
            <a:extLst>
              <a:ext uri="{FF2B5EF4-FFF2-40B4-BE49-F238E27FC236}">
                <a16:creationId xmlns:a16="http://schemas.microsoft.com/office/drawing/2014/main" id="{5419E3FD-4C59-6159-1F38-4DE25FF63AE8}"/>
              </a:ext>
            </a:extLst>
          </p:cNvPr>
          <p:cNvSpPr txBox="1"/>
          <p:nvPr/>
        </p:nvSpPr>
        <p:spPr>
          <a:xfrm>
            <a:off x="4802927" y="1603489"/>
            <a:ext cx="25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Customers</a:t>
            </a:r>
          </a:p>
        </p:txBody>
      </p:sp>
      <p:graphicFrame>
        <p:nvGraphicFramePr>
          <p:cNvPr id="6" name="CustomersNew">
            <a:extLst>
              <a:ext uri="{FF2B5EF4-FFF2-40B4-BE49-F238E27FC236}">
                <a16:creationId xmlns:a16="http://schemas.microsoft.com/office/drawing/2014/main" id="{0CD3C4FC-280E-DFE2-1DE8-FFC076074D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7401329"/>
              </p:ext>
            </p:extLst>
          </p:nvPr>
        </p:nvGraphicFramePr>
        <p:xfrm>
          <a:off x="4860032" y="1929199"/>
          <a:ext cx="3706167" cy="161286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5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Cname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City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Rating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Snum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Светин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Казаков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Барнаул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Руднев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Ревякин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Юрга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Малыгин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NULL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Коршунов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Кемерово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300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2007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Синицын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320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Times New Roman" pitchFamily="18" charset="0"/>
                        </a:rPr>
                        <a:t>Новосибирск</a:t>
                      </a: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marL="45720" marR="4572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ChangeMark">
            <a:extLst>
              <a:ext uri="{FF2B5EF4-FFF2-40B4-BE49-F238E27FC236}">
                <a16:creationId xmlns:a16="http://schemas.microsoft.com/office/drawing/2014/main" id="{3C3949C4-4480-5B3E-737C-762E7F303182}"/>
              </a:ext>
            </a:extLst>
          </p:cNvPr>
          <p:cNvSpPr/>
          <p:nvPr/>
        </p:nvSpPr>
        <p:spPr>
          <a:xfrm>
            <a:off x="7910514" y="3348037"/>
            <a:ext cx="652462" cy="195915"/>
          </a:xfrm>
          <a:prstGeom prst="rect">
            <a:avLst/>
          </a:prstGeom>
          <a:solidFill>
            <a:srgbClr val="FFC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4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245D-8ACD-9249-87BE-161FFB03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1949C1-0423-BF5D-D2BA-887426A5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63CCE9-4A62-C5A8-DFFA-EB044400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 (</a:t>
            </a:r>
            <a:r>
              <a:rPr lang="en-US" dirty="0"/>
              <a:t>5</a:t>
            </a:r>
            <a:r>
              <a:rPr lang="ru-RU" dirty="0"/>
              <a:t>)</a:t>
            </a:r>
            <a:r>
              <a:rPr lang="en-US" dirty="0"/>
              <a:t>: </a:t>
            </a:r>
            <a:r>
              <a:rPr lang="ru-RU" dirty="0"/>
              <a:t>Атомарность</a:t>
            </a:r>
            <a:endParaRPr lang="en-US" dirty="0"/>
          </a:p>
        </p:txBody>
      </p:sp>
      <p:sp>
        <p:nvSpPr>
          <p:cNvPr id="22" name="SalesQuery">
            <a:extLst>
              <a:ext uri="{FF2B5EF4-FFF2-40B4-BE49-F238E27FC236}">
                <a16:creationId xmlns:a16="http://schemas.microsoft.com/office/drawing/2014/main" id="{9D121483-FBDE-F144-8B54-02EED29ACED0}"/>
              </a:ext>
            </a:extLst>
          </p:cNvPr>
          <p:cNvSpPr txBox="1">
            <a:spLocks/>
          </p:cNvSpPr>
          <p:nvPr/>
        </p:nvSpPr>
        <p:spPr>
          <a:xfrm>
            <a:off x="236458" y="1603891"/>
            <a:ext cx="4407550" cy="282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Salespeople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 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удаляем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Orders 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убираем заказы</a:t>
            </a:r>
            <a:b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%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с Петрова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Customers</a:t>
            </a:r>
            <a:b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SET </a:t>
            </a:r>
            <a:r>
              <a:rPr lang="en-US" sz="1400" dirty="0" err="1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1001 %</a:t>
            </a:r>
            <a: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передаем</a:t>
            </a: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Иванову</a:t>
            </a:r>
            <a:b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</a:t>
            </a:r>
            <a:r>
              <a:rPr lang="en-US" sz="1400" dirty="0" err="1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snum</a:t>
            </a: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1004;</a:t>
            </a:r>
            <a: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%покупателей Петрова</a:t>
            </a:r>
            <a:endParaRPr lang="en-US" sz="1400" dirty="0">
              <a:solidFill>
                <a:srgbClr val="C20808"/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COMMIT; % </a:t>
            </a:r>
            <a:r>
              <a:rPr lang="ru-RU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или </a:t>
            </a:r>
            <a:r>
              <a:rPr lang="en-US" sz="1400" dirty="0">
                <a:solidFill>
                  <a:srgbClr val="C20808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ROLLBACK;</a:t>
            </a:r>
          </a:p>
          <a:p>
            <a:pPr marL="0" indent="0">
              <a:lnSpc>
                <a:spcPct val="100000"/>
              </a:lnSpc>
              <a:buFontTx/>
              <a:buNone/>
            </a:pPr>
            <a:endParaRPr lang="en-US" sz="1400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ADB35DAD-8D83-09C7-AD5C-9D8459E9056E}"/>
              </a:ext>
            </a:extLst>
          </p:cNvPr>
          <p:cNvSpPr/>
          <p:nvPr/>
        </p:nvSpPr>
        <p:spPr>
          <a:xfrm>
            <a:off x="4644008" y="2740542"/>
            <a:ext cx="3672408" cy="549775"/>
          </a:xfrm>
          <a:prstGeom prst="borderCallout1">
            <a:avLst>
              <a:gd name="adj1" fmla="val 18750"/>
              <a:gd name="adj2" fmla="val -8333"/>
              <a:gd name="adj3" fmla="val 17211"/>
              <a:gd name="adj4" fmla="val -11899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8667CF-958C-6883-8941-F424E0C3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9620B-C4DA-D683-B5B8-FFB6871788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16874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  <a:highlight>
                  <a:srgbClr val="FEFEFE"/>
                </a:highlight>
              </a:rPr>
              <a:t>A</a:t>
            </a:r>
            <a:r>
              <a:rPr lang="en-US" dirty="0"/>
              <a:t>TOMICITY</a:t>
            </a:r>
            <a:br>
              <a:rPr lang="en-US" dirty="0"/>
            </a:br>
            <a:r>
              <a:rPr lang="ru-RU" dirty="0"/>
              <a:t>Транзакция либо выполняется целиком, либо не выполняется вовсе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  <a:highlight>
                  <a:srgbClr val="FEFEFE"/>
                </a:highlight>
              </a:rPr>
              <a:t>C</a:t>
            </a:r>
            <a:r>
              <a:rPr lang="en-US" dirty="0"/>
              <a:t>ONSISTENCY</a:t>
            </a:r>
            <a:br>
              <a:rPr lang="en-US" dirty="0"/>
            </a:br>
            <a:r>
              <a:rPr lang="ru-RU" dirty="0"/>
              <a:t>Транзакция переводит базу данных из одного согласованного состояния в другое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SOLATION</a:t>
            </a:r>
            <a:br>
              <a:rPr lang="ru-RU" dirty="0"/>
            </a:br>
            <a:r>
              <a:rPr lang="ru-RU" dirty="0"/>
              <a:t>При выполнении транзакции не должны оказывать влияние на результат параллельно выполняемых транзакций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cap="all" dirty="0">
                <a:solidFill>
                  <a:srgbClr val="FF0000"/>
                </a:solidFill>
              </a:rPr>
              <a:t>D</a:t>
            </a:r>
            <a:r>
              <a:rPr lang="en-US" cap="all" dirty="0"/>
              <a:t>urability</a:t>
            </a:r>
            <a:br>
              <a:rPr lang="en-US" dirty="0"/>
            </a:br>
            <a:r>
              <a:rPr lang="ru-RU" sz="2000" dirty="0"/>
              <a:t>Если пользователь получил подтверждение от системы, что транзакция выполнена, он может быть уверен, что сделанные им изменения не будут </a:t>
            </a:r>
            <a:r>
              <a:rPr lang="ru-RU" dirty="0"/>
              <a:t>потеряны </a:t>
            </a:r>
            <a:r>
              <a:rPr lang="ru-RU" sz="2000" dirty="0"/>
              <a:t>из-за какого-либо сбоя</a:t>
            </a:r>
            <a:endParaRPr lang="en-US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1B2488-748F-CC34-75B8-3C463917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транзакций</a:t>
            </a:r>
            <a:r>
              <a:rPr lang="en-US" dirty="0"/>
              <a:t> (ACID)</a:t>
            </a:r>
          </a:p>
        </p:txBody>
      </p:sp>
    </p:spTree>
    <p:extLst>
      <p:ext uri="{BB962C8B-B14F-4D97-AF65-F5344CB8AC3E}">
        <p14:creationId xmlns:p14="http://schemas.microsoft.com/office/powerpoint/2010/main" val="1262238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3DA2E1-07DE-95B3-AECC-DD21060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C9242-BD14-6F0E-A8C7-03F73F39A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Потерянное обновление (</a:t>
            </a:r>
            <a:r>
              <a:rPr lang="ru-RU" dirty="0" err="1"/>
              <a:t>Lost</a:t>
            </a:r>
            <a:r>
              <a:rPr lang="ru-RU" dirty="0"/>
              <a:t> UPDATE)</a:t>
            </a:r>
          </a:p>
          <a:p>
            <a:r>
              <a:rPr lang="ru-RU" dirty="0"/>
              <a:t>Преждевременное чтение (</a:t>
            </a:r>
            <a:r>
              <a:rPr lang="ru-RU" dirty="0" err="1"/>
              <a:t>Dirty</a:t>
            </a:r>
            <a:r>
              <a:rPr lang="ru-RU" dirty="0"/>
              <a:t> READ)</a:t>
            </a:r>
          </a:p>
          <a:p>
            <a:r>
              <a:rPr lang="ru-RU" dirty="0"/>
              <a:t>Неповторяющееся чтение (Non-</a:t>
            </a:r>
            <a:r>
              <a:rPr lang="ru-RU" dirty="0" err="1"/>
              <a:t>repeatable</a:t>
            </a:r>
            <a:r>
              <a:rPr lang="ru-RU" dirty="0"/>
              <a:t> READ)</a:t>
            </a:r>
          </a:p>
          <a:p>
            <a:r>
              <a:rPr lang="ru-RU" dirty="0"/>
              <a:t>Фантомные чтения (Phantom </a:t>
            </a:r>
            <a:r>
              <a:rPr lang="en-US" dirty="0"/>
              <a:t>READ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3A462B-8D32-D057-D804-D6AD7DC2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виды нарушений изоляции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73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E2F1B6-78E0-4403-129F-9E75D98D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75B0E2-E70A-DF94-786F-C579D89D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Потерянное обновление (</a:t>
            </a:r>
            <a:r>
              <a:rPr lang="en-US" dirty="0"/>
              <a:t>Lost UPDATE)</a:t>
            </a:r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3F3BA3BC-C1C4-932A-6E4B-78E5067BD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6230"/>
              </p:ext>
            </p:extLst>
          </p:nvPr>
        </p:nvGraphicFramePr>
        <p:xfrm>
          <a:off x="358452" y="1419224"/>
          <a:ext cx="8575675" cy="2957378"/>
        </p:xfrm>
        <a:graphic>
          <a:graphicData uri="http://schemas.openxmlformats.org/drawingml/2006/table">
            <a:tbl>
              <a:tblPr/>
              <a:tblGrid>
                <a:gridCol w="33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№1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Состояние </a:t>
                      </a:r>
                      <a:b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</a:b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базы данных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SET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 =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-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.0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COMMIT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4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SET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 =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+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.0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COMMIT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05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B6C2FB-7B69-E4F9-0E78-1B86CD37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AAD85-D8D4-E5E8-46DD-4B65B57D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Преждевременное чтение (</a:t>
            </a:r>
            <a:r>
              <a:rPr lang="en-US" dirty="0"/>
              <a:t>Dirty READ)</a:t>
            </a:r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2AF15A88-2610-5C6D-4BDF-8C6FBD493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258526"/>
              </p:ext>
            </p:extLst>
          </p:nvPr>
        </p:nvGraphicFramePr>
        <p:xfrm>
          <a:off x="358452" y="1419224"/>
          <a:ext cx="8575675" cy="2877668"/>
        </p:xfrm>
        <a:graphic>
          <a:graphicData uri="http://schemas.openxmlformats.org/drawingml/2006/table">
            <a:tbl>
              <a:tblPr/>
              <a:tblGrid>
                <a:gridCol w="33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3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№1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Состояние </a:t>
                      </a:r>
                      <a:b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</a:b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базы данных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SET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=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=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2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ROLLBACK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97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2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A9A2-DA75-E31D-520E-3E74A7FD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77D88-C9E0-21AF-CC23-98F25DA9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FD9288-FD9C-D47B-8479-46742350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неповторяющееся чтение (</a:t>
            </a:r>
            <a:r>
              <a:rPr lang="en-US" dirty="0"/>
              <a:t>Non-repeatable READ)</a:t>
            </a:r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01D365D3-CBC0-9D00-F885-053FA1ABC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74615"/>
              </p:ext>
            </p:extLst>
          </p:nvPr>
        </p:nvGraphicFramePr>
        <p:xfrm>
          <a:off x="358452" y="1419224"/>
          <a:ext cx="8575675" cy="2549632"/>
        </p:xfrm>
        <a:graphic>
          <a:graphicData uri="http://schemas.openxmlformats.org/drawingml/2006/table">
            <a:tbl>
              <a:tblPr/>
              <a:tblGrid>
                <a:gridCol w="33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3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№1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Состояние </a:t>
                      </a:r>
                      <a:b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</a:b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базы данных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SET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=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=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COMMIT;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870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5F9E-0D18-2CE4-2633-365F4CD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32267-D524-088A-5179-57B2846C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6BFC43-10C7-858E-3DF3-83A4CF92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Фантомное чтение (</a:t>
            </a:r>
            <a:r>
              <a:rPr lang="en-US" dirty="0"/>
              <a:t>Phantom READ)</a:t>
            </a:r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840ECED9-9B29-F587-9FF9-4DF9D5BB9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25710"/>
              </p:ext>
            </p:extLst>
          </p:nvPr>
        </p:nvGraphicFramePr>
        <p:xfrm>
          <a:off x="358452" y="1419224"/>
          <a:ext cx="8575675" cy="2549632"/>
        </p:xfrm>
        <a:graphic>
          <a:graphicData uri="http://schemas.openxmlformats.org/drawingml/2006/table">
            <a:tbl>
              <a:tblPr/>
              <a:tblGrid>
                <a:gridCol w="33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3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№1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Состояние </a:t>
                      </a:r>
                      <a:b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</a:b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базы данных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AVG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(comm)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City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Кемерово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INSERT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INTO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VALUES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1020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,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Иванов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Кемерово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,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0.15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);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Добавлена строка для продавца Иванов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AVG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(comm)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City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Кемерово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'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762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5067-5A23-7F52-AEB5-1C261E42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FD7F03-AA95-70D6-064B-3542381E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247C47-62F1-DA08-DD72-101889428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Это такая история, </a:t>
            </a:r>
            <a:r>
              <a:rPr lang="ru-RU" b="1" dirty="0"/>
              <a:t>результат</a:t>
            </a:r>
            <a:r>
              <a:rPr lang="ru-RU" dirty="0"/>
              <a:t> которой эквивалентен результату </a:t>
            </a:r>
            <a:r>
              <a:rPr lang="ru-RU" i="1" dirty="0"/>
              <a:t>некоторой</a:t>
            </a:r>
            <a:r>
              <a:rPr lang="ru-RU" dirty="0"/>
              <a:t> </a:t>
            </a:r>
            <a:r>
              <a:rPr lang="ru-RU" b="1" dirty="0" err="1"/>
              <a:t>сериализованной</a:t>
            </a:r>
            <a:r>
              <a:rPr lang="ru-RU" dirty="0"/>
              <a:t> истории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F0831-FC67-769A-8E55-44C240D9E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 err="1"/>
              <a:t>сериализуемая</a:t>
            </a:r>
            <a:r>
              <a:rPr lang="ru-RU" dirty="0"/>
              <a:t> история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3FB65C-A823-7BB7-64D6-8F11C1D3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сериализуемости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649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5C4082-7DF3-06ED-76E8-287D243B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83EEA-005D-B189-4B66-7568545C88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altLang="ru-RU" sz="2800" dirty="0"/>
              <a:t>Блокировки</a:t>
            </a:r>
            <a:endParaRPr lang="ru-RU" altLang="ru-RU" sz="2800" i="1" dirty="0"/>
          </a:p>
          <a:p>
            <a:pPr lvl="1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ru-RU" altLang="ru-RU" sz="2400" dirty="0"/>
              <a:t>Элемент блокируется до начала операции.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ru-RU" altLang="ru-RU" sz="2400" dirty="0"/>
              <a:t>Примитив синхронизации. Ожидание снятия блокировки.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ru-RU" altLang="ru-RU" sz="2400" dirty="0"/>
              <a:t>Все установленные блокировки в конце концов должны быть сняты.</a:t>
            </a:r>
            <a:endParaRPr lang="en-US" altLang="ru-RU" sz="2400" dirty="0"/>
          </a:p>
          <a:p>
            <a:pPr>
              <a:lnSpc>
                <a:spcPct val="120000"/>
              </a:lnSpc>
            </a:pPr>
            <a:r>
              <a:rPr lang="ru-RU" altLang="ru-RU" sz="2800" u="sng" dirty="0"/>
              <a:t>Пессимистические блокировки.</a:t>
            </a:r>
            <a:r>
              <a:rPr lang="ru-RU" altLang="ru-RU" sz="2800" dirty="0"/>
              <a:t> Предотвращают доступ к данным для одновременных транзакций.</a:t>
            </a:r>
          </a:p>
          <a:p>
            <a:pPr>
              <a:lnSpc>
                <a:spcPct val="120000"/>
              </a:lnSpc>
            </a:pPr>
            <a:r>
              <a:rPr lang="ru-RU" altLang="ru-RU" sz="2800" u="sng" dirty="0"/>
              <a:t>Оптимистические «блокировки».</a:t>
            </a:r>
            <a:r>
              <a:rPr lang="ru-RU" altLang="ru-RU" sz="2800" dirty="0"/>
              <a:t> Отслеживают возникновение конфликтов и при необходимости выполняют откат транзакций.</a:t>
            </a:r>
            <a:endParaRPr lang="en-US" altLang="ru-RU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3A27B8-9EA4-D5C0-7BED-C49DBFDF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Предотвращение нарушений изоляции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8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43917F-A59B-5C4F-070F-A04AAEB9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E6E4A-7C9D-7AE8-EA19-F22982496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000" dirty="0"/>
              <a:t>Оптимистическое блокирование использует механизм, называемый </a:t>
            </a:r>
            <a:r>
              <a:rPr lang="ru-RU" sz="2000" b="1" dirty="0"/>
              <a:t>отметкой</a:t>
            </a:r>
            <a:r>
              <a:rPr lang="en-US" sz="2000" b="1" dirty="0"/>
              <a:t> </a:t>
            </a:r>
            <a:r>
              <a:rPr lang="ru-RU" sz="2000" b="1" dirty="0"/>
              <a:t>времени </a:t>
            </a:r>
            <a:r>
              <a:rPr lang="ru-RU" sz="2000" dirty="0"/>
              <a:t>(</a:t>
            </a:r>
            <a:r>
              <a:rPr lang="en-US" sz="2000" dirty="0"/>
              <a:t>timestamp</a:t>
            </a:r>
            <a:r>
              <a:rPr lang="ru-RU" sz="2000" dirty="0"/>
              <a:t>). </a:t>
            </a:r>
            <a:endParaRPr lang="en-US" sz="2000" dirty="0"/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Когда транзакция затрагивает элемент данных, СУБД </a:t>
            </a:r>
            <a:r>
              <a:rPr lang="ru-RU" sz="2000" b="1" dirty="0"/>
              <a:t>делает</a:t>
            </a:r>
            <a:r>
              <a:rPr lang="en-US" sz="2000" b="1" dirty="0"/>
              <a:t> </a:t>
            </a:r>
            <a:r>
              <a:rPr lang="ru-RU" sz="2000" b="1" dirty="0"/>
              <a:t>запись об этом событии </a:t>
            </a:r>
            <a:r>
              <a:rPr lang="ru-RU" sz="2000" dirty="0"/>
              <a:t>и отмечает </a:t>
            </a:r>
            <a:r>
              <a:rPr lang="ru-RU" sz="2000" b="1" dirty="0"/>
              <a:t>точное время</a:t>
            </a:r>
            <a:r>
              <a:rPr lang="ru-RU" sz="2000" dirty="0"/>
              <a:t>, когда оно произошло. </a:t>
            </a:r>
            <a:endParaRPr lang="en-US" sz="2000" dirty="0"/>
          </a:p>
          <a:p>
            <a:pPr>
              <a:lnSpc>
                <a:spcPct val="120000"/>
              </a:lnSpc>
              <a:defRPr/>
            </a:pPr>
            <a:r>
              <a:rPr lang="ru-RU" sz="2000" b="1" dirty="0"/>
              <a:t>При любом изменении </a:t>
            </a:r>
            <a:r>
              <a:rPr lang="ru-RU" sz="2000" dirty="0"/>
              <a:t>СУБД пытается проверить с помощью отметок</a:t>
            </a:r>
            <a:r>
              <a:rPr lang="en-US" sz="2000" dirty="0"/>
              <a:t> </a:t>
            </a:r>
            <a:r>
              <a:rPr lang="ru-RU" sz="2000" dirty="0"/>
              <a:t>времени, согласуется ли оно с предыдущими</a:t>
            </a:r>
            <a:endParaRPr lang="en-US" sz="2000" dirty="0"/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Если эта проверка дала отрицательный</a:t>
            </a:r>
            <a:r>
              <a:rPr lang="en-US" sz="2000" dirty="0"/>
              <a:t> </a:t>
            </a:r>
            <a:r>
              <a:rPr lang="ru-RU" sz="2000" dirty="0"/>
              <a:t>результат, СУБД проверяет, не вызвала ли транзакция конфликтов, нарушающих</a:t>
            </a:r>
            <a:r>
              <a:rPr lang="en-US" sz="2000" dirty="0"/>
              <a:t> </a:t>
            </a:r>
            <a:r>
              <a:rPr lang="ru-RU" sz="2000" dirty="0"/>
              <a:t>заданный уровень изоляции. </a:t>
            </a:r>
            <a:endParaRPr lang="en-US" sz="2000" dirty="0"/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Если такое нарушение имеет место, СУБД выполняет</a:t>
            </a:r>
            <a:r>
              <a:rPr lang="en-US" sz="2000" dirty="0"/>
              <a:t> </a:t>
            </a:r>
            <a:r>
              <a:rPr lang="ru-RU" sz="2000" dirty="0"/>
              <a:t>откат транзакции. </a:t>
            </a:r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2F0F30-E250-821C-F145-DF184D28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Оптимистическое блокирование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07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E5F5E-ED57-75D2-79B3-3CEB8571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1B0B40-7887-27ED-90B8-0496C148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 потерянным обновлением</a:t>
            </a:r>
            <a:endParaRPr lang="en-US" dirty="0"/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DCAC381F-60AC-1992-7DF6-131E206C6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1771"/>
              </p:ext>
            </p:extLst>
          </p:nvPr>
        </p:nvGraphicFramePr>
        <p:xfrm>
          <a:off x="358452" y="1419224"/>
          <a:ext cx="8575675" cy="2957378"/>
        </p:xfrm>
        <a:graphic>
          <a:graphicData uri="http://schemas.openxmlformats.org/drawingml/2006/table">
            <a:tbl>
              <a:tblPr/>
              <a:tblGrid>
                <a:gridCol w="33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№1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Состояние </a:t>
                      </a:r>
                      <a:b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</a:b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базы данных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Транзакция 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SELECT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FROM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SET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 =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-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.0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COMMIT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4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 = 0.14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UPDATE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Salespeople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SET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comm =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0.12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+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0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.0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 WHERE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snum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1001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scadia Code SemiLight" panose="020B0609020000020004" pitchFamily="49" charset="0"/>
                        <a:cs typeface="Cascadia Code SemiLight" panose="020B060902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COMMIT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;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% 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scadia Code SemiLight" panose="020B0609020000020004" pitchFamily="49" charset="0"/>
                          <a:cs typeface="Cascadia Code SemiLight" panose="020B0609020000020004" pitchFamily="49" charset="0"/>
                        </a:rPr>
                        <a:t>СУБД выдаст ошибку</a:t>
                      </a:r>
                    </a:p>
                  </a:txBody>
                  <a:tcPr marL="72003" marR="72003" marT="36002" marB="36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531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7219FD-E3D9-9ACF-FAAF-1B60ADD1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0BC6F-0D3A-DC13-7925-2952D6560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719138" lvl="2" indent="-4572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000" dirty="0">
                <a:sym typeface="Symbol" panose="05050102010706020507" pitchFamily="18" charset="2"/>
              </a:rPr>
              <a:t>Что может быть элементом блокировки?</a:t>
            </a:r>
          </a:p>
          <a:p>
            <a:pPr marL="719138" lvl="2" indent="-457200">
              <a:lnSpc>
                <a:spcPct val="90000"/>
              </a:lnSpc>
            </a:pPr>
            <a:r>
              <a:rPr lang="ru-RU" altLang="ru-RU" sz="2000" dirty="0">
                <a:sym typeface="Symbol" panose="05050102010706020507" pitchFamily="18" charset="2"/>
              </a:rPr>
              <a:t>Отношение</a:t>
            </a:r>
          </a:p>
          <a:p>
            <a:pPr marL="719138" lvl="2" indent="-457200">
              <a:lnSpc>
                <a:spcPct val="90000"/>
              </a:lnSpc>
            </a:pPr>
            <a:r>
              <a:rPr lang="ru-RU" altLang="ru-RU" sz="2000" dirty="0">
                <a:sym typeface="Symbol" panose="05050102010706020507" pitchFamily="18" charset="2"/>
              </a:rPr>
              <a:t>Кортеж</a:t>
            </a:r>
          </a:p>
          <a:p>
            <a:pPr marL="719138" lvl="2" indent="-457200">
              <a:lnSpc>
                <a:spcPct val="90000"/>
              </a:lnSpc>
            </a:pPr>
            <a:r>
              <a:rPr lang="ru-RU" altLang="ru-RU" sz="2000" dirty="0">
                <a:sym typeface="Symbol" panose="05050102010706020507" pitchFamily="18" charset="2"/>
              </a:rPr>
              <a:t>Компоненты кортежа</a:t>
            </a:r>
          </a:p>
          <a:p>
            <a:pPr marL="719138" lvl="2" indent="-457200">
              <a:lnSpc>
                <a:spcPct val="90000"/>
              </a:lnSpc>
            </a:pPr>
            <a:r>
              <a:rPr lang="ru-RU" altLang="ru-RU" sz="2000" dirty="0">
                <a:sym typeface="Symbol" panose="05050102010706020507" pitchFamily="18" charset="2"/>
              </a:rPr>
              <a:t>Возможно некоторая совокупность кортежей (блок)</a:t>
            </a:r>
          </a:p>
          <a:p>
            <a:pPr marL="719138" lvl="2" indent="-4572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000" dirty="0">
                <a:sym typeface="Symbol" panose="05050102010706020507" pitchFamily="18" charset="2"/>
              </a:rPr>
              <a:t>Размер элемента блокировки определяется СУБД, исходя из размера элемента, которым манипулирует </a:t>
            </a:r>
            <a:r>
              <a:rPr lang="ru-RU" altLang="ru-RU" sz="2000" u="sng" dirty="0">
                <a:sym typeface="Symbol" panose="05050102010706020507" pitchFamily="18" charset="2"/>
              </a:rPr>
              <a:t>средняя </a:t>
            </a:r>
            <a:r>
              <a:rPr lang="ru-RU" altLang="ru-RU" sz="2000" dirty="0">
                <a:sym typeface="Symbol" panose="05050102010706020507" pitchFamily="18" charset="2"/>
              </a:rPr>
              <a:t>транзакция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53494E-F47C-31CE-9626-EA66024C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Гранулярность 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578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418CE-5BB4-299F-BCB8-F49D7A47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520EC-5335-25FF-7B51-032AE131D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36668-D7B8-AD45-6E28-818873A5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2730EE8-2AB8-04B0-445B-04F875CFD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554471"/>
              </p:ext>
            </p:extLst>
          </p:nvPr>
        </p:nvGraphicFramePr>
        <p:xfrm>
          <a:off x="350837" y="1395996"/>
          <a:ext cx="8541643" cy="295275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88339">
                  <a:extLst>
                    <a:ext uri="{9D8B030D-6E8A-4147-A177-3AD203B41FA5}">
                      <a16:colId xmlns:a16="http://schemas.microsoft.com/office/drawing/2014/main" val="67546842"/>
                    </a:ext>
                  </a:extLst>
                </a:gridCol>
                <a:gridCol w="1537499">
                  <a:extLst>
                    <a:ext uri="{9D8B030D-6E8A-4147-A177-3AD203B41FA5}">
                      <a16:colId xmlns:a16="http://schemas.microsoft.com/office/drawing/2014/main" val="1095671425"/>
                    </a:ext>
                  </a:extLst>
                </a:gridCol>
                <a:gridCol w="1127373">
                  <a:extLst>
                    <a:ext uri="{9D8B030D-6E8A-4147-A177-3AD203B41FA5}">
                      <a16:colId xmlns:a16="http://schemas.microsoft.com/office/drawing/2014/main" val="2207613126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55242318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80525659"/>
                    </a:ext>
                  </a:extLst>
                </a:gridCol>
              </a:tblGrid>
              <a:tr h="684716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+mj-lt"/>
                        </a:rPr>
                        <a:t>Уровень изоляции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Потерянное обновление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Грязное чтение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Неповторяющееся чтение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Фантомное чтение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31318"/>
                  </a:ext>
                </a:extLst>
              </a:tr>
              <a:tr h="776444">
                <a:tc>
                  <a:txBody>
                    <a:bodyPr/>
                    <a:lstStyle/>
                    <a:p>
                      <a:r>
                        <a:rPr lang="en-US" sz="1600" dirty="0"/>
                        <a:t>Read Uncommitted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011266"/>
                  </a:ext>
                </a:extLst>
              </a:tr>
              <a:tr h="497197">
                <a:tc>
                  <a:txBody>
                    <a:bodyPr/>
                    <a:lstStyle/>
                    <a:p>
                      <a:r>
                        <a:rPr lang="en-US" sz="1600" dirty="0"/>
                        <a:t>Read Committed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659816"/>
                  </a:ext>
                </a:extLst>
              </a:tr>
              <a:tr h="497197">
                <a:tc>
                  <a:txBody>
                    <a:bodyPr/>
                    <a:lstStyle/>
                    <a:p>
                      <a:r>
                        <a:rPr lang="en-US" sz="1600" dirty="0"/>
                        <a:t>Repeatable Read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ru-RU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593285"/>
                  </a:ext>
                </a:extLst>
              </a:tr>
              <a:tr h="497197">
                <a:tc>
                  <a:txBody>
                    <a:bodyPr/>
                    <a:lstStyle/>
                    <a:p>
                      <a:r>
                        <a:rPr lang="en-US" sz="1600" dirty="0"/>
                        <a:t>Serializable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x</a:t>
                      </a:r>
                      <a:endParaRPr lang="ru-RU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691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262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1D377-06B5-A5BB-8DBA-E9471188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1259B-461B-37F7-031F-DA215DEB6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Разделяемые блокировки</a:t>
            </a:r>
            <a:r>
              <a:rPr lang="ru-RU" dirty="0"/>
              <a:t> (</a:t>
            </a:r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locks</a:t>
            </a:r>
            <a:r>
              <a:rPr lang="ru-RU" dirty="0"/>
              <a:t>) позволяют ЛЮБОМУ количеству пользователей иметь доступ к данным, но НЕ ИЗМЕНЯТЬ их. </a:t>
            </a:r>
          </a:p>
          <a:p>
            <a:r>
              <a:rPr lang="ru-RU" b="1" dirty="0"/>
              <a:t>Эксклюзивные блокировки</a:t>
            </a:r>
            <a:r>
              <a:rPr lang="ru-RU" dirty="0"/>
              <a:t> (</a:t>
            </a:r>
            <a:r>
              <a:rPr lang="ru-RU" dirty="0" err="1"/>
              <a:t>eXclusive</a:t>
            </a:r>
            <a:r>
              <a:rPr lang="ru-RU" dirty="0"/>
              <a:t> </a:t>
            </a:r>
            <a:r>
              <a:rPr lang="ru-RU" dirty="0" err="1"/>
              <a:t>locks</a:t>
            </a:r>
            <a:r>
              <a:rPr lang="ru-RU" dirty="0"/>
              <a:t>) позволяют иметь доступ к данным только владельцам блокировки</a:t>
            </a:r>
            <a:br>
              <a:rPr lang="en-US" dirty="0"/>
            </a:br>
            <a:r>
              <a:rPr lang="ru-RU" dirty="0"/>
              <a:t>Используются для команд, ИЗМЕНЯЮЩИХ содержимое или структуру таблицы. Позволяют исключить потерянные обновления</a:t>
            </a:r>
          </a:p>
          <a:p>
            <a:r>
              <a:rPr lang="ru-RU" dirty="0"/>
              <a:t>Можно одновременно устанавливать блокировки обоих типов.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EAC6C8-3799-4C3B-5A6A-D92DF3A0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пессимистических 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4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E5F960-3D72-0AF8-4AA4-22EAF608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25A1D5-C7C7-4948-691C-845AC5CCBC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Взаимоблокировки (тупики)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9D6BD9-BA90-D981-272D-5A14B205316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T1: Lock(A); Lock(B); </a:t>
            </a:r>
          </a:p>
          <a:p>
            <a:r>
              <a:rPr lang="en-US" dirty="0"/>
              <a:t>T2: Lock(B); Lock(A);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F29A27-933F-071B-0DBC-636932A5D0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T1 </a:t>
            </a:r>
            <a:r>
              <a:rPr lang="ru-RU" dirty="0"/>
              <a:t>и </a:t>
            </a:r>
            <a:r>
              <a:rPr lang="en-US" dirty="0"/>
              <a:t>T2 </a:t>
            </a:r>
            <a:r>
              <a:rPr lang="ru-RU" dirty="0"/>
              <a:t>стоят в ожидании блокировки ресурса </a:t>
            </a:r>
            <a:r>
              <a:rPr lang="en-US" dirty="0"/>
              <a:t>A</a:t>
            </a:r>
            <a:r>
              <a:rPr lang="ru-RU" dirty="0"/>
              <a:t>, заблокированного </a:t>
            </a:r>
            <a:r>
              <a:rPr lang="en-US" dirty="0"/>
              <a:t>T.</a:t>
            </a:r>
          </a:p>
          <a:p>
            <a:r>
              <a:rPr lang="ru-RU" dirty="0"/>
              <a:t>Когда Т отпускает блокировку </a:t>
            </a:r>
            <a:r>
              <a:rPr lang="en-US" dirty="0"/>
              <a:t>A</a:t>
            </a:r>
            <a:r>
              <a:rPr lang="ru-RU" dirty="0"/>
              <a:t>, её захватывает </a:t>
            </a:r>
            <a:r>
              <a:rPr lang="en-US" dirty="0"/>
              <a:t>T2</a:t>
            </a:r>
            <a:r>
              <a:rPr lang="ru-RU" dirty="0"/>
              <a:t>. </a:t>
            </a:r>
          </a:p>
          <a:p>
            <a:r>
              <a:rPr lang="ru-RU" dirty="0"/>
              <a:t>Т3 тоже запрашивает блокировку А.</a:t>
            </a:r>
          </a:p>
          <a:p>
            <a:r>
              <a:rPr lang="ru-RU" dirty="0"/>
              <a:t>Когда </a:t>
            </a:r>
            <a:r>
              <a:rPr lang="en-US" dirty="0"/>
              <a:t>T2 </a:t>
            </a:r>
            <a:r>
              <a:rPr lang="ru-RU" dirty="0"/>
              <a:t>отпускает блокировку, её захватывает </a:t>
            </a:r>
            <a:r>
              <a:rPr lang="en-US" dirty="0"/>
              <a:t>T3</a:t>
            </a:r>
          </a:p>
          <a:p>
            <a:r>
              <a:rPr lang="en-US" dirty="0"/>
              <a:t>T1 </a:t>
            </a:r>
            <a:r>
              <a:rPr lang="ru-RU" dirty="0"/>
              <a:t>так и стоит в ожидании</a:t>
            </a:r>
          </a:p>
          <a:p>
            <a:r>
              <a:rPr lang="ru-RU" dirty="0"/>
              <a:t>Вариант: </a:t>
            </a:r>
            <a:r>
              <a:rPr lang="en-US" dirty="0"/>
              <a:t>T1 </a:t>
            </a:r>
            <a:r>
              <a:rPr lang="ru-RU" dirty="0"/>
              <a:t>стоит в ожидании </a:t>
            </a:r>
            <a:r>
              <a:rPr lang="en-US" dirty="0"/>
              <a:t>X-</a:t>
            </a:r>
            <a:r>
              <a:rPr lang="ru-RU" dirty="0"/>
              <a:t>блокировки, пока транзакции </a:t>
            </a:r>
            <a:r>
              <a:rPr lang="en-US" dirty="0"/>
              <a:t>T2… </a:t>
            </a:r>
            <a:r>
              <a:rPr lang="ru-RU" dirty="0"/>
              <a:t>удерживают </a:t>
            </a:r>
            <a:r>
              <a:rPr lang="en-US" dirty="0"/>
              <a:t>S-</a:t>
            </a:r>
            <a:r>
              <a:rPr lang="ru-RU" dirty="0"/>
              <a:t>блокировку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A326FE-57A9-1A71-7B22-8E192CD9A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Бесконечные ожидания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9C5815-00EC-5F9B-BF83-C092276B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пессимистичных 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20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A6B79A-24F5-C731-20AA-6B4C9B65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B2A6F0-4031-632F-85B1-F6E4053606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T1: Lock(A, B);</a:t>
            </a:r>
          </a:p>
          <a:p>
            <a:r>
              <a:rPr lang="en-US" dirty="0"/>
              <a:t>T2: Lock(B, A);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615227-0A41-62C9-4CDD-2FDE3A4EFE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Вариант 1: атомарная блокировка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6680C9-8F04-9017-AB72-4200DE6F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Разрешение Взаимоблокировок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01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B670-A202-B57B-61F6-763430EC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D9B6D-7DC4-563C-8000-DA924640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0C4E86-D2A3-C89F-EB78-96257340F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r>
              <a:rPr lang="ru-RU" sz="2000" dirty="0"/>
              <a:t>Пусть на множестве элементов БД введен </a:t>
            </a:r>
            <a:r>
              <a:rPr lang="ru-RU" sz="2000" b="1" u="sng" dirty="0"/>
              <a:t>полный линейный </a:t>
            </a:r>
            <a:r>
              <a:rPr lang="ru-RU" sz="2000" dirty="0"/>
              <a:t>порядок</a:t>
            </a:r>
            <a:r>
              <a:rPr lang="en-US" sz="2000" dirty="0"/>
              <a:t> </a:t>
            </a:r>
            <a:r>
              <a:rPr lang="ru-RU" sz="2000" dirty="0"/>
              <a:t>: </a:t>
            </a:r>
            <a:r>
              <a:rPr lang="ru-RU" sz="2000" dirty="0">
                <a:solidFill>
                  <a:srgbClr val="3333FF"/>
                </a:solidFill>
              </a:rPr>
              <a:t>А</a:t>
            </a:r>
            <a:r>
              <a:rPr lang="en-US" sz="2000" dirty="0"/>
              <a:t>&lt;</a:t>
            </a:r>
            <a:r>
              <a:rPr lang="en-US" sz="2000" dirty="0">
                <a:solidFill>
                  <a:srgbClr val="008000"/>
                </a:solidFill>
              </a:rPr>
              <a:t>B</a:t>
            </a:r>
            <a:r>
              <a:rPr lang="en-US" sz="2000" dirty="0"/>
              <a:t>&lt;C</a:t>
            </a:r>
            <a:r>
              <a:rPr lang="en-US" dirty="0"/>
              <a:t>&lt;</a:t>
            </a:r>
            <a:r>
              <a:rPr lang="en-US" sz="2000" dirty="0"/>
              <a:t> …&lt;Z</a:t>
            </a:r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r>
              <a:rPr lang="ru-RU" dirty="0"/>
              <a:t>Тогда все транзакции обязаны блокировать элементы ровно в этом порядке:</a:t>
            </a:r>
            <a:endParaRPr lang="en-US" dirty="0"/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r>
              <a:rPr lang="en-US" dirty="0"/>
              <a:t>T1: Lock(A); Lock(B);</a:t>
            </a:r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r>
              <a:rPr lang="en-US" dirty="0"/>
              <a:t>T2: Lock(B); Lock(C);</a:t>
            </a:r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r>
              <a:rPr lang="en-US" dirty="0"/>
              <a:t>T3; Lock(A); Lock(C);</a:t>
            </a:r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endParaRPr lang="ru-R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60EAF-2891-D05B-F8D7-0012CBCBFD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Вариант </a:t>
            </a:r>
            <a:r>
              <a:rPr lang="en-US" dirty="0"/>
              <a:t>2</a:t>
            </a:r>
            <a:r>
              <a:rPr lang="ru-RU" dirty="0"/>
              <a:t>: упорядоченная блокировка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D412F76-C57D-ADF5-D7EE-ABCD3DB5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Разрешение Взаимоблокировок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712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E383-6DAA-6FEA-D640-850C4467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C2BEF2-6EDE-E8BE-40E7-7B5100B3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86496A-78A7-AE4E-246E-78AC9008A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4"/>
            <a:ext cx="8541643" cy="261518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dirty="0"/>
              <a:t>Строим граф ожиданий:</a:t>
            </a:r>
          </a:p>
          <a:p>
            <a:pPr lvl="1">
              <a:defRPr/>
            </a:pPr>
            <a:r>
              <a:rPr lang="ru-RU" dirty="0"/>
              <a:t>Вершины графа – транзакции.</a:t>
            </a:r>
          </a:p>
          <a:p>
            <a:pPr lvl="1">
              <a:defRPr/>
            </a:pPr>
            <a:r>
              <a:rPr lang="ru-RU" dirty="0"/>
              <a:t>Дуга из 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1 </a:t>
            </a:r>
            <a:r>
              <a:rPr lang="ru-RU" dirty="0"/>
              <a:t>в 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2  </a:t>
            </a:r>
            <a:r>
              <a:rPr lang="ru-RU" dirty="0"/>
              <a:t>(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1 </a:t>
            </a:r>
            <a:r>
              <a:rPr lang="ru-RU" dirty="0">
                <a:cs typeface="Times New Roman" pitchFamily="18" charset="0"/>
                <a:sym typeface="Symbol"/>
              </a:rPr>
              <a:t>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ru-RU" dirty="0"/>
              <a:t>) означает, что 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1 </a:t>
            </a:r>
            <a:r>
              <a:rPr lang="ru-RU" dirty="0"/>
              <a:t>ожидает выполнения запроса на блокировку элемента БД, заблокированного  в данный момент 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baseline="-25000" dirty="0">
                <a:cs typeface="Times New Roman" pitchFamily="18" charset="0"/>
                <a:sym typeface="Symbol" pitchFamily="18" charset="2"/>
              </a:rPr>
              <a:t>2 </a:t>
            </a:r>
          </a:p>
          <a:p>
            <a:pPr>
              <a:defRPr/>
            </a:pPr>
            <a:r>
              <a:rPr lang="ru-RU" dirty="0">
                <a:cs typeface="Times New Roman" pitchFamily="18" charset="0"/>
                <a:sym typeface="Symbol" pitchFamily="18" charset="2"/>
              </a:rPr>
              <a:t>Каждый цикл в графе указывает на взаимоблокировку</a:t>
            </a:r>
          </a:p>
          <a:p>
            <a:pPr>
              <a:defRPr/>
            </a:pPr>
            <a:r>
              <a:rPr lang="ru-RU" dirty="0">
                <a:cs typeface="Times New Roman" pitchFamily="18" charset="0"/>
                <a:sym typeface="Symbol" pitchFamily="18" charset="2"/>
              </a:rPr>
              <a:t>В случае обнаружения цикла </a:t>
            </a:r>
            <a:r>
              <a:rPr lang="ru-RU" b="1" dirty="0">
                <a:cs typeface="Times New Roman" pitchFamily="18" charset="0"/>
                <a:sym typeface="Symbol" pitchFamily="18" charset="2"/>
              </a:rPr>
              <a:t>делается откат (</a:t>
            </a:r>
            <a:r>
              <a:rPr lang="en-US" b="1" dirty="0">
                <a:cs typeface="Times New Roman" pitchFamily="18" charset="0"/>
                <a:sym typeface="Symbol" pitchFamily="18" charset="2"/>
              </a:rPr>
              <a:t>rollback)</a:t>
            </a:r>
            <a:r>
              <a:rPr lang="ru-RU" b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u-RU" dirty="0">
                <a:cs typeface="Times New Roman" pitchFamily="18" charset="0"/>
                <a:sym typeface="Symbol" pitchFamily="18" charset="2"/>
              </a:rPr>
              <a:t>одной из транзакций, попавших в цикл.</a:t>
            </a:r>
          </a:p>
          <a:p>
            <a:pPr lvl="1">
              <a:defRPr/>
            </a:pPr>
            <a:r>
              <a:rPr lang="ru-RU" dirty="0">
                <a:cs typeface="Times New Roman" pitchFamily="18" charset="0"/>
                <a:sym typeface="Symbol" pitchFamily="18" charset="2"/>
              </a:rPr>
              <a:t>Самой «молодой»</a:t>
            </a:r>
          </a:p>
          <a:p>
            <a:pPr lvl="1">
              <a:defRPr/>
            </a:pPr>
            <a:r>
              <a:rPr lang="ru-RU" dirty="0">
                <a:cs typeface="Times New Roman" pitchFamily="18" charset="0"/>
                <a:sym typeface="Symbol" pitchFamily="18" charset="2"/>
              </a:rPr>
              <a:t>Самой «дешёвой»</a:t>
            </a:r>
            <a:endParaRPr lang="ru-RU" dirty="0"/>
          </a:p>
          <a:p>
            <a:pPr marL="0" indent="0" algn="just">
              <a:lnSpc>
                <a:spcPct val="120000"/>
              </a:lnSpc>
              <a:buSzPct val="90000"/>
              <a:buFont typeface="Wingdings" panose="05000000000000000000" pitchFamily="2" charset="2"/>
              <a:buNone/>
              <a:defRPr/>
            </a:pPr>
            <a:endParaRPr lang="ru-R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1C31F66-3D88-16F2-0F5E-77E4521001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Вариант </a:t>
            </a:r>
            <a:r>
              <a:rPr lang="en-US" dirty="0"/>
              <a:t>3</a:t>
            </a:r>
            <a:r>
              <a:rPr lang="ru-RU" dirty="0"/>
              <a:t>: устранение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0388707-3E6A-C6D3-324F-FFF0563F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Разрешение Взаимоблокировок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428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E35D-36B2-10B2-00C1-7D8D7D43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F75E8-E49A-1AF4-09FE-44C529CA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E9D7F9-9873-78E8-CB0A-CC6B4656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сериализуемости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82EE6F-448F-0F25-B160-A4B8EE5A06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000" dirty="0"/>
              <a:t>Параллельное исполнение транзакций </a:t>
            </a:r>
            <a:r>
              <a:rPr lang="ru-RU" sz="2000" b="1" dirty="0"/>
              <a:t>КОРРЕКТНО</a:t>
            </a:r>
            <a:r>
              <a:rPr lang="ru-RU" sz="2000" dirty="0"/>
              <a:t> т. и т. т., когда их </a:t>
            </a:r>
            <a:r>
              <a:rPr lang="ru-RU" sz="2000" b="1" dirty="0"/>
              <a:t>совместный результат будет тем же самым, </a:t>
            </a:r>
            <a:r>
              <a:rPr lang="ru-RU" sz="2000" dirty="0"/>
              <a:t>что и при исполнении этих транзакций </a:t>
            </a:r>
            <a:r>
              <a:rPr lang="ru-RU" sz="2000" b="1" dirty="0"/>
              <a:t>в некотором последовательном порядке.</a:t>
            </a:r>
          </a:p>
          <a:p>
            <a:pPr>
              <a:spcBef>
                <a:spcPct val="50000"/>
              </a:spcBef>
              <a:defRPr/>
            </a:pPr>
            <a:r>
              <a:rPr lang="ru-RU" sz="2000" b="1" dirty="0"/>
              <a:t>Расписание </a:t>
            </a:r>
            <a:r>
              <a:rPr lang="ru-RU" sz="2000" dirty="0"/>
              <a:t>совокупности транзакций – </a:t>
            </a:r>
            <a:r>
              <a:rPr lang="ru-RU" sz="2000" b="1" dirty="0"/>
              <a:t>порядок</a:t>
            </a:r>
            <a:r>
              <a:rPr lang="ru-RU" sz="2000" dirty="0"/>
              <a:t> в котором выполняются </a:t>
            </a:r>
            <a:r>
              <a:rPr lang="ru-RU" sz="2000" b="1" dirty="0"/>
              <a:t>ЭЛЕМЕНТАРНЫЕ</a:t>
            </a:r>
            <a:r>
              <a:rPr lang="ru-RU" sz="2000" dirty="0"/>
              <a:t> шаги этих транзакций (</a:t>
            </a:r>
            <a:r>
              <a:rPr lang="ru-RU" dirty="0"/>
              <a:t>блокировка, </a:t>
            </a:r>
            <a:r>
              <a:rPr lang="ru-RU" sz="2000" dirty="0"/>
              <a:t>чтение, запись).</a:t>
            </a:r>
          </a:p>
          <a:p>
            <a:pPr>
              <a:spcBef>
                <a:spcPct val="50000"/>
              </a:spcBef>
              <a:defRPr/>
            </a:pPr>
            <a:r>
              <a:rPr lang="ru-RU" sz="2000" dirty="0"/>
              <a:t>Расписание называется </a:t>
            </a:r>
            <a:r>
              <a:rPr lang="ru-RU" sz="2000" b="1" dirty="0"/>
              <a:t>последовательным</a:t>
            </a:r>
            <a:r>
              <a:rPr lang="ru-RU" sz="2000" dirty="0"/>
              <a:t>, если все шаги каждой транзакции выполняются вслед или перед всеми шагами других транзакций.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ru-RU" sz="2000" dirty="0"/>
              <a:t>Расписание называется </a:t>
            </a:r>
            <a:r>
              <a:rPr lang="ru-RU" sz="2000" b="1" dirty="0" err="1"/>
              <a:t>сериализуемым</a:t>
            </a:r>
            <a:r>
              <a:rPr lang="ru-RU" sz="2000" dirty="0"/>
              <a:t>, если его результат </a:t>
            </a:r>
            <a:r>
              <a:rPr lang="ru-RU" sz="2000" b="1" dirty="0"/>
              <a:t>ЭКВИВАЛЕНТЕН</a:t>
            </a:r>
            <a:r>
              <a:rPr lang="ru-RU" sz="2000" dirty="0"/>
              <a:t> результату некоторого последовательного расписания.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38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0D35A-1673-EEA7-8FC0-C512BEF3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26E1A4-3F71-BC3D-5A03-9A0CF5F5F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49011DC-FCD3-168B-2416-A2C571D951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Последовательное расписание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42C393-4A33-D134-0473-1D0EB018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сериализуемости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F41A27-50C1-46CD-B3CD-485B37EFF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437186"/>
              </p:ext>
            </p:extLst>
          </p:nvPr>
        </p:nvGraphicFramePr>
        <p:xfrm>
          <a:off x="350836" y="1852171"/>
          <a:ext cx="8541644" cy="185420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412852">
                  <a:extLst>
                    <a:ext uri="{9D8B030D-6E8A-4147-A177-3AD203B41FA5}">
                      <a16:colId xmlns:a16="http://schemas.microsoft.com/office/drawing/2014/main" val="2419397595"/>
                    </a:ext>
                  </a:extLst>
                </a:gridCol>
                <a:gridCol w="7128792">
                  <a:extLst>
                    <a:ext uri="{9D8B030D-6E8A-4147-A177-3AD203B41FA5}">
                      <a16:colId xmlns:a16="http://schemas.microsoft.com/office/drawing/2014/main" val="3433347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6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63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1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5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90221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4B27596-889B-D9BE-DBAF-1C4D61021FED}"/>
              </a:ext>
            </a:extLst>
          </p:cNvPr>
          <p:cNvSpPr/>
          <p:nvPr/>
        </p:nvSpPr>
        <p:spPr>
          <a:xfrm>
            <a:off x="1835696" y="1923678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628EF-1091-4802-719A-FA9AD3193F42}"/>
              </a:ext>
            </a:extLst>
          </p:cNvPr>
          <p:cNvSpPr/>
          <p:nvPr/>
        </p:nvSpPr>
        <p:spPr>
          <a:xfrm>
            <a:off x="3200822" y="2293360"/>
            <a:ext cx="180322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17B11-29CA-7FBB-411E-A78A61B7C464}"/>
              </a:ext>
            </a:extLst>
          </p:cNvPr>
          <p:cNvSpPr/>
          <p:nvPr/>
        </p:nvSpPr>
        <p:spPr>
          <a:xfrm>
            <a:off x="5148064" y="2673232"/>
            <a:ext cx="86409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DF5D6D-9D75-4BB9-4D51-7E7331ED3FDB}"/>
              </a:ext>
            </a:extLst>
          </p:cNvPr>
          <p:cNvSpPr/>
          <p:nvPr/>
        </p:nvSpPr>
        <p:spPr>
          <a:xfrm>
            <a:off x="6012160" y="3028557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E96E9-3B20-AE9B-230B-962882B4DF24}"/>
              </a:ext>
            </a:extLst>
          </p:cNvPr>
          <p:cNvSpPr/>
          <p:nvPr/>
        </p:nvSpPr>
        <p:spPr>
          <a:xfrm>
            <a:off x="7421700" y="3435846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26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912E-FC8D-0DF8-A396-B038FEBD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F85B-24C8-68C6-7DD3-475475E5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20309-568F-0C81-67A9-4A0976EF3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28B216-4324-5BD3-B0D0-209D1CC44F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Произвольное расписание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6F9929-D53F-6FC3-414A-CD5A3B63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сериализуемости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61259F-6FA9-4822-0255-5655FFCA802C}"/>
              </a:ext>
            </a:extLst>
          </p:cNvPr>
          <p:cNvGraphicFramePr>
            <a:graphicFrameLocks noGrp="1"/>
          </p:cNvGraphicFramePr>
          <p:nvPr/>
        </p:nvGraphicFramePr>
        <p:xfrm>
          <a:off x="350836" y="1852171"/>
          <a:ext cx="8541644" cy="185420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412852">
                  <a:extLst>
                    <a:ext uri="{9D8B030D-6E8A-4147-A177-3AD203B41FA5}">
                      <a16:colId xmlns:a16="http://schemas.microsoft.com/office/drawing/2014/main" val="2419397595"/>
                    </a:ext>
                  </a:extLst>
                </a:gridCol>
                <a:gridCol w="7128792">
                  <a:extLst>
                    <a:ext uri="{9D8B030D-6E8A-4147-A177-3AD203B41FA5}">
                      <a16:colId xmlns:a16="http://schemas.microsoft.com/office/drawing/2014/main" val="3433347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6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63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1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5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90221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4F0E190-C453-66F6-892D-D2B93FE84880}"/>
              </a:ext>
            </a:extLst>
          </p:cNvPr>
          <p:cNvSpPr/>
          <p:nvPr/>
        </p:nvSpPr>
        <p:spPr>
          <a:xfrm>
            <a:off x="1835696" y="1923678"/>
            <a:ext cx="6120680" cy="212078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E31448-6044-D364-60B7-A1328853DFCC}"/>
              </a:ext>
            </a:extLst>
          </p:cNvPr>
          <p:cNvSpPr/>
          <p:nvPr/>
        </p:nvSpPr>
        <p:spPr>
          <a:xfrm>
            <a:off x="3200822" y="2293360"/>
            <a:ext cx="3171378" cy="212078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9880D-AAE5-4574-0BE9-14888299D4B7}"/>
              </a:ext>
            </a:extLst>
          </p:cNvPr>
          <p:cNvSpPr/>
          <p:nvPr/>
        </p:nvSpPr>
        <p:spPr>
          <a:xfrm>
            <a:off x="5148064" y="2673232"/>
            <a:ext cx="86409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3B48DD-9D6E-2F85-F36B-FC70E7DB6D7A}"/>
              </a:ext>
            </a:extLst>
          </p:cNvPr>
          <p:cNvSpPr/>
          <p:nvPr/>
        </p:nvSpPr>
        <p:spPr>
          <a:xfrm>
            <a:off x="6012160" y="3036377"/>
            <a:ext cx="2160240" cy="212078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E2798D-D3DF-B40A-357B-0B7D6B725BC6}"/>
              </a:ext>
            </a:extLst>
          </p:cNvPr>
          <p:cNvSpPr/>
          <p:nvPr/>
        </p:nvSpPr>
        <p:spPr>
          <a:xfrm>
            <a:off x="7421700" y="3435846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29C51-9003-756C-2154-760696873015}"/>
              </a:ext>
            </a:extLst>
          </p:cNvPr>
          <p:cNvSpPr/>
          <p:nvPr/>
        </p:nvSpPr>
        <p:spPr>
          <a:xfrm>
            <a:off x="1835695" y="1923678"/>
            <a:ext cx="288033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C76DA-BC75-0AFE-1B85-B0A0424CE56B}"/>
              </a:ext>
            </a:extLst>
          </p:cNvPr>
          <p:cNvSpPr/>
          <p:nvPr/>
        </p:nvSpPr>
        <p:spPr>
          <a:xfrm>
            <a:off x="2699792" y="1923678"/>
            <a:ext cx="288033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EE5D1-F8E1-42B4-67FC-FD0DD33632D9}"/>
              </a:ext>
            </a:extLst>
          </p:cNvPr>
          <p:cNvSpPr/>
          <p:nvPr/>
        </p:nvSpPr>
        <p:spPr>
          <a:xfrm>
            <a:off x="3789290" y="1923678"/>
            <a:ext cx="288033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E23A19-5377-A6F4-BB36-A19E8DD936D4}"/>
              </a:ext>
            </a:extLst>
          </p:cNvPr>
          <p:cNvSpPr/>
          <p:nvPr/>
        </p:nvSpPr>
        <p:spPr>
          <a:xfrm>
            <a:off x="7668343" y="1923678"/>
            <a:ext cx="288033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717198-EC80-3343-33A9-DBCB373A8026}"/>
              </a:ext>
            </a:extLst>
          </p:cNvPr>
          <p:cNvSpPr/>
          <p:nvPr/>
        </p:nvSpPr>
        <p:spPr>
          <a:xfrm>
            <a:off x="3200821" y="2293360"/>
            <a:ext cx="651099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0EB7E6-0BED-0E13-EB96-CFCFBC196505}"/>
              </a:ext>
            </a:extLst>
          </p:cNvPr>
          <p:cNvSpPr/>
          <p:nvPr/>
        </p:nvSpPr>
        <p:spPr>
          <a:xfrm>
            <a:off x="4262327" y="2293360"/>
            <a:ext cx="651099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2C63B6-0DCB-67CB-AD15-2C59199C3E9B}"/>
              </a:ext>
            </a:extLst>
          </p:cNvPr>
          <p:cNvSpPr/>
          <p:nvPr/>
        </p:nvSpPr>
        <p:spPr>
          <a:xfrm>
            <a:off x="6156176" y="2293360"/>
            <a:ext cx="216024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21DA96-1787-563F-D72A-347765ADBC02}"/>
              </a:ext>
            </a:extLst>
          </p:cNvPr>
          <p:cNvSpPr/>
          <p:nvPr/>
        </p:nvSpPr>
        <p:spPr>
          <a:xfrm>
            <a:off x="6012159" y="3036377"/>
            <a:ext cx="1080121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27E7E4-688D-D8C8-13CA-C52D5CA9E77A}"/>
              </a:ext>
            </a:extLst>
          </p:cNvPr>
          <p:cNvSpPr/>
          <p:nvPr/>
        </p:nvSpPr>
        <p:spPr>
          <a:xfrm>
            <a:off x="7529314" y="3036377"/>
            <a:ext cx="64308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04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3D67-E7AA-20B5-965F-989418FC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903EDB-5C28-45CC-B814-22961438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7330C2-9A43-DF1C-19B3-240570AEC2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338AFB-26C3-3D4D-20EB-05CB8918C6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 err="1"/>
              <a:t>Сериализованное</a:t>
            </a:r>
            <a:r>
              <a:rPr lang="ru-RU" dirty="0"/>
              <a:t> расписание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E64CE6-BC26-D8D6-2F3F-0EB1CD0FB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сериализуемости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FD9C28-2B61-5215-581F-6E2ED0130671}"/>
              </a:ext>
            </a:extLst>
          </p:cNvPr>
          <p:cNvGraphicFramePr>
            <a:graphicFrameLocks noGrp="1"/>
          </p:cNvGraphicFramePr>
          <p:nvPr/>
        </p:nvGraphicFramePr>
        <p:xfrm>
          <a:off x="350836" y="1852171"/>
          <a:ext cx="8541644" cy="185420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412852">
                  <a:extLst>
                    <a:ext uri="{9D8B030D-6E8A-4147-A177-3AD203B41FA5}">
                      <a16:colId xmlns:a16="http://schemas.microsoft.com/office/drawing/2014/main" val="2419397595"/>
                    </a:ext>
                  </a:extLst>
                </a:gridCol>
                <a:gridCol w="7128792">
                  <a:extLst>
                    <a:ext uri="{9D8B030D-6E8A-4147-A177-3AD203B41FA5}">
                      <a16:colId xmlns:a16="http://schemas.microsoft.com/office/drawing/2014/main" val="3433347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6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63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1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5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90221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B8BA048-C1D8-9E68-677D-4EFCDFFFFA45}"/>
              </a:ext>
            </a:extLst>
          </p:cNvPr>
          <p:cNvSpPr/>
          <p:nvPr/>
        </p:nvSpPr>
        <p:spPr>
          <a:xfrm>
            <a:off x="1835696" y="1923678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73FD21-F121-A0B4-364D-53FEA94EE75A}"/>
              </a:ext>
            </a:extLst>
          </p:cNvPr>
          <p:cNvSpPr/>
          <p:nvPr/>
        </p:nvSpPr>
        <p:spPr>
          <a:xfrm>
            <a:off x="5580112" y="2257060"/>
            <a:ext cx="180322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C06AA-D08F-8B72-5EBB-A6FAF0135708}"/>
              </a:ext>
            </a:extLst>
          </p:cNvPr>
          <p:cNvSpPr/>
          <p:nvPr/>
        </p:nvSpPr>
        <p:spPr>
          <a:xfrm>
            <a:off x="4716016" y="2673232"/>
            <a:ext cx="864096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B982E-D3CC-1183-A182-B91C1B81A51F}"/>
              </a:ext>
            </a:extLst>
          </p:cNvPr>
          <p:cNvSpPr/>
          <p:nvPr/>
        </p:nvSpPr>
        <p:spPr>
          <a:xfrm>
            <a:off x="3234804" y="3075806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D3D3A-509B-5492-F419-73D1922F8059}"/>
              </a:ext>
            </a:extLst>
          </p:cNvPr>
          <p:cNvSpPr/>
          <p:nvPr/>
        </p:nvSpPr>
        <p:spPr>
          <a:xfrm>
            <a:off x="7421700" y="3435846"/>
            <a:ext cx="1368152" cy="21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63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57DA29-0B6F-0BB0-197D-5A9BA413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C95761-4CAB-9D8C-950D-D12810429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4077147" cy="338477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T1: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Lock B; </a:t>
            </a:r>
          </a:p>
          <a:p>
            <a:pPr lvl="1"/>
            <a:r>
              <a:rPr lang="en-US" dirty="0"/>
              <a:t>Unlock A; </a:t>
            </a:r>
          </a:p>
          <a:p>
            <a:pPr lvl="1"/>
            <a:r>
              <a:rPr lang="en-US" dirty="0"/>
              <a:t>Unlock B</a:t>
            </a:r>
          </a:p>
          <a:p>
            <a:r>
              <a:rPr lang="en-US" dirty="0"/>
              <a:t>T2: </a:t>
            </a:r>
          </a:p>
          <a:p>
            <a:pPr lvl="1"/>
            <a:r>
              <a:rPr lang="en-US" dirty="0"/>
              <a:t>Lock B; </a:t>
            </a:r>
          </a:p>
          <a:p>
            <a:pPr lvl="1"/>
            <a:r>
              <a:rPr lang="en-US" dirty="0"/>
              <a:t>Lock C; </a:t>
            </a:r>
          </a:p>
          <a:p>
            <a:pPr lvl="1"/>
            <a:r>
              <a:rPr lang="en-US" dirty="0"/>
              <a:t>Unlock B;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Unlock C; </a:t>
            </a:r>
          </a:p>
          <a:p>
            <a:pPr lvl="1"/>
            <a:r>
              <a:rPr lang="en-US" dirty="0"/>
              <a:t>Unlock A;</a:t>
            </a:r>
          </a:p>
          <a:p>
            <a:r>
              <a:rPr lang="en-US" dirty="0"/>
              <a:t>T3: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Lock C; </a:t>
            </a:r>
          </a:p>
          <a:p>
            <a:pPr lvl="1"/>
            <a:r>
              <a:rPr lang="en-US" dirty="0"/>
              <a:t>Unlock C; </a:t>
            </a:r>
          </a:p>
          <a:p>
            <a:pPr lvl="1"/>
            <a:r>
              <a:rPr lang="en-US" dirty="0"/>
              <a:t>Unlock A;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B50B61-EE9D-C119-253C-C06A247E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Сериализуемость. Пример</a:t>
            </a:r>
            <a:r>
              <a:rPr lang="en-US" dirty="0"/>
              <a:t> </a:t>
            </a:r>
            <a:r>
              <a:rPr lang="ru-RU" dirty="0"/>
              <a:t>расписания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A6D09C-F1E8-8D45-4715-B468A463C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108757"/>
              </p:ext>
            </p:extLst>
          </p:nvPr>
        </p:nvGraphicFramePr>
        <p:xfrm>
          <a:off x="4605674" y="1298752"/>
          <a:ext cx="4286805" cy="3200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9357">
                  <a:extLst>
                    <a:ext uri="{9D8B030D-6E8A-4147-A177-3AD203B41FA5}">
                      <a16:colId xmlns:a16="http://schemas.microsoft.com/office/drawing/2014/main" val="282016027"/>
                    </a:ext>
                  </a:extLst>
                </a:gridCol>
                <a:gridCol w="1241145">
                  <a:extLst>
                    <a:ext uri="{9D8B030D-6E8A-4147-A177-3AD203B41FA5}">
                      <a16:colId xmlns:a16="http://schemas.microsoft.com/office/drawing/2014/main" val="1135272925"/>
                    </a:ext>
                  </a:extLst>
                </a:gridCol>
                <a:gridCol w="1021581">
                  <a:extLst>
                    <a:ext uri="{9D8B030D-6E8A-4147-A177-3AD203B41FA5}">
                      <a16:colId xmlns:a16="http://schemas.microsoft.com/office/drawing/2014/main" val="3193392685"/>
                    </a:ext>
                  </a:extLst>
                </a:gridCol>
                <a:gridCol w="857361">
                  <a:extLst>
                    <a:ext uri="{9D8B030D-6E8A-4147-A177-3AD203B41FA5}">
                      <a16:colId xmlns:a16="http://schemas.microsoft.com/office/drawing/2014/main" val="3097043437"/>
                    </a:ext>
                  </a:extLst>
                </a:gridCol>
                <a:gridCol w="857361">
                  <a:extLst>
                    <a:ext uri="{9D8B030D-6E8A-4147-A177-3AD203B41FA5}">
                      <a16:colId xmlns:a16="http://schemas.microsoft.com/office/drawing/2014/main" val="841612787"/>
                    </a:ext>
                  </a:extLst>
                </a:gridCol>
              </a:tblGrid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#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ptos Narrow" panose="020B0004020202020204" pitchFamily="34" charset="0"/>
                        </a:rPr>
                        <a:t>Шаг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34371399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T1: Lock A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690439485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Lock B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31525278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Lock C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96050888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Unlock B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91056187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T1: Lock B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610938061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T1: Unlock 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r>
                        <a:rPr lang="en-US" sz="1400" baseline="0" dirty="0"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58429901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Lock 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080076263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Unlock C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dirty="0">
                          <a:latin typeface="Aptos Narrow" panose="020B0004020202020204" pitchFamily="34" charset="0"/>
                        </a:rPr>
                        <a:t>C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r>
                        <a:rPr lang="en-US" sz="1400" baseline="0" dirty="0">
                          <a:latin typeface="Aptos Narrow" panose="020B0004020202020204" pitchFamily="34" charset="0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208043943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T2: Unlock 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  <a:r>
                        <a:rPr lang="en-US" sz="1400" baseline="-25000" dirty="0">
                          <a:latin typeface="Aptos Narrow" panose="020B0004020202020204" pitchFamily="34" charset="0"/>
                        </a:rPr>
                        <a:t>0</a:t>
                      </a:r>
                      <a:r>
                        <a:rPr lang="en-US" sz="1400" baseline="0" dirty="0">
                          <a:latin typeface="Aptos Narrow" panose="020B0004020202020204" pitchFamily="34" charset="0"/>
                        </a:rPr>
                        <a:t>))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666669897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T3: Lock 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249645049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T3: Lock C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37448339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T1: Unlock B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50384707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T3: Unlock C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28484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T3: Unlock 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30570993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F764B1D4-D023-3688-C822-77D7986BA3CE}"/>
              </a:ext>
            </a:extLst>
          </p:cNvPr>
          <p:cNvGrpSpPr/>
          <p:nvPr/>
        </p:nvGrpSpPr>
        <p:grpSpPr>
          <a:xfrm>
            <a:off x="2012346" y="1635646"/>
            <a:ext cx="220122" cy="504056"/>
            <a:chOff x="2051720" y="1635646"/>
            <a:chExt cx="220122" cy="504056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2A0A0703-F37D-9807-AB11-C03911323554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34158F-B8DA-0994-6CC7-D8F05389D4A0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D84078-1AE7-1966-AFD2-8E9826EAEC1E}"/>
              </a:ext>
            </a:extLst>
          </p:cNvPr>
          <p:cNvGrpSpPr/>
          <p:nvPr/>
        </p:nvGrpSpPr>
        <p:grpSpPr>
          <a:xfrm>
            <a:off x="2414781" y="1826002"/>
            <a:ext cx="220122" cy="504056"/>
            <a:chOff x="2051720" y="1635646"/>
            <a:chExt cx="220122" cy="5040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241C5139-0570-2232-7567-EBDCE542FCB2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1AFA68-7C20-7A7A-02BD-8288D0F9170B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B9CE13-18AB-9D16-7F1A-3B6D041806E1}"/>
              </a:ext>
            </a:extLst>
          </p:cNvPr>
          <p:cNvGrpSpPr/>
          <p:nvPr/>
        </p:nvGrpSpPr>
        <p:grpSpPr>
          <a:xfrm>
            <a:off x="1986157" y="2620588"/>
            <a:ext cx="220122" cy="504056"/>
            <a:chOff x="2051720" y="1635646"/>
            <a:chExt cx="220122" cy="504056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B3B10693-D400-9CA1-7D80-573AB0325324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0BA132-73F2-3803-1303-6A7CB01EFDCF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7E2F061-EF2D-D9C1-C058-EE21CEE35374}"/>
              </a:ext>
            </a:extLst>
          </p:cNvPr>
          <p:cNvGrpSpPr/>
          <p:nvPr/>
        </p:nvGrpSpPr>
        <p:grpSpPr>
          <a:xfrm>
            <a:off x="1986157" y="3205978"/>
            <a:ext cx="220122" cy="504056"/>
            <a:chOff x="2051720" y="1635646"/>
            <a:chExt cx="220122" cy="504056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F96932CC-6855-B2C5-C29F-9FDE5388EB96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3A327B-0983-9B8E-2DBC-8F9DA775D1CE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5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BBB92B-6776-EBF8-8B96-BA70E6D99B24}"/>
              </a:ext>
            </a:extLst>
          </p:cNvPr>
          <p:cNvGrpSpPr/>
          <p:nvPr/>
        </p:nvGrpSpPr>
        <p:grpSpPr>
          <a:xfrm>
            <a:off x="2411219" y="2825264"/>
            <a:ext cx="220122" cy="682589"/>
            <a:chOff x="2051720" y="1635646"/>
            <a:chExt cx="220122" cy="504056"/>
          </a:xfrm>
        </p:grpSpPr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C7C27051-3895-8B13-0937-4524852F6F64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65E8EA-ACB9-CEFA-68CE-61DBA56E9276}"/>
                </a:ext>
              </a:extLst>
            </p:cNvPr>
            <p:cNvSpPr txBox="1"/>
            <p:nvPr/>
          </p:nvSpPr>
          <p:spPr>
            <a:xfrm>
              <a:off x="2104561" y="1792647"/>
              <a:ext cx="167281" cy="190053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0A879B-8720-FEBB-008F-F07E52E7D72C}"/>
              </a:ext>
            </a:extLst>
          </p:cNvPr>
          <p:cNvGrpSpPr/>
          <p:nvPr/>
        </p:nvGrpSpPr>
        <p:grpSpPr>
          <a:xfrm>
            <a:off x="1986157" y="3981450"/>
            <a:ext cx="220122" cy="678532"/>
            <a:chOff x="2051720" y="1635646"/>
            <a:chExt cx="220122" cy="504056"/>
          </a:xfrm>
        </p:grpSpPr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07D79EAA-4AC1-5D51-4EFF-32402BDAE086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23D29D-58FD-C3B0-1396-E72B82221CE1}"/>
                </a:ext>
              </a:extLst>
            </p:cNvPr>
            <p:cNvSpPr txBox="1"/>
            <p:nvPr/>
          </p:nvSpPr>
          <p:spPr>
            <a:xfrm>
              <a:off x="2104561" y="1792078"/>
              <a:ext cx="167281" cy="19119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6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9F0D23-8EEB-4925-1C4A-BCFE0E39B9BB}"/>
              </a:ext>
            </a:extLst>
          </p:cNvPr>
          <p:cNvGrpSpPr/>
          <p:nvPr/>
        </p:nvGrpSpPr>
        <p:grpSpPr>
          <a:xfrm>
            <a:off x="2388361" y="4157080"/>
            <a:ext cx="220122" cy="339971"/>
            <a:chOff x="2051720" y="1635646"/>
            <a:chExt cx="220122" cy="504056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890AB7CE-7212-1358-29AF-BBA55BDA486F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 fontScale="92500" lnSpcReduction="20000"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4ED909D-83A7-935F-CE38-7A2DEC2C865C}"/>
                </a:ext>
              </a:extLst>
            </p:cNvPr>
            <p:cNvSpPr txBox="1"/>
            <p:nvPr/>
          </p:nvSpPr>
          <p:spPr>
            <a:xfrm>
              <a:off x="2104561" y="1696881"/>
              <a:ext cx="167281" cy="381587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5707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10A8-EE3E-9FEF-5ED1-B7ABC1F8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82B27B-9BF2-AA78-522F-7DAF3B8A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A6BDE0-8BC4-B5A1-95CC-CC0E39194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4077147" cy="338477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T1: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Lock B; </a:t>
            </a:r>
          </a:p>
          <a:p>
            <a:pPr lvl="1"/>
            <a:r>
              <a:rPr lang="en-US" dirty="0"/>
              <a:t>Unlock A; </a:t>
            </a:r>
          </a:p>
          <a:p>
            <a:pPr lvl="1"/>
            <a:r>
              <a:rPr lang="en-US" dirty="0"/>
              <a:t>Unlock B</a:t>
            </a:r>
          </a:p>
          <a:p>
            <a:r>
              <a:rPr lang="en-US" dirty="0"/>
              <a:t>T2: </a:t>
            </a:r>
          </a:p>
          <a:p>
            <a:pPr lvl="1"/>
            <a:r>
              <a:rPr lang="en-US" dirty="0"/>
              <a:t>Lock B; </a:t>
            </a:r>
          </a:p>
          <a:p>
            <a:pPr lvl="1"/>
            <a:r>
              <a:rPr lang="en-US" dirty="0"/>
              <a:t>Lock C; </a:t>
            </a:r>
          </a:p>
          <a:p>
            <a:pPr lvl="1"/>
            <a:r>
              <a:rPr lang="en-US" dirty="0"/>
              <a:t>Unlock B;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Unlock C; </a:t>
            </a:r>
          </a:p>
          <a:p>
            <a:pPr lvl="1"/>
            <a:r>
              <a:rPr lang="en-US" dirty="0"/>
              <a:t>Unlock A;</a:t>
            </a:r>
          </a:p>
          <a:p>
            <a:r>
              <a:rPr lang="en-US" dirty="0"/>
              <a:t>T3: </a:t>
            </a:r>
          </a:p>
          <a:p>
            <a:pPr lvl="1"/>
            <a:r>
              <a:rPr lang="en-US" dirty="0"/>
              <a:t>Lock A; </a:t>
            </a:r>
          </a:p>
          <a:p>
            <a:pPr lvl="1"/>
            <a:r>
              <a:rPr lang="en-US" dirty="0"/>
              <a:t>Lock C; </a:t>
            </a:r>
          </a:p>
          <a:p>
            <a:pPr lvl="1"/>
            <a:r>
              <a:rPr lang="en-US" dirty="0"/>
              <a:t>Unlock C; </a:t>
            </a:r>
          </a:p>
          <a:p>
            <a:pPr lvl="1"/>
            <a:r>
              <a:rPr lang="en-US" dirty="0"/>
              <a:t>Unlock A;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861F10-AA3F-EEB6-7BEC-9D23EE01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Сериализуемость. Расписание </a:t>
            </a:r>
            <a:r>
              <a:rPr lang="ru-RU" dirty="0" err="1"/>
              <a:t>несериализуемо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14ECDE-FC3B-CCC3-6172-81C1CC113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602189"/>
              </p:ext>
            </p:extLst>
          </p:nvPr>
        </p:nvGraphicFramePr>
        <p:xfrm>
          <a:off x="4605674" y="1298752"/>
          <a:ext cx="4286805" cy="1706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9357">
                  <a:extLst>
                    <a:ext uri="{9D8B030D-6E8A-4147-A177-3AD203B41FA5}">
                      <a16:colId xmlns:a16="http://schemas.microsoft.com/office/drawing/2014/main" val="282016027"/>
                    </a:ext>
                  </a:extLst>
                </a:gridCol>
                <a:gridCol w="1241145">
                  <a:extLst>
                    <a:ext uri="{9D8B030D-6E8A-4147-A177-3AD203B41FA5}">
                      <a16:colId xmlns:a16="http://schemas.microsoft.com/office/drawing/2014/main" val="1135272925"/>
                    </a:ext>
                  </a:extLst>
                </a:gridCol>
                <a:gridCol w="1021581">
                  <a:extLst>
                    <a:ext uri="{9D8B030D-6E8A-4147-A177-3AD203B41FA5}">
                      <a16:colId xmlns:a16="http://schemas.microsoft.com/office/drawing/2014/main" val="3193392685"/>
                    </a:ext>
                  </a:extLst>
                </a:gridCol>
                <a:gridCol w="857361">
                  <a:extLst>
                    <a:ext uri="{9D8B030D-6E8A-4147-A177-3AD203B41FA5}">
                      <a16:colId xmlns:a16="http://schemas.microsoft.com/office/drawing/2014/main" val="3097043437"/>
                    </a:ext>
                  </a:extLst>
                </a:gridCol>
                <a:gridCol w="857361">
                  <a:extLst>
                    <a:ext uri="{9D8B030D-6E8A-4147-A177-3AD203B41FA5}">
                      <a16:colId xmlns:a16="http://schemas.microsoft.com/office/drawing/2014/main" val="841612787"/>
                    </a:ext>
                  </a:extLst>
                </a:gridCol>
              </a:tblGrid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#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ptos Narrow" panose="020B0004020202020204" pitchFamily="34" charset="0"/>
                        </a:rPr>
                        <a:t>Значения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34371399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ptos Narrow" panose="020B0004020202020204" pitchFamily="34" charset="0"/>
                        </a:rPr>
                        <a:t>Фактические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30570993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T1, T2, T3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575051"/>
                  </a:ext>
                </a:extLst>
              </a:tr>
              <a:tr h="15724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T1, T3, T2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386978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T2, T1, T3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80002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T2, T3, T1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114627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T3, T1, T2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561657"/>
                  </a:ext>
                </a:extLst>
              </a:tr>
              <a:tr h="169733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 Narrow" panose="020B0004020202020204" pitchFamily="34" charset="0"/>
                        </a:rPr>
                        <a:t>T3, T2, T1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)))</a:t>
                      </a: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))</a:t>
                      </a:r>
                    </a:p>
                  </a:txBody>
                  <a:tcPr marL="45720" marR="4572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(f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916827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C33D867-2B40-01AC-08D8-C1D637B876A0}"/>
              </a:ext>
            </a:extLst>
          </p:cNvPr>
          <p:cNvGrpSpPr/>
          <p:nvPr/>
        </p:nvGrpSpPr>
        <p:grpSpPr>
          <a:xfrm>
            <a:off x="2012346" y="1635646"/>
            <a:ext cx="220122" cy="504056"/>
            <a:chOff x="2051720" y="1635646"/>
            <a:chExt cx="220122" cy="504056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FA4FDE25-658B-7A3C-9B2B-7B1DFEC56C50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A00DF1-95AC-A0D1-E975-8BB425077E98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5539DC-1233-3FFF-2E81-1B512FDB9190}"/>
              </a:ext>
            </a:extLst>
          </p:cNvPr>
          <p:cNvGrpSpPr/>
          <p:nvPr/>
        </p:nvGrpSpPr>
        <p:grpSpPr>
          <a:xfrm>
            <a:off x="2414781" y="1826002"/>
            <a:ext cx="220122" cy="504056"/>
            <a:chOff x="2051720" y="1635646"/>
            <a:chExt cx="220122" cy="5040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18DB56B3-A928-C55F-1584-08FE791DE535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B08142-F4AF-D1EA-47E4-6671879B35BE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D292A9-73CC-9445-0458-01CFECBB2AF7}"/>
              </a:ext>
            </a:extLst>
          </p:cNvPr>
          <p:cNvGrpSpPr/>
          <p:nvPr/>
        </p:nvGrpSpPr>
        <p:grpSpPr>
          <a:xfrm>
            <a:off x="1986157" y="2620588"/>
            <a:ext cx="220122" cy="504056"/>
            <a:chOff x="2051720" y="1635646"/>
            <a:chExt cx="220122" cy="504056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E9A6F6AD-6DE9-B3F8-87AD-DF18F1E257D5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402AFF-C2FA-B038-0DA7-7E4A79A79E37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6EE177-F3FA-BBCC-D62C-54CC5F0D083A}"/>
              </a:ext>
            </a:extLst>
          </p:cNvPr>
          <p:cNvGrpSpPr/>
          <p:nvPr/>
        </p:nvGrpSpPr>
        <p:grpSpPr>
          <a:xfrm>
            <a:off x="1986157" y="3205978"/>
            <a:ext cx="220122" cy="504056"/>
            <a:chOff x="2051720" y="1635646"/>
            <a:chExt cx="220122" cy="504056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409AC2CD-6393-6531-1EAD-B8C80CEC7D9C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BFC1CA-5217-8D0F-668F-2A1FC8D0EBB4}"/>
                </a:ext>
              </a:extLst>
            </p:cNvPr>
            <p:cNvSpPr txBox="1"/>
            <p:nvPr/>
          </p:nvSpPr>
          <p:spPr>
            <a:xfrm>
              <a:off x="2104561" y="1758989"/>
              <a:ext cx="16728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5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2594FA-6DFE-1A0D-2356-A8EBE761C6F1}"/>
              </a:ext>
            </a:extLst>
          </p:cNvPr>
          <p:cNvGrpSpPr/>
          <p:nvPr/>
        </p:nvGrpSpPr>
        <p:grpSpPr>
          <a:xfrm>
            <a:off x="2411219" y="2825264"/>
            <a:ext cx="220122" cy="682589"/>
            <a:chOff x="2051720" y="1635646"/>
            <a:chExt cx="220122" cy="504056"/>
          </a:xfrm>
        </p:grpSpPr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90300DC2-2EF2-F942-FCE9-23A99BB65D27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4DD9FE-A0E7-D391-D467-E0ABF3D2D6EE}"/>
                </a:ext>
              </a:extLst>
            </p:cNvPr>
            <p:cNvSpPr txBox="1"/>
            <p:nvPr/>
          </p:nvSpPr>
          <p:spPr>
            <a:xfrm>
              <a:off x="2104561" y="1792647"/>
              <a:ext cx="167281" cy="190053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51A5C9-0238-774E-014E-F62AEEBBF43A}"/>
              </a:ext>
            </a:extLst>
          </p:cNvPr>
          <p:cNvGrpSpPr/>
          <p:nvPr/>
        </p:nvGrpSpPr>
        <p:grpSpPr>
          <a:xfrm>
            <a:off x="1986157" y="3981450"/>
            <a:ext cx="220122" cy="678532"/>
            <a:chOff x="2051720" y="1635646"/>
            <a:chExt cx="220122" cy="504056"/>
          </a:xfrm>
        </p:grpSpPr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5185AF09-F087-ECE2-02D4-55AF6E17BB49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4678DF-D3BC-B5D0-04B3-1AA955ADD246}"/>
                </a:ext>
              </a:extLst>
            </p:cNvPr>
            <p:cNvSpPr txBox="1"/>
            <p:nvPr/>
          </p:nvSpPr>
          <p:spPr>
            <a:xfrm>
              <a:off x="2104561" y="1792078"/>
              <a:ext cx="167281" cy="19119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6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F5D97C7-4BB2-D485-232D-8DE21E537DDA}"/>
              </a:ext>
            </a:extLst>
          </p:cNvPr>
          <p:cNvGrpSpPr/>
          <p:nvPr/>
        </p:nvGrpSpPr>
        <p:grpSpPr>
          <a:xfrm>
            <a:off x="2388361" y="4157080"/>
            <a:ext cx="220122" cy="339971"/>
            <a:chOff x="2051720" y="1635646"/>
            <a:chExt cx="220122" cy="504056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32F898FA-8A5C-A20A-7F49-2F24280AE25D}"/>
                </a:ext>
              </a:extLst>
            </p:cNvPr>
            <p:cNvSpPr/>
            <p:nvPr/>
          </p:nvSpPr>
          <p:spPr>
            <a:xfrm>
              <a:off x="2051720" y="1635646"/>
              <a:ext cx="72008" cy="504056"/>
            </a:xfrm>
            <a:prstGeom prst="rightBrace">
              <a:avLst>
                <a:gd name="adj1" fmla="val 347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0">
              <a:normAutofit fontScale="92500" lnSpcReduction="20000"/>
            </a:bodyPr>
            <a:lstStyle/>
            <a:p>
              <a:pPr algn="ctr"/>
              <a:endParaRPr lang="en-US" dirty="0">
                <a:latin typeface="Aptos Narrow" panose="020B00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5027DB-3FB3-5FB1-1FE2-52D6C5955C3D}"/>
                </a:ext>
              </a:extLst>
            </p:cNvPr>
            <p:cNvSpPr txBox="1"/>
            <p:nvPr/>
          </p:nvSpPr>
          <p:spPr>
            <a:xfrm>
              <a:off x="2104561" y="1696881"/>
              <a:ext cx="167281" cy="381587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spAutoFit/>
            </a:bodyPr>
            <a:lstStyle/>
            <a:p>
              <a:r>
                <a:rPr lang="en-US" sz="1200" dirty="0">
                  <a:latin typeface="Aptos Narrow" panose="020B0004020202020204" pitchFamily="34" charset="0"/>
                </a:rPr>
                <a:t>f</a:t>
              </a:r>
              <a:r>
                <a:rPr lang="en-US" sz="1200" baseline="-25000" dirty="0">
                  <a:latin typeface="Aptos Narrow" panose="020B00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029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9670C3-970C-1824-DBE8-DD97B4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7F845-EBC8-59EE-A2CA-ECD986FCA7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2">
            <a:normAutofit lnSpcReduction="10000"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200" u="sng" dirty="0"/>
              <a:t>Входные данные</a:t>
            </a:r>
            <a:r>
              <a:rPr lang="ru-RU" sz="1200" dirty="0"/>
              <a:t>: расписание  </a:t>
            </a:r>
            <a:r>
              <a:rPr lang="en-US" sz="1200" dirty="0"/>
              <a:t>S </a:t>
            </a:r>
            <a:r>
              <a:rPr lang="ru-RU" sz="1200" dirty="0"/>
              <a:t> для транзакций </a:t>
            </a:r>
            <a:br>
              <a:rPr lang="ru-RU" sz="1200" dirty="0"/>
            </a:br>
            <a:r>
              <a:rPr lang="ru-RU" sz="1200" dirty="0">
                <a:cs typeface="Times New Roman" pitchFamily="18" charset="0"/>
                <a:sym typeface="Symbol" pitchFamily="18" charset="2"/>
              </a:rPr>
              <a:t>Т</a:t>
            </a:r>
            <a:r>
              <a:rPr lang="ru-RU" sz="1200" baseline="-25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u-RU" sz="1200" dirty="0">
                <a:cs typeface="Times New Roman" pitchFamily="18" charset="0"/>
                <a:sym typeface="Symbol" pitchFamily="18" charset="2"/>
              </a:rPr>
              <a:t>,…Т</a:t>
            </a:r>
            <a:r>
              <a:rPr lang="en-US" sz="1200" baseline="-25000" dirty="0">
                <a:cs typeface="Times New Roman" pitchFamily="18" charset="0"/>
                <a:sym typeface="Symbol" pitchFamily="18" charset="2"/>
              </a:rPr>
              <a:t>k</a:t>
            </a:r>
            <a:r>
              <a:rPr lang="ru-RU" sz="1200" baseline="-25000" dirty="0">
                <a:cs typeface="Times New Roman" pitchFamily="18" charset="0"/>
                <a:sym typeface="Symbol" pitchFamily="18" charset="2"/>
              </a:rPr>
              <a:t> </a:t>
            </a:r>
            <a:endParaRPr lang="ru-RU" sz="1200" dirty="0">
              <a:cs typeface="Times New Roman" pitchFamily="18" charset="0"/>
              <a:sym typeface="Symbol" pitchFamily="18" charset="2"/>
            </a:endParaRPr>
          </a:p>
          <a:p>
            <a:pPr marL="92075" lvl="1" indent="-92075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200" u="sng" dirty="0">
                <a:cs typeface="Times New Roman" pitchFamily="18" charset="0"/>
                <a:sym typeface="Symbol" pitchFamily="18" charset="2"/>
              </a:rPr>
              <a:t>Выходные данные</a:t>
            </a:r>
            <a:r>
              <a:rPr lang="ru-RU" sz="1200" dirty="0">
                <a:cs typeface="Times New Roman" pitchFamily="18" charset="0"/>
                <a:sym typeface="Symbol" pitchFamily="18" charset="2"/>
              </a:rPr>
              <a:t>: Ответ на вопрос является ли расписание </a:t>
            </a:r>
            <a:r>
              <a:rPr lang="ru-RU" sz="1200" dirty="0" err="1">
                <a:cs typeface="Times New Roman" pitchFamily="18" charset="0"/>
                <a:sym typeface="Symbol" pitchFamily="18" charset="2"/>
              </a:rPr>
              <a:t>сериализуемым</a:t>
            </a:r>
            <a:r>
              <a:rPr lang="ru-RU" sz="1200" dirty="0">
                <a:cs typeface="Times New Roman" pitchFamily="18" charset="0"/>
                <a:sym typeface="Symbol" pitchFamily="18" charset="2"/>
              </a:rPr>
              <a:t>. И если да, то эквивалентное ему последовательное расписание </a:t>
            </a:r>
          </a:p>
          <a:p>
            <a:pPr marL="92075" lvl="1" indent="-92075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200" u="sng" dirty="0">
                <a:cs typeface="Times New Roman" pitchFamily="18" charset="0"/>
                <a:sym typeface="Symbol" pitchFamily="18" charset="2"/>
              </a:rPr>
              <a:t>Метод</a:t>
            </a:r>
            <a:r>
              <a:rPr lang="ru-RU" sz="1200" dirty="0">
                <a:cs typeface="Times New Roman" pitchFamily="18" charset="0"/>
                <a:sym typeface="Symbol" pitchFamily="18" charset="2"/>
              </a:rPr>
              <a:t>: Построим ориентированный граф </a:t>
            </a:r>
            <a:r>
              <a:rPr lang="en-US" sz="1200" dirty="0">
                <a:cs typeface="Times New Roman" pitchFamily="18" charset="0"/>
                <a:sym typeface="Symbol" pitchFamily="18" charset="2"/>
              </a:rPr>
              <a:t>G </a:t>
            </a:r>
            <a:r>
              <a:rPr lang="ru-RU" sz="1200" dirty="0">
                <a:cs typeface="Times New Roman" pitchFamily="18" charset="0"/>
                <a:sym typeface="Symbol" pitchFamily="18" charset="2"/>
              </a:rPr>
              <a:t>(граф предшествований)</a:t>
            </a:r>
            <a:endParaRPr lang="en-US" sz="1200" dirty="0">
              <a:cs typeface="Times New Roman" pitchFamily="18" charset="0"/>
              <a:sym typeface="Symbol" pitchFamily="18" charset="2"/>
            </a:endParaRPr>
          </a:p>
          <a:p>
            <a:pPr marL="182563" lvl="1" indent="-18256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Вершины графа </a:t>
            </a:r>
            <a:r>
              <a:rPr lang="en-US" sz="1200" dirty="0"/>
              <a:t>G </a:t>
            </a:r>
            <a:r>
              <a:rPr lang="ru-RU" sz="1200" dirty="0"/>
              <a:t>– транзакции</a:t>
            </a:r>
            <a:endParaRPr lang="en-US" sz="1200" dirty="0"/>
          </a:p>
          <a:p>
            <a:pPr marL="182563" lvl="1" indent="-18256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Определим дуги графа </a:t>
            </a:r>
            <a:r>
              <a:rPr lang="en-US" sz="1200" dirty="0"/>
              <a:t>G</a:t>
            </a:r>
            <a:r>
              <a:rPr lang="ru-RU" sz="1200" dirty="0"/>
              <a:t>:</a:t>
            </a:r>
            <a:endParaRPr lang="en-US" sz="1200" dirty="0"/>
          </a:p>
          <a:p>
            <a:pPr marL="358775" lvl="2" indent="-1762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000" dirty="0"/>
              <a:t>Пусть </a:t>
            </a:r>
            <a:r>
              <a:rPr lang="en-US" sz="1000" dirty="0"/>
              <a:t>S </a:t>
            </a:r>
            <a:r>
              <a:rPr lang="ru-RU" sz="1000" dirty="0"/>
              <a:t>есть набор </a:t>
            </a:r>
            <a:r>
              <a:rPr lang="en-US" sz="11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1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100" b="1" i="1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11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100" b="1" i="1" dirty="0"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11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100" b="1" dirty="0">
                <a:latin typeface="Times New Roman" pitchFamily="18" charset="0"/>
                <a:cs typeface="Times New Roman" pitchFamily="18" charset="0"/>
              </a:rPr>
              <a:t>, </a:t>
            </a:r>
            <a:br>
              <a:rPr lang="en-US" sz="1000" dirty="0"/>
            </a:br>
            <a:r>
              <a:rPr lang="ru-RU" sz="1000" dirty="0"/>
              <a:t>где </a:t>
            </a:r>
            <a:r>
              <a:rPr lang="en-US" sz="11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100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1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00" dirty="0"/>
              <a:t>- </a:t>
            </a:r>
            <a:r>
              <a:rPr lang="ru-RU" sz="1000" dirty="0"/>
              <a:t>действие вида </a:t>
            </a:r>
            <a:r>
              <a:rPr lang="ru-RU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1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1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dirty="0"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LOCK</a:t>
            </a:r>
            <a:r>
              <a:rPr lang="en-US" sz="10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sz="11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ru-RU" sz="1000" b="1" i="1" baseline="-250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b="1" i="1" baseline="-250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000" dirty="0">
                <a:cs typeface="Times New Roman" pitchFamily="18" charset="0"/>
                <a:sym typeface="Symbol" pitchFamily="18" charset="2"/>
              </a:rPr>
              <a:t>или</a:t>
            </a:r>
            <a:r>
              <a:rPr lang="ru-RU" sz="11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1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dirty="0"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UNLOCK</a:t>
            </a:r>
            <a:r>
              <a:rPr lang="en-US" sz="1000" b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dirty="0">
                <a:solidFill>
                  <a:schemeClr val="accent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sz="11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ru-RU" sz="11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endParaRPr lang="en-US" sz="11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358775" lvl="2" indent="-1762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000" dirty="0"/>
              <a:t>Для </a:t>
            </a:r>
            <a:r>
              <a:rPr lang="en-US" sz="10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00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1000" i="1" baseline="-25000" dirty="0"/>
              <a:t> </a:t>
            </a:r>
            <a:r>
              <a:rPr lang="ru-RU" sz="1000" dirty="0"/>
              <a:t>, имеющей вид </a:t>
            </a:r>
            <a:r>
              <a:rPr lang="ru-RU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dirty="0"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UNLOCK</a:t>
            </a:r>
            <a:r>
              <a:rPr lang="en-US" sz="1000" b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ru-RU" sz="1000" b="1" i="1" baseline="-25000" dirty="0">
                <a:solidFill>
                  <a:schemeClr val="bg2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000" b="1" i="1" dirty="0">
                <a:solidFill>
                  <a:schemeClr val="bg2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000" dirty="0">
                <a:cs typeface="Times New Roman" pitchFamily="18" charset="0"/>
                <a:sym typeface="Symbol" pitchFamily="18" charset="2"/>
              </a:rPr>
              <a:t>ищем</a:t>
            </a:r>
            <a:r>
              <a:rPr lang="en-US" sz="1000" i="1" dirty="0"/>
              <a:t> </a:t>
            </a:r>
            <a:r>
              <a:rPr lang="en-US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1000" i="1" baseline="-25000" dirty="0"/>
              <a:t> </a:t>
            </a:r>
            <a:r>
              <a:rPr lang="ru-RU" sz="1000" dirty="0"/>
              <a:t>вида</a:t>
            </a:r>
            <a:r>
              <a:rPr lang="en-US" sz="1000" dirty="0"/>
              <a:t> </a:t>
            </a:r>
            <a:r>
              <a:rPr lang="ru-RU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sz="1000" dirty="0"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LOCK</a:t>
            </a:r>
            <a:r>
              <a:rPr lang="en-US" sz="1000" b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endParaRPr lang="ru-RU" sz="10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358775" lvl="2" indent="-1762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ym typeface="Symbol" pitchFamily="18" charset="2"/>
              </a:rPr>
              <a:t>Если оно существует, строим дугу от </a:t>
            </a:r>
            <a:r>
              <a:rPr lang="ru-RU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r>
              <a:rPr lang="ru-RU" sz="1000" dirty="0">
                <a:sym typeface="Symbol" pitchFamily="18" charset="2"/>
              </a:rPr>
              <a:t>к </a:t>
            </a:r>
            <a:r>
              <a:rPr lang="ru-RU" sz="1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0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endParaRPr lang="ru-RU" sz="10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SzPct val="150000"/>
              <a:buNone/>
              <a:defRPr/>
            </a:pPr>
            <a:r>
              <a:rPr lang="ru-RU" sz="1200" dirty="0">
                <a:sym typeface="Symbol" pitchFamily="18" charset="2"/>
              </a:rPr>
              <a:t>Интуитивный смысл – каждой блокировке должна предшествовать операция снятия блокировки.</a:t>
            </a: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sym typeface="Symbol" pitchFamily="18" charset="2"/>
              </a:rPr>
              <a:t>Если в графе есть цикл, то </a:t>
            </a:r>
            <a:r>
              <a:rPr lang="en-US" sz="1200" dirty="0">
                <a:sym typeface="Symbol" pitchFamily="18" charset="2"/>
              </a:rPr>
              <a:t>S – </a:t>
            </a:r>
            <a:r>
              <a:rPr lang="ru-RU" sz="1200" dirty="0">
                <a:sym typeface="Symbol" pitchFamily="18" charset="2"/>
              </a:rPr>
              <a:t>не </a:t>
            </a:r>
            <a:r>
              <a:rPr lang="ru-RU" sz="1200" dirty="0" err="1">
                <a:sym typeface="Symbol" pitchFamily="18" charset="2"/>
              </a:rPr>
              <a:t>сериализуемо</a:t>
            </a:r>
            <a:r>
              <a:rPr lang="ru-RU" sz="1200" dirty="0">
                <a:sym typeface="Symbol" pitchFamily="18" charset="2"/>
              </a:rPr>
              <a:t>. </a:t>
            </a:r>
            <a:endParaRPr lang="en-US" sz="1200" dirty="0">
              <a:sym typeface="Symbol" pitchFamily="18" charset="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sym typeface="Symbol" pitchFamily="18" charset="2"/>
              </a:rPr>
              <a:t>При отсутствии циклов находим линейный порядок, чтобы 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2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ru-RU" sz="12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r>
              <a:rPr lang="ru-RU" sz="1200" dirty="0">
                <a:sym typeface="Symbol" pitchFamily="18" charset="2"/>
              </a:rPr>
              <a:t>предшествовало</a:t>
            </a:r>
            <a:r>
              <a:rPr lang="ru-RU" sz="12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2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1200" dirty="0">
                <a:sym typeface="Symbol" pitchFamily="18" charset="2"/>
              </a:rPr>
              <a:t>всякий раз когда существует дуга 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2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ru-RU" sz="12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r>
              <a:rPr lang="en-US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→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en-US" sz="12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ru-RU" sz="1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endParaRPr lang="ru-RU" sz="1200" dirty="0">
              <a:solidFill>
                <a:schemeClr val="accent1"/>
              </a:solidFill>
              <a:sym typeface="Symbol" pitchFamily="18" charset="2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ECDD9F-C105-0629-E1FD-A6D3792C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проверки </a:t>
            </a:r>
            <a:r>
              <a:rPr lang="ru-RU" dirty="0" err="1"/>
              <a:t>сериализумости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02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463416-88A5-F8BC-0C67-7B281F23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9C381-2A77-9234-720D-5534449DC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ru-RU" b="1" u="sng" dirty="0"/>
              <a:t>Теорема 1.</a:t>
            </a:r>
            <a:r>
              <a:rPr lang="ru-RU" b="1" dirty="0"/>
              <a:t> </a:t>
            </a:r>
            <a:r>
              <a:rPr lang="ru-RU" dirty="0"/>
              <a:t>Приведённый алгоритм  корректно определяет, является ли расписание </a:t>
            </a:r>
            <a:r>
              <a:rPr lang="ru-RU" dirty="0" err="1"/>
              <a:t>сериализуемым</a:t>
            </a:r>
            <a:r>
              <a:rPr lang="ru-RU" dirty="0"/>
              <a:t>. </a:t>
            </a:r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ru-RU" dirty="0"/>
              <a:t>Доказательство: см </a:t>
            </a:r>
            <a:r>
              <a:rPr lang="ru-RU" altLang="ru-RU" dirty="0">
                <a:cs typeface="Times New Roman" pitchFamily="18" charset="0"/>
              </a:rPr>
              <a:t>Дж. Ульман,  Основы систем баз данных. Глава 10</a:t>
            </a:r>
            <a:endParaRPr lang="ru-RU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FDCA12-5254-8EE6-0498-50E31523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проверки сериализуемости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5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12CBBF-5A47-1B57-5635-B264919E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6DD10-BCC8-82BB-97CD-FB5A8657B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Транзакция называется </a:t>
            </a:r>
            <a:r>
              <a:rPr lang="ru-RU" b="1" dirty="0"/>
              <a:t>двухфазной</a:t>
            </a:r>
            <a:r>
              <a:rPr lang="ru-RU" dirty="0"/>
              <a:t>, если все операции блокировки предшествуют всем операциям снятия блокировки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ru-RU" b="1" u="sng" dirty="0"/>
              <a:t>Теорема 2.</a:t>
            </a:r>
            <a:r>
              <a:rPr lang="ru-RU" b="1" dirty="0"/>
              <a:t> Любое расписание двухфазных транзакций – </a:t>
            </a:r>
            <a:r>
              <a:rPr lang="ru-RU" b="1" dirty="0" err="1"/>
              <a:t>сериализуемо</a:t>
            </a:r>
            <a:endParaRPr lang="ru-RU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ru-RU" sz="1800" dirty="0"/>
              <a:t>Доказательство в </a:t>
            </a:r>
            <a:r>
              <a:rPr lang="ru-RU" altLang="ru-RU" sz="1800" dirty="0">
                <a:cs typeface="Times New Roman" pitchFamily="18" charset="0"/>
              </a:rPr>
              <a:t>Дж. Ульман,  Основы систем баз данных. Глава 10</a:t>
            </a:r>
            <a:endParaRPr lang="ru-RU" sz="18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3320D4-2A63-805D-CCC9-844773E8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Двухфазный протокол захвата блокировок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16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0096E-66BA-096E-8DEC-0D899D24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70EE9-275C-39F3-4AB8-579757107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Чтение</a:t>
            </a:r>
            <a:r>
              <a:rPr lang="ru-RU" dirty="0"/>
              <a:t>: не захватываем блокировок.</a:t>
            </a:r>
          </a:p>
          <a:p>
            <a:r>
              <a:rPr lang="ru-RU" b="1" dirty="0"/>
              <a:t>Запись</a:t>
            </a:r>
            <a:r>
              <a:rPr lang="ru-RU" dirty="0"/>
              <a:t>: захватываем исключительную блокировку на изменяемые данные</a:t>
            </a:r>
          </a:p>
          <a:p>
            <a:r>
              <a:rPr lang="ru-RU" b="1" dirty="0"/>
              <a:t>Фиксация транзакции</a:t>
            </a:r>
            <a:r>
              <a:rPr lang="ru-RU" dirty="0"/>
              <a:t>: отпускаем захваченные исключительные блокировки</a:t>
            </a:r>
          </a:p>
          <a:p>
            <a:r>
              <a:rPr lang="ru-RU" b="1" dirty="0"/>
              <a:t>Откат транзакции</a:t>
            </a:r>
            <a:r>
              <a:rPr lang="ru-RU" dirty="0"/>
              <a:t>: отменяем внесённые изменения, отпускаем захваченные исключительные блокировки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27FDF3-36F8-272C-0A5B-AA23AB3D5E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Read Uncommitted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1BB2C2-B95F-5730-320C-48BCB1F2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Пессимистические блокировки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56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8BE0D-BCAE-AF42-D199-374D5B4F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743E86-83DF-9223-4024-273D80A4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DB2A9-5BB0-E4A1-F4E9-19DBCDD38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73611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Чтение</a:t>
            </a:r>
            <a:r>
              <a:rPr lang="ru-RU" dirty="0"/>
              <a:t>: захватываем разделяемую блокировку на читаемые данные, отпускаем сразу после окончания чтения:</a:t>
            </a:r>
          </a:p>
          <a:p>
            <a:pPr lvl="1"/>
            <a:r>
              <a:rPr lang="ru-RU" dirty="0"/>
              <a:t>Если включена </a:t>
            </a:r>
            <a:r>
              <a:rPr lang="en-US" dirty="0"/>
              <a:t>statement level consistency</a:t>
            </a:r>
            <a:r>
              <a:rPr lang="ru-RU" dirty="0"/>
              <a:t>, то окончание чтения – это завершение операции </a:t>
            </a:r>
            <a:r>
              <a:rPr lang="en-US" dirty="0"/>
              <a:t>select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statement level consistency</a:t>
            </a:r>
            <a:r>
              <a:rPr lang="ru-RU" dirty="0"/>
              <a:t> выключена, то окончание чтения – любой удобный СУБД момент (завершение чтения строки/страницы/и т.п.)</a:t>
            </a:r>
          </a:p>
          <a:p>
            <a:r>
              <a:rPr lang="ru-RU" b="1" dirty="0"/>
              <a:t>Запись</a:t>
            </a:r>
            <a:r>
              <a:rPr lang="ru-RU" dirty="0"/>
              <a:t>: захватываем исключительную блокировку на изменяемые данные, удерживаем до конца транзакции</a:t>
            </a:r>
          </a:p>
          <a:p>
            <a:r>
              <a:rPr lang="ru-RU" b="1" dirty="0"/>
              <a:t>Фиксация транзакции</a:t>
            </a:r>
            <a:r>
              <a:rPr lang="ru-RU" dirty="0"/>
              <a:t>: отпускаем захваченные исключительные блокировки</a:t>
            </a:r>
          </a:p>
          <a:p>
            <a:r>
              <a:rPr lang="ru-RU" b="1" dirty="0"/>
              <a:t>Откат транзакции</a:t>
            </a:r>
            <a:r>
              <a:rPr lang="ru-RU" dirty="0"/>
              <a:t>: отменяем внесённые изменения, отпускаем захваченные исключительные блокировки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2DA0EF-FA5B-BD10-2F78-C094010591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Read committed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C2F87F-F605-77CF-5410-817765DF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Пессимистические блокировки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01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1A64-815E-5C60-9A0F-09ECC349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6A976-7742-1D3C-21B9-17FE6B8E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47A8F-5CC3-099A-9EAB-CCA8DCEAB2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624575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Чтение</a:t>
            </a:r>
            <a:r>
              <a:rPr lang="ru-RU" dirty="0"/>
              <a:t>: захватываем разделяемую блокировку на читаемые данные, </a:t>
            </a:r>
            <a:r>
              <a:rPr lang="ru-RU" b="1" dirty="0"/>
              <a:t>удерживаем до конца транзакции</a:t>
            </a:r>
          </a:p>
          <a:p>
            <a:r>
              <a:rPr lang="ru-RU" b="1" dirty="0"/>
              <a:t>Запись</a:t>
            </a:r>
            <a:r>
              <a:rPr lang="ru-RU" dirty="0"/>
              <a:t>: захватываем исключительную блокировку на изменяемые данные, удерживаем до конца транзакции</a:t>
            </a:r>
          </a:p>
          <a:p>
            <a:r>
              <a:rPr lang="ru-RU" b="1" dirty="0"/>
              <a:t>Фиксация транзакции</a:t>
            </a:r>
            <a:r>
              <a:rPr lang="ru-RU" dirty="0"/>
              <a:t>: отпускаем захваченные блокировки</a:t>
            </a:r>
          </a:p>
          <a:p>
            <a:r>
              <a:rPr lang="ru-RU" b="1" dirty="0"/>
              <a:t>Откат транзакции</a:t>
            </a:r>
            <a:r>
              <a:rPr lang="ru-RU" dirty="0"/>
              <a:t>: отменяем внесённые изменения, отпускаем захваченные блокировки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2E76BC-23FB-861D-DC48-15D7021CE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Repeatable </a:t>
            </a:r>
            <a:r>
              <a:rPr lang="en-US" dirty="0" err="1"/>
              <a:t>ReaD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5114ED-76FD-42A1-BE07-502F5EE3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Пессимистические блокировки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925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257A-3B50-85CE-9E95-3EC2D7CA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0018E-AF4C-56C3-1862-3F3C714F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C9720-800A-614D-3CFC-2F0E53BABE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624575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Чтение</a:t>
            </a:r>
            <a:r>
              <a:rPr lang="ru-RU" dirty="0"/>
              <a:t>: </a:t>
            </a:r>
            <a:endParaRPr lang="en-US" dirty="0"/>
          </a:p>
          <a:p>
            <a:pPr lvl="1"/>
            <a:r>
              <a:rPr lang="ru-RU" dirty="0"/>
              <a:t>захватываем разделяемую блокировку на читаемые данные, удерживаем до конца транзакции</a:t>
            </a:r>
            <a:endParaRPr lang="en-US" dirty="0"/>
          </a:p>
          <a:p>
            <a:pPr lvl="1"/>
            <a:r>
              <a:rPr lang="ru-RU" dirty="0"/>
              <a:t>Захватываем </a:t>
            </a:r>
            <a:r>
              <a:rPr lang="en-US" dirty="0"/>
              <a:t>Key Range </a:t>
            </a:r>
            <a:r>
              <a:rPr lang="ru-RU" dirty="0"/>
              <a:t>блокировку на запрошенный предикат; при невозможности –</a:t>
            </a:r>
            <a:r>
              <a:rPr lang="en-US" dirty="0"/>
              <a:t> </a:t>
            </a:r>
            <a:r>
              <a:rPr lang="ru-RU" dirty="0"/>
              <a:t>блокировка на всю читаемую таблицу (ы). Удерживаем до конца транзакции</a:t>
            </a:r>
          </a:p>
          <a:p>
            <a:r>
              <a:rPr lang="ru-RU" b="1" dirty="0"/>
              <a:t>Запись</a:t>
            </a:r>
            <a:r>
              <a:rPr lang="ru-RU" dirty="0"/>
              <a:t>: захватываем исключительную блокировку на изменяемые данные, удерживаем до конца транзакции</a:t>
            </a:r>
          </a:p>
          <a:p>
            <a:r>
              <a:rPr lang="ru-RU" b="1" dirty="0"/>
              <a:t>Фиксация транзакции</a:t>
            </a:r>
            <a:r>
              <a:rPr lang="ru-RU" dirty="0"/>
              <a:t>: отпускаем захваченные блокировки</a:t>
            </a:r>
          </a:p>
          <a:p>
            <a:r>
              <a:rPr lang="ru-RU" b="1" dirty="0"/>
              <a:t>Откат транзакции</a:t>
            </a:r>
            <a:r>
              <a:rPr lang="ru-RU" dirty="0"/>
              <a:t>: отменяем внесённые изменения, отпускаем захваченные блокировки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5A6250-99A2-47C9-B37F-AEAF1065EB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SERIALIZABLE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9F4B8D-42BA-58DE-7115-26AEB425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Пессимистические блокировки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49133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18301</TotalTime>
  <Words>3117</Words>
  <Application>Microsoft Office PowerPoint</Application>
  <PresentationFormat>On-screen Show (16:9)</PresentationFormat>
  <Paragraphs>855</Paragraphs>
  <Slides>40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Aptos Narrow</vt:lpstr>
      <vt:lpstr>Calibri</vt:lpstr>
      <vt:lpstr>Cascadia Mono SemiLight</vt:lpstr>
      <vt:lpstr>Acrom</vt:lpstr>
      <vt:lpstr>Acrom ExtraBold</vt:lpstr>
      <vt:lpstr>Cascadia Code SemiLight</vt:lpstr>
      <vt:lpstr>Acrom Bold</vt:lpstr>
      <vt:lpstr>Arial</vt:lpstr>
      <vt:lpstr>Wingdings</vt:lpstr>
      <vt:lpstr>Symbol</vt:lpstr>
      <vt:lpstr>Times New Roman</vt:lpstr>
      <vt:lpstr>NSU Content</vt:lpstr>
      <vt:lpstr>NSU Captions</vt:lpstr>
      <vt:lpstr>БАЗЫ ДАННЫХ</vt:lpstr>
      <vt:lpstr>PowerPoint Presentation</vt:lpstr>
      <vt:lpstr>Параллельное исполнение операций над БАЗОЙ ДАННЫХ </vt:lpstr>
      <vt:lpstr>ТранзакциИ в SQL</vt:lpstr>
      <vt:lpstr>Пример транзакции (1)</vt:lpstr>
      <vt:lpstr>Пример транзакции (2)</vt:lpstr>
      <vt:lpstr>Пример транзакции (3)</vt:lpstr>
      <vt:lpstr>Пример транзакции (4)</vt:lpstr>
      <vt:lpstr>Пример транзакции (4)</vt:lpstr>
      <vt:lpstr>Пример транзакции (5): Атомарность</vt:lpstr>
      <vt:lpstr>Свойства транзакций (ACID)</vt:lpstr>
      <vt:lpstr>Стандартные виды нарушений изоляции</vt:lpstr>
      <vt:lpstr>Потерянное обновление (Lost UPDATE)</vt:lpstr>
      <vt:lpstr>Преждевременное чтение (Dirty READ)</vt:lpstr>
      <vt:lpstr>неповторяющееся чтение (Non-repeatable READ)</vt:lpstr>
      <vt:lpstr>Фантомное чтение (Phantom READ)</vt:lpstr>
      <vt:lpstr>Понятие сериализуемости</vt:lpstr>
      <vt:lpstr>Предотвращение нарушений изоляции</vt:lpstr>
      <vt:lpstr>Оптимистическое блокирование</vt:lpstr>
      <vt:lpstr>Пример с потерянным обновлением</vt:lpstr>
      <vt:lpstr>Гранулярность блокировок</vt:lpstr>
      <vt:lpstr>Уровни изоляции</vt:lpstr>
      <vt:lpstr>Виды пессимистических блокировок</vt:lpstr>
      <vt:lpstr>Проблемы пессимистичных блокировок</vt:lpstr>
      <vt:lpstr>Разрешение Взаимоблокировок</vt:lpstr>
      <vt:lpstr>Разрешение Взаимоблокировок</vt:lpstr>
      <vt:lpstr>Разрешение Взаимоблокировок</vt:lpstr>
      <vt:lpstr>Понятие сериализуемости</vt:lpstr>
      <vt:lpstr>Понятие сериализуемости</vt:lpstr>
      <vt:lpstr>Понятие сериализуемости</vt:lpstr>
      <vt:lpstr>Понятие сериализуемости</vt:lpstr>
      <vt:lpstr>Сериализуемость. Пример расписания</vt:lpstr>
      <vt:lpstr>Сериализуемость. Расписание несериализуемо</vt:lpstr>
      <vt:lpstr>Алгоритм проверки сериализумости</vt:lpstr>
      <vt:lpstr>Алгоритм проверки сериализуемости</vt:lpstr>
      <vt:lpstr>Двухфазный протокол захвата блокировок</vt:lpstr>
      <vt:lpstr>Пессимистические блокировки</vt:lpstr>
      <vt:lpstr>Пессимистические блокировки</vt:lpstr>
      <vt:lpstr>Пессимистические блокировки</vt:lpstr>
      <vt:lpstr>Пессимистические блокировки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893</cp:revision>
  <dcterms:created xsi:type="dcterms:W3CDTF">2016-08-15T04:55:12Z</dcterms:created>
  <dcterms:modified xsi:type="dcterms:W3CDTF">2024-12-18T17:53:43Z</dcterms:modified>
</cp:coreProperties>
</file>