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8" r:id="rId1"/>
    <p:sldMasterId id="2147483685" r:id="rId2"/>
  </p:sldMasterIdLst>
  <p:notesMasterIdLst>
    <p:notesMasterId r:id="rId21"/>
  </p:notesMasterIdLst>
  <p:sldIdLst>
    <p:sldId id="514" r:id="rId3"/>
    <p:sldId id="524" r:id="rId4"/>
    <p:sldId id="547" r:id="rId5"/>
    <p:sldId id="548" r:id="rId6"/>
    <p:sldId id="550" r:id="rId7"/>
    <p:sldId id="551" r:id="rId8"/>
    <p:sldId id="552" r:id="rId9"/>
    <p:sldId id="554" r:id="rId10"/>
    <p:sldId id="555" r:id="rId11"/>
    <p:sldId id="556" r:id="rId12"/>
    <p:sldId id="557" r:id="rId13"/>
    <p:sldId id="559" r:id="rId14"/>
    <p:sldId id="560" r:id="rId15"/>
    <p:sldId id="558" r:id="rId16"/>
    <p:sldId id="561" r:id="rId17"/>
    <p:sldId id="563" r:id="rId18"/>
    <p:sldId id="562" r:id="rId19"/>
    <p:sldId id="564" r:id="rId20"/>
  </p:sldIdLst>
  <p:sldSz cx="9144000" cy="5143500" type="screen16x9"/>
  <p:notesSz cx="6858000" cy="9144000"/>
  <p:embeddedFontLst>
    <p:embeddedFont>
      <p:font typeface="Acrom" panose="020B0604020202020204" charset="-52"/>
      <p:regular r:id="rId22"/>
    </p:embeddedFont>
    <p:embeddedFont>
      <p:font typeface="Acrom Bold" panose="020B0604020202020204" charset="-52"/>
      <p:bold r:id="rId23"/>
    </p:embeddedFont>
    <p:embeddedFont>
      <p:font typeface="Acrom ExtraBold" panose="020B0604020202020204" charset="-52"/>
      <p:bold r:id="rId24"/>
    </p:embeddedFont>
    <p:embeddedFont>
      <p:font typeface="Cascadia Mono SemiLight" panose="020B0609020000020004" pitchFamily="49" charset="0"/>
      <p:regular r:id="rId25"/>
      <p:italic r:id="rId26"/>
    </p:embeddedFont>
    <p:embeddedFont>
      <p:font typeface="Consolas" panose="020B0609020204030204" pitchFamily="49" charset="0"/>
      <p:regular r:id="rId27"/>
      <p:bold r:id="rId28"/>
      <p:italic r:id="rId29"/>
      <p:boldItalic r:id="rId3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8FC5EF-6076-40D9-AF9D-DF341323974E}">
          <p14:sldIdLst>
            <p14:sldId id="514"/>
          </p14:sldIdLst>
        </p14:section>
        <p14:section name="Literature" id="{B9960BE5-F3B4-48C0-BA4B-65F190ECCD4C}">
          <p14:sldIdLst>
            <p14:sldId id="524"/>
            <p14:sldId id="547"/>
            <p14:sldId id="548"/>
            <p14:sldId id="550"/>
            <p14:sldId id="551"/>
            <p14:sldId id="552"/>
            <p14:sldId id="554"/>
            <p14:sldId id="555"/>
            <p14:sldId id="556"/>
            <p14:sldId id="557"/>
            <p14:sldId id="559"/>
            <p14:sldId id="560"/>
            <p14:sldId id="558"/>
            <p14:sldId id="561"/>
            <p14:sldId id="563"/>
            <p14:sldId id="562"/>
            <p14:sldId id="5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E5D6"/>
    <a:srgbClr val="F0F0F0"/>
    <a:srgbClr val="B8B8B8"/>
    <a:srgbClr val="FEFEFE"/>
    <a:srgbClr val="DBF2F3"/>
    <a:srgbClr val="D6D6FE"/>
    <a:srgbClr val="9292FB"/>
    <a:srgbClr val="C1F3FF"/>
    <a:srgbClr val="C20808"/>
    <a:srgbClr val="90D1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73" autoAdjust="0"/>
    <p:restoredTop sz="83051" autoAdjust="0"/>
  </p:normalViewPr>
  <p:slideViewPr>
    <p:cSldViewPr>
      <p:cViewPr>
        <p:scale>
          <a:sx n="100" d="100"/>
          <a:sy n="100" d="100"/>
        </p:scale>
        <p:origin x="1122" y="3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5.fntdata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3.fntdata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420F6-EE28-447A-BA82-F9AA48FF3F8C}" type="datetimeFigureOut">
              <a:rPr lang="ru-RU" smtClean="0"/>
              <a:pPr/>
              <a:t>20.11.2024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5E2C8-E51C-40F3-9A72-4A3C3DEE50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622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174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750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3456A-9C2E-1673-1543-3E8136831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3B9BCC-F99B-1BF1-A3E7-84D28A9BB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098504-6B18-ECAB-3794-01E26BD33A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E9CD9-710B-7A5A-CB50-009CA55213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2876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28122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60513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4966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D8FDD-DC47-BB38-0BB8-9E0BA963E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59588E-6521-0C32-3D83-ECDF1F2352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70C5DA-2873-A1CD-A09D-0C12EBA1C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C589A-3C90-AC22-1A82-C83689ACD2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4658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7014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961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hdphoto" Target="../media/hdphoto2.wdp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gif"/><Relationship Id="rId3" Type="http://schemas.openxmlformats.org/officeDocument/2006/relationships/image" Target="../media/image9.png"/><Relationship Id="rId7" Type="http://schemas.openxmlformats.org/officeDocument/2006/relationships/image" Target="../media/image23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sp>
        <p:nvSpPr>
          <p:cNvPr id="43" name="Текст 39"/>
          <p:cNvSpPr>
            <a:spLocks noGrp="1"/>
          </p:cNvSpPr>
          <p:nvPr>
            <p:ph type="body" sz="quarter" idx="11"/>
          </p:nvPr>
        </p:nvSpPr>
        <p:spPr>
          <a:xfrm>
            <a:off x="350838" y="2066925"/>
            <a:ext cx="7605712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8"/>
              </a:buBlip>
              <a:defRPr sz="2000">
                <a:solidFill>
                  <a:schemeClr val="bg1"/>
                </a:solidFill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8"/>
              </a:buBlip>
              <a:defRPr sz="1800">
                <a:solidFill>
                  <a:schemeClr val="bg1"/>
                </a:solidFill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8"/>
              </a:buBlip>
              <a:defRPr sz="1600">
                <a:solidFill>
                  <a:schemeClr val="bg1"/>
                </a:solidFill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2" name="Текст 37"/>
          <p:cNvSpPr>
            <a:spLocks noGrp="1"/>
          </p:cNvSpPr>
          <p:nvPr>
            <p:ph type="body" sz="quarter" idx="10" hasCustomPrompt="1"/>
          </p:nvPr>
        </p:nvSpPr>
        <p:spPr>
          <a:xfrm>
            <a:off x="350838" y="1419225"/>
            <a:ext cx="2945436" cy="383169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Заголовок 34"/>
          <p:cNvSpPr>
            <a:spLocks noGrp="1"/>
          </p:cNvSpPr>
          <p:nvPr>
            <p:ph type="title" hasCustomPrompt="1"/>
          </p:nvPr>
        </p:nvSpPr>
        <p:spPr>
          <a:xfrm>
            <a:off x="351237" y="716531"/>
            <a:ext cx="7749155" cy="369332"/>
          </a:xfrm>
          <a:noFill/>
        </p:spPr>
        <p:txBody>
          <a:bodyPr wrap="square" rtlCol="0">
            <a:spAutoFit/>
          </a:bodyPr>
          <a:lstStyle>
            <a:lvl1pPr algn="l">
              <a:defRPr lang="ru-RU" sz="1800">
                <a:solidFill>
                  <a:srgbClr val="262626"/>
                </a:solidFill>
                <a:latin typeface="Acrom ExtraBold" pitchFamily="50" charset="-52"/>
                <a:ea typeface="+mn-ea"/>
                <a:cs typeface="+mn-cs"/>
              </a:defRPr>
            </a:lvl1pPr>
          </a:lstStyle>
          <a:p>
            <a:pPr marL="0" lvl="0" algn="l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21597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3F31863B-D2C1-455A-9EA1-E26FFC62CD1F}" type="datetime1">
              <a:rPr lang="ru-RU" smtClean="0"/>
              <a:t>20.11.2024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2066925"/>
            <a:ext cx="8541643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0108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77501038-3FD5-4508-A3B2-A3E2BAE5DE49}" type="datetime1">
              <a:rPr lang="ru-RU" smtClean="0"/>
              <a:t>20.11.2024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5"/>
            <a:ext cx="8541643" cy="29527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9807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">
            <a:extLst>
              <a:ext uri="{FF2B5EF4-FFF2-40B4-BE49-F238E27FC236}">
                <a16:creationId xmlns:a16="http://schemas.microsoft.com/office/drawing/2014/main" id="{1D48A0FE-9536-29C0-B7D0-1F66CF436D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06694701-841A-4648-9226-979284EF9C69}" type="datetime1">
              <a:rPr lang="ru-RU" smtClean="0"/>
              <a:t>20.11.2024</a:t>
            </a:fld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5AF862F-6F41-B134-6BBE-BEEB44663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4E2BD42-6F67-28EC-EADC-8BA24112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B421E783-F97A-5F3F-D1CC-6D20305A28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0" y="1433513"/>
            <a:ext cx="4321175" cy="3683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2066923"/>
            <a:ext cx="4321175" cy="2305051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8BBB94-2676-906E-39F4-A268322BC7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285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5365DC2F-61D5-9AAB-975D-7A0D222728B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350838" y="4858732"/>
            <a:ext cx="1124818" cy="274637"/>
          </a:xfrm>
        </p:spPr>
        <p:txBody>
          <a:bodyPr/>
          <a:lstStyle/>
          <a:p>
            <a:fld id="{533F0968-48E1-48DF-98AF-E00A7EFE6F72}" type="datetime1">
              <a:rPr lang="ru-RU" smtClean="0"/>
              <a:t>20.11.2024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C272CE33-125F-A707-F331-AEF3B91CC83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1547664" y="4858733"/>
            <a:ext cx="6048671" cy="27463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2" name="Slide Number Placeholder">
            <a:extLst>
              <a:ext uri="{FF2B5EF4-FFF2-40B4-BE49-F238E27FC236}">
                <a16:creationId xmlns:a16="http://schemas.microsoft.com/office/drawing/2014/main" id="{6BFD863C-0DDE-E649-2043-41D74C4E0ED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D5C77E5-19BC-410D-82EA-404658A4611A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1419225"/>
            <a:ext cx="4321175" cy="2952750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C6FBF-E5DA-665A-B020-D02706ACF4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235" y="716531"/>
            <a:ext cx="8541939" cy="369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8244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1666716"/>
            <a:ext cx="7915931" cy="272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AD1B-8CAD-42B1-B997-0EDD160981B3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08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CA8B4-969C-4179-E89C-015DCFCBC6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C645F276-4CFE-ED6C-14E6-FFA499B33C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/>
        <p:txBody>
          <a:bodyPr wrap="square"/>
          <a:lstStyle>
            <a:lvl1pPr>
              <a:defRPr/>
            </a:lvl1pPr>
          </a:lstStyle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14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вершающ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555526"/>
            <a:ext cx="1990348" cy="60350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787774"/>
            <a:ext cx="307849" cy="307849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726456" y="2248774"/>
            <a:ext cx="59474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РОССИЯ, 630090, НОВОСИБИРСК, УЛ. ПИРОГОВА, 2</a:t>
            </a:r>
            <a:endParaRPr lang="en-US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726456" y="3924074"/>
            <a:ext cx="2070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WWW.NSU.RU/N/</a:t>
            </a: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777" y="2787774"/>
            <a:ext cx="307849" cy="307849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632215" y="3075806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nsu24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787774"/>
            <a:ext cx="310897" cy="307849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5274608" y="3075806"/>
            <a:ext cx="1653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@</a:t>
            </a:r>
            <a:r>
              <a:rPr lang="ru-RU" sz="1600" dirty="0" err="1">
                <a:solidFill>
                  <a:schemeClr val="bg1"/>
                </a:solidFill>
                <a:latin typeface="Acrom" pitchFamily="50" charset="-52"/>
              </a:rPr>
              <a:t>nsuniversity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557032"/>
            <a:ext cx="966976" cy="966976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702376" y="3072368"/>
            <a:ext cx="22246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Acrom" pitchFamily="50" charset="-52"/>
              </a:rPr>
              <a:t>nsuniversity.official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238443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g"/><Relationship Id="rId14" Type="http://schemas.openxmlformats.org/officeDocument/2006/relationships/image" Target="../media/image6.png"/></Relationships>
</file>

<file path=ppt/slideMasters/_rels/slideMaster2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theme" Target="../theme/theme2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15.png"/><Relationship Id="rId10" Type="http://schemas.openxmlformats.org/officeDocument/2006/relationships/image" Target="../media/image18.png"/><Relationship Id="rId4" Type="http://schemas.openxmlformats.org/officeDocument/2006/relationships/image" Target="../media/image14.jpeg"/><Relationship Id="rId9" Type="http://schemas.openxmlformats.org/officeDocument/2006/relationships/image" Target="../media/image1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8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>
            <a:extLst>
              <a:ext uri="{FF2B5EF4-FFF2-40B4-BE49-F238E27FC236}">
                <a16:creationId xmlns:a16="http://schemas.microsoft.com/office/drawing/2014/main" id="{9B33D274-B6B1-E2DB-BE57-EEB1AA1C8EF1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  <a:noFill/>
        </p:spPr>
      </p:pic>
      <p:pic>
        <p:nvPicPr>
          <p:cNvPr id="15" name="BottomGutter">
            <a:extLst>
              <a:ext uri="{FF2B5EF4-FFF2-40B4-BE49-F238E27FC236}">
                <a16:creationId xmlns:a16="http://schemas.microsoft.com/office/drawing/2014/main" id="{C050C21E-2DCE-7642-AC5B-F79436CC620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856"/>
          <a:stretch/>
        </p:blipFill>
        <p:spPr>
          <a:xfrm>
            <a:off x="1" y="4499190"/>
            <a:ext cx="9143998" cy="644310"/>
          </a:xfrm>
          <a:prstGeom prst="rect">
            <a:avLst/>
          </a:prstGeom>
        </p:spPr>
      </p:pic>
      <p:pic>
        <p:nvPicPr>
          <p:cNvPr id="7" name="TopGutter">
            <a:extLst>
              <a:ext uri="{FF2B5EF4-FFF2-40B4-BE49-F238E27FC236}">
                <a16:creationId xmlns:a16="http://schemas.microsoft.com/office/drawing/2014/main" id="{858D3652-D041-9F6C-9E85-EE8258D7A38B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sp>
        <p:nvSpPr>
          <p:cNvPr id="4" name="Date Placeholder">
            <a:extLst>
              <a:ext uri="{FF2B5EF4-FFF2-40B4-BE49-F238E27FC236}">
                <a16:creationId xmlns:a16="http://schemas.microsoft.com/office/drawing/2014/main" id="{F6631BE6-C540-9F06-1408-D5DAFE4CC7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1236" y="4858733"/>
            <a:ext cx="112442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79037-CC8E-4534-B7F6-0A122AB3349B}" type="datetime1">
              <a:rPr lang="ru-RU" smtClean="0"/>
              <a:t>20.11.2024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203AFB7-5C34-3102-5A43-1D87CB96B0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7664" y="4858733"/>
            <a:ext cx="604867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43316F-8F60-660A-EB0D-F436D4FDA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5306" y="4682109"/>
            <a:ext cx="394546" cy="313943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BD5C77E5-19BC-410D-82EA-404658A4611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F01035C1-6DDC-A5E1-CB54-AEB8F2B5E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236" y="1370013"/>
            <a:ext cx="8164114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59F61F2A-946C-4ED4-F435-730061947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pic>
        <p:nvPicPr>
          <p:cNvPr id="12" name="ЗвёздочкаЗаголовка">
            <a:extLst>
              <a:ext uri="{FF2B5EF4-FFF2-40B4-BE49-F238E27FC236}">
                <a16:creationId xmlns:a16="http://schemas.microsoft.com/office/drawing/2014/main" id="{FB3F1185-8665-1B69-1268-F2D4AEFABB6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pic>
        <p:nvPicPr>
          <p:cNvPr id="14" name="ЗвёздочкаНомера">
            <a:extLst>
              <a:ext uri="{FF2B5EF4-FFF2-40B4-BE49-F238E27FC236}">
                <a16:creationId xmlns:a16="http://schemas.microsoft.com/office/drawing/2014/main" id="{405211ED-D317-9A6C-C87D-2F05449DEA0D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73" b="56441"/>
          <a:stretch/>
        </p:blipFill>
        <p:spPr>
          <a:xfrm>
            <a:off x="8750038" y="4680520"/>
            <a:ext cx="142442" cy="13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42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82" r:id="rId2"/>
    <p:sldLayoutId id="2147483684" r:id="rId3"/>
    <p:sldLayoutId id="2147483683" r:id="rId4"/>
    <p:sldLayoutId id="2147483680" r:id="rId5"/>
    <p:sldLayoutId id="2147483687" r:id="rId6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1800" kern="1200" cap="all" baseline="0">
          <a:solidFill>
            <a:schemeClr val="bg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12">
            <a:extLst>
              <a:ext uri="{FF2B5EF4-FFF2-40B4-BE49-F238E27FC236}">
                <a16:creationId xmlns:a16="http://schemas.microsoft.com/office/drawing/2014/main" id="{A774F97C-D077-5D46-222E-2516201CB63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746" y="0"/>
            <a:ext cx="5192253" cy="5143500"/>
          </a:xfrm>
          <a:prstGeom prst="rect">
            <a:avLst/>
          </a:prstGeom>
        </p:spPr>
      </p:pic>
      <p:pic>
        <p:nvPicPr>
          <p:cNvPr id="8" name="Asterisk">
            <a:extLst>
              <a:ext uri="{FF2B5EF4-FFF2-40B4-BE49-F238E27FC236}">
                <a16:creationId xmlns:a16="http://schemas.microsoft.com/office/drawing/2014/main" id="{D333FEBB-EBF5-7FBD-4829-084774DD955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483518"/>
            <a:ext cx="896114" cy="850394"/>
          </a:xfrm>
          <a:prstGeom prst="rect">
            <a:avLst/>
          </a:prstGeom>
        </p:spPr>
      </p:pic>
      <p:pic>
        <p:nvPicPr>
          <p:cNvPr id="9" name="Рисунок 15">
            <a:extLst>
              <a:ext uri="{FF2B5EF4-FFF2-40B4-BE49-F238E27FC236}">
                <a16:creationId xmlns:a16="http://schemas.microsoft.com/office/drawing/2014/main" id="{0BD73755-EB14-577B-F4C9-A77F7FCF877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52085" cy="5143499"/>
          </a:xfrm>
          <a:prstGeom prst="rect">
            <a:avLst/>
          </a:prstGeom>
        </p:spPr>
      </p:pic>
      <p:pic>
        <p:nvPicPr>
          <p:cNvPr id="10" name="Рисунок 16">
            <a:extLst>
              <a:ext uri="{FF2B5EF4-FFF2-40B4-BE49-F238E27FC236}">
                <a16:creationId xmlns:a16="http://schemas.microsoft.com/office/drawing/2014/main" id="{327461AB-451C-E280-61A3-E51A2A202B98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339502"/>
            <a:ext cx="3206503" cy="3185166"/>
          </a:xfrm>
          <a:prstGeom prst="rect">
            <a:avLst/>
          </a:prstGeom>
        </p:spPr>
      </p:pic>
      <p:pic>
        <p:nvPicPr>
          <p:cNvPr id="11" name="Рисунок 17">
            <a:extLst>
              <a:ext uri="{FF2B5EF4-FFF2-40B4-BE49-F238E27FC236}">
                <a16:creationId xmlns:a16="http://schemas.microsoft.com/office/drawing/2014/main" id="{F78A891D-02CC-B741-9D04-F6A91F88DC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4229069"/>
            <a:ext cx="1655067" cy="50292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73725AA-F208-BAB1-BC9D-BCA5F8833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362" y="1677262"/>
            <a:ext cx="4332104" cy="18474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14" name="Subtitle 1">
            <a:extLst>
              <a:ext uri="{FF2B5EF4-FFF2-40B4-BE49-F238E27FC236}">
                <a16:creationId xmlns:a16="http://schemas.microsoft.com/office/drawing/2014/main" id="{46B62068-49A8-7B4B-4EC6-41C46C4BA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04362" y="3524667"/>
            <a:ext cx="4332104" cy="919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47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58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cap="all" baseline="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tutorial/jdbc/TOC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ql-99.readthedocs.io/en/latest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04362" y="1677262"/>
            <a:ext cx="3523722" cy="535531"/>
          </a:xfrm>
        </p:spPr>
        <p:txBody>
          <a:bodyPr wrap="none">
            <a:spAutoFit/>
          </a:bodyPr>
          <a:lstStyle/>
          <a:p>
            <a:r>
              <a:rPr lang="ru-RU" sz="3200" dirty="0"/>
              <a:t>БАЗЫ ДАННЫХ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5D118-EC03-3BAF-711F-6D2F5AAC6F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04362" y="3147814"/>
            <a:ext cx="4332104" cy="1728193"/>
          </a:xfrm>
        </p:spPr>
        <p:txBody>
          <a:bodyPr>
            <a:normAutofit/>
          </a:bodyPr>
          <a:lstStyle/>
          <a:p>
            <a:r>
              <a:rPr lang="ru-RU" dirty="0"/>
              <a:t>SQL-92</a:t>
            </a:r>
            <a:br>
              <a:rPr lang="ru-RU" dirty="0"/>
            </a:br>
            <a:r>
              <a:rPr lang="ru-RU" dirty="0"/>
              <a:t>Использование с другими языками</a:t>
            </a:r>
            <a:br>
              <a:rPr lang="ru-RU" dirty="0"/>
            </a:br>
            <a:r>
              <a:rPr lang="ru-RU" dirty="0"/>
              <a:t>Контроль доступа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75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A26515-82F9-BFED-C2A0-1967B2EA70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u-RU" dirty="0"/>
              <a:t>М. Грабер, </a:t>
            </a:r>
            <a:r>
              <a:rPr lang="en-US" b="1" dirty="0"/>
              <a:t>SQL</a:t>
            </a:r>
            <a:r>
              <a:rPr lang="ru-RU" b="1" dirty="0"/>
              <a:t>. </a:t>
            </a:r>
          </a:p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https://docs.oracle.com/javase/tutorial/jdbc/TOC.html</a:t>
            </a:r>
            <a:r>
              <a:rPr lang="ru-RU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eaLnBrk="1" hangingPunct="1"/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https://sql-99.readthedocs.io/en/latest</a:t>
            </a:r>
            <a:r>
              <a:rPr lang="ru-RU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6A67C-FF6B-9762-ACBF-04B1A1F1E3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ЛИТЕРАТУРА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118199-88F4-C870-1F8E-8EA926A2D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45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42F5E0-B204-C76A-8711-7A5E5555F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D016BC-F5E2-6EF3-8F81-E9D4C09D0C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Способы встраивания в ЯП</a:t>
            </a:r>
          </a:p>
          <a:p>
            <a:r>
              <a:rPr lang="ru-RU" dirty="0" err="1"/>
              <a:t>Embedded</a:t>
            </a:r>
            <a:r>
              <a:rPr lang="ru-RU" dirty="0"/>
              <a:t> SQL (встроенный)</a:t>
            </a:r>
          </a:p>
          <a:p>
            <a:r>
              <a:rPr lang="ru-RU" dirty="0"/>
              <a:t>Dynamic SQL</a:t>
            </a:r>
          </a:p>
          <a:p>
            <a:r>
              <a:rPr lang="ru-RU" dirty="0"/>
              <a:t>API (может содержать статический или динамический SQL)</a:t>
            </a:r>
          </a:p>
          <a:p>
            <a:pPr lvl="1"/>
            <a:r>
              <a:rPr lang="ru-RU" dirty="0"/>
              <a:t>API ориентирован на конкретную СУБД</a:t>
            </a:r>
          </a:p>
          <a:p>
            <a:pPr lvl="1"/>
            <a:r>
              <a:rPr lang="ru-RU" dirty="0"/>
              <a:t>API межплатформенный (</a:t>
            </a:r>
            <a:r>
              <a:rPr lang="ru-RU" dirty="0" err="1"/>
              <a:t>cartridge</a:t>
            </a:r>
            <a:r>
              <a:rPr lang="ru-RU" dirty="0"/>
              <a:t>)</a:t>
            </a:r>
          </a:p>
          <a:p>
            <a:r>
              <a:rPr lang="en-US" dirty="0"/>
              <a:t>Object-Relational Mapper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34C8E5A-2297-4C0D-08B3-79364211F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</a:t>
            </a:r>
            <a:r>
              <a:rPr lang="en-US" dirty="0"/>
              <a:t> SQL </a:t>
            </a:r>
            <a:r>
              <a:rPr lang="ru-RU" dirty="0"/>
              <a:t>для Создания приложений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871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29E23C-6DE0-FCAB-1491-AB5CE13DD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926051-6DF5-8072-EA27-5A68323F3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SQL/CLI (SQL Call Level Interface) входит в стандарт SQL 99 – это API на языке C</a:t>
            </a:r>
          </a:p>
          <a:p>
            <a:r>
              <a:rPr lang="ru-RU" dirty="0"/>
              <a:t>ODBC (Open Database </a:t>
            </a:r>
            <a:r>
              <a:rPr lang="en-US" dirty="0"/>
              <a:t>Connectivity</a:t>
            </a:r>
            <a:r>
              <a:rPr lang="ru-RU" dirty="0"/>
              <a:t>) – на момент создания – промышленный стандарт. API на языке С, но основан на более раннем стандарте чем SQL/CLI. Разновидность  расширения SQL/CLI</a:t>
            </a:r>
          </a:p>
          <a:p>
            <a:r>
              <a:rPr lang="ru-RU" dirty="0"/>
              <a:t>JDBC (Java Database </a:t>
            </a:r>
            <a:r>
              <a:rPr lang="en-US" dirty="0"/>
              <a:t>Connectivity</a:t>
            </a:r>
            <a:r>
              <a:rPr lang="ru-RU" dirty="0"/>
              <a:t>) – скопирован с ODBC, но для вызовов из программ на Java, а не на C. Промышленный стандарт, хотя и не утвержден ISO</a:t>
            </a:r>
            <a:endParaRPr lang="en-US" dirty="0"/>
          </a:p>
          <a:p>
            <a:r>
              <a:rPr lang="en-US" dirty="0"/>
              <a:t>OLE DB – </a:t>
            </a:r>
            <a:r>
              <a:rPr lang="ru-RU" dirty="0"/>
              <a:t>спецификация </a:t>
            </a:r>
            <a:r>
              <a:rPr lang="en-US" dirty="0"/>
              <a:t>COM-</a:t>
            </a:r>
            <a:r>
              <a:rPr lang="ru-RU" dirty="0"/>
              <a:t>интерфейсов для доступа к СУБД различных типов</a:t>
            </a:r>
          </a:p>
          <a:p>
            <a:r>
              <a:rPr lang="ru-RU" dirty="0"/>
              <a:t>Процедурные расширения SQL. Выполняется самой СУБД, а не внешним приложением. 4GL (</a:t>
            </a:r>
            <a:r>
              <a:rPr lang="ru-RU" dirty="0" err="1"/>
              <a:t>forth-generation</a:t>
            </a:r>
            <a:r>
              <a:rPr lang="ru-RU" dirty="0"/>
              <a:t> </a:t>
            </a:r>
            <a:r>
              <a:rPr lang="ru-RU" dirty="0" err="1"/>
              <a:t>language</a:t>
            </a:r>
            <a:r>
              <a:rPr lang="ru-RU" dirty="0"/>
              <a:t>). SQL/PSM стандартный способ в SQL99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8DD83AD-5FC4-C015-9CBB-3D73A42B1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Межплатформенные </a:t>
            </a:r>
            <a:r>
              <a:rPr lang="en-US" dirty="0"/>
              <a:t>API</a:t>
            </a:r>
          </a:p>
        </p:txBody>
      </p:sp>
    </p:spTree>
    <p:extLst>
      <p:ext uri="{BB962C8B-B14F-4D97-AF65-F5344CB8AC3E}">
        <p14:creationId xmlns:p14="http://schemas.microsoft.com/office/powerpoint/2010/main" val="3210321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A7F260-E616-A957-88BB-C8E9BB74C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82864-119C-E5B0-886D-E312597631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Connection</a:t>
            </a:r>
          </a:p>
          <a:p>
            <a:pPr lvl="1"/>
            <a:r>
              <a:rPr lang="en-US" dirty="0"/>
              <a:t>Command/Query*</a:t>
            </a:r>
          </a:p>
          <a:p>
            <a:pPr lvl="2"/>
            <a:r>
              <a:rPr lang="en-US" dirty="0"/>
              <a:t>Parameter*</a:t>
            </a:r>
          </a:p>
          <a:p>
            <a:pPr lvl="2"/>
            <a:r>
              <a:rPr lang="en-US" dirty="0"/>
              <a:t>Result</a:t>
            </a:r>
          </a:p>
          <a:p>
            <a:pPr lvl="3"/>
            <a:r>
              <a:rPr lang="en-US" dirty="0"/>
              <a:t>Status</a:t>
            </a:r>
          </a:p>
          <a:p>
            <a:pPr lvl="3"/>
            <a:r>
              <a:rPr lang="en-US" dirty="0" err="1"/>
              <a:t>ResultSet</a:t>
            </a:r>
            <a:r>
              <a:rPr lang="en-US" dirty="0"/>
              <a:t>*</a:t>
            </a:r>
          </a:p>
          <a:p>
            <a:pPr lvl="4"/>
            <a:r>
              <a:rPr lang="en-US" dirty="0"/>
              <a:t>Metadata</a:t>
            </a:r>
          </a:p>
          <a:p>
            <a:pPr lvl="4"/>
            <a:r>
              <a:rPr lang="en-US" dirty="0"/>
              <a:t>Row*</a:t>
            </a:r>
          </a:p>
          <a:p>
            <a:pPr lvl="4"/>
            <a:r>
              <a:rPr lang="en-US" dirty="0"/>
              <a:t>Column*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A68A176-B6C6-8922-7D02-419A9814F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Типовая иерархия объектов универсального</a:t>
            </a:r>
            <a:r>
              <a:rPr lang="en-US" dirty="0"/>
              <a:t> API SQL</a:t>
            </a:r>
          </a:p>
        </p:txBody>
      </p:sp>
    </p:spTree>
    <p:extLst>
      <p:ext uri="{BB962C8B-B14F-4D97-AF65-F5344CB8AC3E}">
        <p14:creationId xmlns:p14="http://schemas.microsoft.com/office/powerpoint/2010/main" val="448678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254FDD-0F10-2CF5-ED27-237DE86D5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7CFA0-F8B0-4B50-86E4-3B5D05A7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04FAE5-0AB8-74D2-F006-B2768F31E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Соответствие типов объектов в различных </a:t>
            </a:r>
            <a:r>
              <a:rPr lang="en-US" dirty="0"/>
              <a:t>API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D3704BE-0226-527A-4688-B10A85CC0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296743"/>
              </p:ext>
            </p:extLst>
          </p:nvPr>
        </p:nvGraphicFramePr>
        <p:xfrm>
          <a:off x="350836" y="1406339"/>
          <a:ext cx="8541644" cy="2346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16115">
                  <a:extLst>
                    <a:ext uri="{9D8B030D-6E8A-4147-A177-3AD203B41FA5}">
                      <a16:colId xmlns:a16="http://schemas.microsoft.com/office/drawing/2014/main" val="637083057"/>
                    </a:ext>
                  </a:extLst>
                </a:gridCol>
                <a:gridCol w="2054707">
                  <a:extLst>
                    <a:ext uri="{9D8B030D-6E8A-4147-A177-3AD203B41FA5}">
                      <a16:colId xmlns:a16="http://schemas.microsoft.com/office/drawing/2014/main" val="2392384470"/>
                    </a:ext>
                  </a:extLst>
                </a:gridCol>
                <a:gridCol w="2135411">
                  <a:extLst>
                    <a:ext uri="{9D8B030D-6E8A-4147-A177-3AD203B41FA5}">
                      <a16:colId xmlns:a16="http://schemas.microsoft.com/office/drawing/2014/main" val="595670101"/>
                    </a:ext>
                  </a:extLst>
                </a:gridCol>
                <a:gridCol w="2135411">
                  <a:extLst>
                    <a:ext uri="{9D8B030D-6E8A-4147-A177-3AD203B41FA5}">
                      <a16:colId xmlns:a16="http://schemas.microsoft.com/office/drawing/2014/main" val="2315590016"/>
                    </a:ext>
                  </a:extLst>
                </a:gridCol>
              </a:tblGrid>
              <a:tr h="190782">
                <a:tc>
                  <a:txBody>
                    <a:bodyPr/>
                    <a:lstStyle/>
                    <a:p>
                      <a:r>
                        <a:rPr lang="ru-RU" sz="1600" dirty="0"/>
                        <a:t>Вид объекта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ODBC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JDBC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OLE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477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SQLHENV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TDataSource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495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Connection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SQLHDBC 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Connection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TSession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351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Command/Query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SQLHSTMT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Statement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TCommand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523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IMultipleResults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591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/>
                        <a:t>Rowset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ResultSet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IRowset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13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924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7473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E46457-7535-D079-9CCF-32DC67263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6E732-EDEF-F44E-408D-893DD0E975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4"/>
            <a:ext cx="8541643" cy="3576828"/>
          </a:xfrm>
          <a:noFill/>
          <a:effectLst/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i="0" dirty="0">
                <a:solidFill>
                  <a:schemeClr val="accent1">
                    <a:lumMod val="75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try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(</a:t>
            </a:r>
            <a:r>
              <a:rPr lang="en-US" i="0" dirty="0">
                <a:solidFill>
                  <a:schemeClr val="accent2">
                    <a:lumMod val="75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Connection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i="0" dirty="0"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con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i="0" dirty="0"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=</a:t>
            </a:r>
            <a:endParaRPr lang="ru-RU" i="0" dirty="0">
              <a:solidFill>
                <a:srgbClr val="444444"/>
              </a:solidFill>
              <a:effectLst/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</a:t>
            </a:r>
            <a:r>
              <a:rPr lang="en-US" i="0" dirty="0" err="1">
                <a:solidFill>
                  <a:schemeClr val="accent2">
                    <a:lumMod val="75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DriverManager</a:t>
            </a:r>
            <a:r>
              <a:rPr lang="en-US" i="0" dirty="0" err="1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.getConnection</a:t>
            </a:r>
            <a:r>
              <a:rPr lang="en-US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endParaRPr lang="ru-RU" i="0" dirty="0">
              <a:solidFill>
                <a:srgbClr val="7030A0"/>
              </a:solidFill>
              <a:effectLst/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  </a:t>
            </a:r>
            <a:r>
              <a:rPr lang="en-US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"</a:t>
            </a:r>
            <a:r>
              <a:rPr lang="en-US" i="0" dirty="0" err="1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jdbc:mysql</a:t>
            </a:r>
            <a:r>
              <a:rPr lang="en-US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://localhost:3306/</a:t>
            </a:r>
            <a:r>
              <a:rPr lang="en-US" i="0" dirty="0" err="1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myDb</a:t>
            </a:r>
            <a:r>
              <a:rPr lang="en-US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"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</a:t>
            </a:r>
            <a:endParaRPr lang="ru-RU" i="0" dirty="0">
              <a:solidFill>
                <a:srgbClr val="444444"/>
              </a:solidFill>
              <a:effectLst/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  </a:t>
            </a:r>
            <a:r>
              <a:rPr lang="en-US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"user1"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</a:t>
            </a:r>
            <a:endParaRPr lang="ru-RU" i="0" dirty="0">
              <a:solidFill>
                <a:srgbClr val="444444"/>
              </a:solidFill>
              <a:effectLst/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  </a:t>
            </a:r>
            <a:r>
              <a:rPr lang="en-US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"pass"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)) </a:t>
            </a:r>
            <a:endParaRPr lang="ru-RU" i="0" dirty="0">
              <a:solidFill>
                <a:srgbClr val="444444"/>
              </a:solidFill>
              <a:effectLst/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i="0" dirty="0">
                <a:solidFill>
                  <a:schemeClr val="accent1">
                    <a:lumMod val="75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try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(</a:t>
            </a:r>
            <a:r>
              <a:rPr lang="en-US" i="0" dirty="0">
                <a:solidFill>
                  <a:schemeClr val="accent2">
                    <a:lumMod val="75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Statement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i="0" dirty="0" err="1"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stmt</a:t>
            </a:r>
            <a:r>
              <a:rPr lang="en-US" i="0" dirty="0"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i="0" dirty="0" err="1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con.createStatement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())</a:t>
            </a:r>
            <a:br>
              <a:rPr lang="ru-RU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i="0" dirty="0">
                <a:solidFill>
                  <a:schemeClr val="accent1">
                    <a:lumMod val="75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try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(</a:t>
            </a:r>
            <a:r>
              <a:rPr lang="en-US" i="0" dirty="0" err="1">
                <a:solidFill>
                  <a:schemeClr val="accent2">
                    <a:lumMod val="75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ResultSet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endParaRPr lang="ru-RU" i="0" dirty="0">
              <a:solidFill>
                <a:srgbClr val="444444"/>
              </a:solidFill>
              <a:effectLst/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i="0" dirty="0"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</a:t>
            </a:r>
            <a:r>
              <a:rPr lang="en-US" i="0" dirty="0" err="1"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resultSet</a:t>
            </a:r>
            <a:r>
              <a:rPr lang="en-US" i="0" dirty="0"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</a:t>
            </a:r>
            <a:r>
              <a:rPr lang="ru-RU" dirty="0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i="0" dirty="0" err="1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stmt.executeQuery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en-US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"SELECT * FROM employees"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)) {</a:t>
            </a:r>
            <a:endParaRPr lang="ru-RU" i="0" dirty="0">
              <a:solidFill>
                <a:srgbClr val="444444"/>
              </a:solidFill>
              <a:effectLst/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</a:t>
            </a:r>
            <a:r>
              <a:rPr lang="en-US" i="0" dirty="0">
                <a:solidFill>
                  <a:schemeClr val="accent2">
                    <a:lumMod val="75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List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&lt;</a:t>
            </a:r>
            <a:r>
              <a:rPr lang="en-US" i="0" dirty="0">
                <a:solidFill>
                  <a:schemeClr val="accent2">
                    <a:lumMod val="75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Employee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 employees = </a:t>
            </a:r>
            <a:r>
              <a:rPr lang="en-US" i="0" dirty="0">
                <a:solidFill>
                  <a:schemeClr val="accent1">
                    <a:lumMod val="75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new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i="0" dirty="0" err="1">
                <a:solidFill>
                  <a:schemeClr val="accent2">
                    <a:lumMod val="75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ArrayList</a:t>
            </a:r>
            <a:r>
              <a:rPr lang="en-US" i="0" dirty="0"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&lt;&gt;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();</a:t>
            </a:r>
            <a:endParaRPr lang="ru-RU" i="0" dirty="0">
              <a:solidFill>
                <a:srgbClr val="444444"/>
              </a:solidFill>
              <a:effectLst/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</a:t>
            </a:r>
            <a:r>
              <a:rPr lang="en-US" i="0" dirty="0">
                <a:solidFill>
                  <a:schemeClr val="accent1">
                    <a:lumMod val="75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while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(</a:t>
            </a:r>
            <a:r>
              <a:rPr lang="en-US" i="0" dirty="0" err="1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resultSet.next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()) { </a:t>
            </a:r>
            <a:endParaRPr lang="ru-RU" i="0" dirty="0">
              <a:solidFill>
                <a:srgbClr val="444444"/>
              </a:solidFill>
              <a:effectLst/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 </a:t>
            </a:r>
            <a:r>
              <a:rPr lang="en-US" i="0" dirty="0">
                <a:solidFill>
                  <a:schemeClr val="accent2">
                    <a:lumMod val="75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Employee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i="0" dirty="0"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emp =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i="0" dirty="0">
                <a:solidFill>
                  <a:schemeClr val="accent1">
                    <a:lumMod val="75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new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i="0" dirty="0">
                <a:solidFill>
                  <a:schemeClr val="accent2">
                    <a:lumMod val="75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Employee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();              </a:t>
            </a:r>
            <a:endParaRPr lang="ru-RU" i="0" dirty="0">
              <a:solidFill>
                <a:srgbClr val="444444"/>
              </a:solidFill>
              <a:effectLst/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 </a:t>
            </a:r>
            <a:r>
              <a:rPr lang="en-US" i="0" dirty="0" err="1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emp.setId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en-US" i="0" dirty="0" err="1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resultSet.getInt</a:t>
            </a:r>
            <a:r>
              <a:rPr lang="en-US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("</a:t>
            </a:r>
            <a:r>
              <a:rPr lang="en-US" i="0" dirty="0" err="1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emp_id</a:t>
            </a:r>
            <a:r>
              <a:rPr lang="en-US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"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));</a:t>
            </a:r>
            <a:endParaRPr lang="ru-RU" i="0" dirty="0">
              <a:solidFill>
                <a:srgbClr val="444444"/>
              </a:solidFill>
              <a:effectLst/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 </a:t>
            </a:r>
            <a:r>
              <a:rPr lang="en-US" i="0" dirty="0" err="1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emp.setName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en-US" i="0" dirty="0" err="1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resultSet.getString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en-US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"name"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));</a:t>
            </a:r>
            <a:endParaRPr lang="ru-RU" i="0" dirty="0">
              <a:solidFill>
                <a:srgbClr val="444444"/>
              </a:solidFill>
              <a:effectLst/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 </a:t>
            </a:r>
            <a:r>
              <a:rPr lang="en-US" i="0" dirty="0" err="1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emp.setPosition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en-US" i="0" dirty="0" err="1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resultSet.getString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en-US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"position"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));</a:t>
            </a:r>
            <a:endParaRPr lang="ru-RU" i="0" dirty="0">
              <a:solidFill>
                <a:srgbClr val="444444"/>
              </a:solidFill>
              <a:effectLst/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 </a:t>
            </a:r>
            <a:r>
              <a:rPr lang="en-US" i="0" dirty="0" err="1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emp.setSalary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en-US" i="0" dirty="0" err="1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resultSet.getDouble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en-US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"salary"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));</a:t>
            </a:r>
            <a:endParaRPr lang="ru-RU" i="0" dirty="0">
              <a:solidFill>
                <a:srgbClr val="444444"/>
              </a:solidFill>
              <a:effectLst/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 </a:t>
            </a:r>
            <a:r>
              <a:rPr lang="en-US" i="0" dirty="0" err="1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employees.add</a:t>
            </a: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(emp);</a:t>
            </a:r>
            <a:br>
              <a:rPr lang="ru-RU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}</a:t>
            </a:r>
            <a:r>
              <a:rPr lang="en-US" dirty="0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}</a:t>
            </a:r>
            <a:endParaRPr lang="en-US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DC09E5-71C0-E699-3601-52B6E98E6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использования </a:t>
            </a:r>
            <a:r>
              <a:rPr lang="en-US" dirty="0"/>
              <a:t>SQL </a:t>
            </a:r>
            <a:r>
              <a:rPr lang="ru-RU" dirty="0"/>
              <a:t>из </a:t>
            </a:r>
            <a:r>
              <a:rPr lang="en-US" dirty="0"/>
              <a:t>JAVA </a:t>
            </a:r>
            <a:r>
              <a:rPr lang="ru-RU" dirty="0"/>
              <a:t>программы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094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986E8-DFDA-265E-CEA1-170E55801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B9F24D-427D-3BB2-A796-622625B53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89DEE7-C167-58FD-E8A4-851778FA99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4"/>
            <a:ext cx="8541643" cy="3576828"/>
          </a:xfrm>
          <a:noFill/>
          <a:effectLst/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i="0" dirty="0">
                <a:solidFill>
                  <a:schemeClr val="accent1">
                    <a:lumMod val="75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try</a:t>
            </a:r>
            <a:r>
              <a:rPr lang="en-US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(</a:t>
            </a:r>
            <a:r>
              <a:rPr lang="en-US" sz="1300" i="0" dirty="0">
                <a:solidFill>
                  <a:schemeClr val="accent2">
                    <a:lumMod val="75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Connection</a:t>
            </a:r>
            <a:r>
              <a:rPr lang="en-US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300" i="0" dirty="0"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con</a:t>
            </a:r>
            <a:r>
              <a:rPr lang="en-US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300" i="0" dirty="0"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=</a:t>
            </a:r>
            <a:endParaRPr lang="ru-RU" sz="1300" i="0" dirty="0">
              <a:solidFill>
                <a:srgbClr val="444444"/>
              </a:solidFill>
              <a:effectLst/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300" dirty="0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</a:t>
            </a:r>
            <a:r>
              <a:rPr lang="en-US" sz="1300" i="0" dirty="0" err="1">
                <a:solidFill>
                  <a:schemeClr val="accent2">
                    <a:lumMod val="75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DriverManager</a:t>
            </a:r>
            <a:r>
              <a:rPr lang="en-US" sz="1300" i="0" dirty="0" err="1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.getConnection</a:t>
            </a:r>
            <a:r>
              <a:rPr lang="en-US" sz="1300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endParaRPr lang="ru-RU" sz="1300" i="0" dirty="0">
              <a:solidFill>
                <a:srgbClr val="7030A0"/>
              </a:solidFill>
              <a:effectLst/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3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  </a:t>
            </a:r>
            <a:r>
              <a:rPr lang="en-US" sz="1300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"</a:t>
            </a:r>
            <a:r>
              <a:rPr lang="en-US" sz="1300" i="0" dirty="0" err="1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jdbc:mysql</a:t>
            </a:r>
            <a:r>
              <a:rPr lang="en-US" sz="1300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://localhost:3306/</a:t>
            </a:r>
            <a:r>
              <a:rPr lang="en-US" sz="1300" i="0" dirty="0" err="1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myDb</a:t>
            </a:r>
            <a:r>
              <a:rPr lang="en-US" sz="1300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"</a:t>
            </a:r>
            <a:r>
              <a:rPr lang="en-US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</a:t>
            </a:r>
            <a:endParaRPr lang="ru-RU" sz="1300" i="0" dirty="0">
              <a:solidFill>
                <a:srgbClr val="444444"/>
              </a:solidFill>
              <a:effectLst/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300" dirty="0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  </a:t>
            </a:r>
            <a:r>
              <a:rPr lang="en-US" sz="1300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"user1"</a:t>
            </a:r>
            <a:r>
              <a:rPr lang="en-US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</a:t>
            </a:r>
            <a:endParaRPr lang="ru-RU" sz="1300" i="0" dirty="0">
              <a:solidFill>
                <a:srgbClr val="444444"/>
              </a:solidFill>
              <a:effectLst/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300" dirty="0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  </a:t>
            </a:r>
            <a:r>
              <a:rPr lang="en-US" sz="1300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"pass"</a:t>
            </a:r>
            <a:r>
              <a:rPr lang="en-US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)) </a:t>
            </a:r>
            <a:endParaRPr lang="ru-RU" sz="1300" i="0" dirty="0">
              <a:solidFill>
                <a:srgbClr val="444444"/>
              </a:solidFill>
              <a:effectLst/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i="0" dirty="0">
                <a:solidFill>
                  <a:schemeClr val="accent1">
                    <a:lumMod val="75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try</a:t>
            </a:r>
            <a:r>
              <a:rPr lang="en-US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(</a:t>
            </a:r>
            <a:r>
              <a:rPr lang="en-US" sz="1300" i="0" dirty="0" err="1">
                <a:solidFill>
                  <a:schemeClr val="accent2">
                    <a:lumMod val="75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PreparedStatement</a:t>
            </a:r>
            <a:r>
              <a:rPr lang="en-US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300" i="0" dirty="0" err="1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pstmt</a:t>
            </a:r>
            <a:r>
              <a:rPr lang="en-US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</a:t>
            </a:r>
            <a:br>
              <a:rPr lang="ru-RU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</a:t>
            </a:r>
            <a:r>
              <a:rPr lang="en-US" sz="1300" i="0" dirty="0" err="1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con.prepareStatement</a:t>
            </a:r>
            <a:r>
              <a:rPr lang="en-US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en-US" sz="1300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"UPDATE employees SET position=</a:t>
            </a:r>
            <a:r>
              <a:rPr lang="en-US" sz="1300" i="0" dirty="0">
                <a:solidFill>
                  <a:srgbClr val="7030A0"/>
                </a:solidFill>
                <a:effectLst/>
                <a:highlight>
                  <a:srgbClr val="FFFF00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?</a:t>
            </a:r>
            <a:r>
              <a:rPr lang="en-US" sz="1300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WHERE </a:t>
            </a:r>
            <a:r>
              <a:rPr lang="en-US" sz="1300" i="0" dirty="0" err="1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emp_id</a:t>
            </a:r>
            <a:r>
              <a:rPr lang="en-US" sz="1300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=</a:t>
            </a:r>
            <a:r>
              <a:rPr lang="en-US" sz="1300" i="0" dirty="0">
                <a:solidFill>
                  <a:srgbClr val="7030A0"/>
                </a:solidFill>
                <a:effectLst/>
                <a:highlight>
                  <a:srgbClr val="FFFF00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?</a:t>
            </a:r>
            <a:r>
              <a:rPr lang="en-US" sz="1300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"</a:t>
            </a:r>
            <a:r>
              <a:rPr lang="en-US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))</a:t>
            </a:r>
            <a:endParaRPr lang="ru-RU" sz="1300" i="0" dirty="0">
              <a:solidFill>
                <a:srgbClr val="444444"/>
              </a:solidFill>
              <a:effectLst/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300" b="0" i="0" dirty="0" err="1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pstmt.setString</a:t>
            </a:r>
            <a:r>
              <a:rPr lang="en-US" sz="1300" b="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en-US" sz="1300" b="0" i="0" dirty="0">
                <a:solidFill>
                  <a:schemeClr val="accent6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</a:t>
            </a:r>
            <a:r>
              <a:rPr lang="en-US" sz="1300" b="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</a:t>
            </a:r>
            <a:r>
              <a:rPr lang="en-US" sz="1300" b="0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"lead developer"</a:t>
            </a:r>
            <a:r>
              <a:rPr lang="en-US" sz="1300" b="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); </a:t>
            </a:r>
            <a:endParaRPr lang="ru-RU" sz="1300" b="0" i="0" dirty="0">
              <a:solidFill>
                <a:srgbClr val="444444"/>
              </a:solidFill>
              <a:effectLst/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300" dirty="0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300" b="0" i="0" dirty="0" err="1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pstmt.setInt</a:t>
            </a:r>
            <a:r>
              <a:rPr lang="en-US" sz="1300" b="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en-US" sz="1300" b="0" i="0" dirty="0">
                <a:solidFill>
                  <a:schemeClr val="accent6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2</a:t>
            </a:r>
            <a:r>
              <a:rPr lang="en-US" sz="1300" b="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</a:t>
            </a:r>
            <a:r>
              <a:rPr lang="en-US" sz="1300" b="0" i="0" dirty="0">
                <a:solidFill>
                  <a:schemeClr val="accent6">
                    <a:lumMod val="75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</a:t>
            </a:r>
            <a:r>
              <a:rPr lang="en-US" sz="1300" b="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);</a:t>
            </a:r>
            <a:endParaRPr lang="ru-RU" sz="1300" b="0" i="0" dirty="0">
              <a:solidFill>
                <a:srgbClr val="444444"/>
              </a:solidFill>
              <a:effectLst/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300" dirty="0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300" dirty="0">
                <a:solidFill>
                  <a:schemeClr val="accent2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int</a:t>
            </a:r>
            <a:r>
              <a:rPr lang="en-US" sz="1300" dirty="0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300" dirty="0" err="1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rowsAffected</a:t>
            </a:r>
            <a:r>
              <a:rPr lang="en-US" sz="1300" dirty="0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</a:t>
            </a:r>
            <a:r>
              <a:rPr lang="en-US" sz="1300" dirty="0" err="1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pstmt.executeUpdate</a:t>
            </a:r>
            <a:r>
              <a:rPr lang="en-US" sz="1300" dirty="0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();</a:t>
            </a:r>
            <a:endParaRPr lang="en-US" sz="1300" i="0" dirty="0">
              <a:solidFill>
                <a:srgbClr val="444444"/>
              </a:solidFill>
              <a:effectLst/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}</a:t>
            </a:r>
            <a:br>
              <a:rPr lang="ru-RU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endParaRPr lang="en-US" sz="1300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35AD32B-4EB9-0858-2B10-408078D24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параметров в запросы </a:t>
            </a:r>
            <a:r>
              <a:rPr lang="en-US" dirty="0"/>
              <a:t>SQL</a:t>
            </a:r>
          </a:p>
        </p:txBody>
      </p:sp>
    </p:spTree>
    <p:extLst>
      <p:ext uri="{BB962C8B-B14F-4D97-AF65-F5344CB8AC3E}">
        <p14:creationId xmlns:p14="http://schemas.microsoft.com/office/powerpoint/2010/main" val="76062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BA9558-1757-27A9-9793-1C393947B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6C2C29F-2258-8958-BDE6-DD1E0A2CA5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dirty="0"/>
              <a:t>Групповое исполнение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01B9C74-AA1D-362D-21A6-88B4359F18E1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84DE8A-A354-F655-0844-CB49BBC7E5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4D6273-8670-3A4D-F894-B6569A1EB5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Поочерёдное Исполнение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6D16D4-8046-DDB7-C70A-455CC7E96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Исполнение групповых операций</a:t>
            </a:r>
            <a:r>
              <a:rPr lang="en-US" dirty="0"/>
              <a:t>: </a:t>
            </a:r>
            <a:r>
              <a:rPr lang="ru-RU" dirty="0"/>
              <a:t>мотивация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9E8DE5-CEAC-0A73-6083-B618EFD8EE13}"/>
              </a:ext>
            </a:extLst>
          </p:cNvPr>
          <p:cNvSpPr/>
          <p:nvPr/>
        </p:nvSpPr>
        <p:spPr>
          <a:xfrm>
            <a:off x="785154" y="2355726"/>
            <a:ext cx="1218102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560114-EC03-BE1A-CDF7-0787EBACAB7E}"/>
              </a:ext>
            </a:extLst>
          </p:cNvPr>
          <p:cNvSpPr/>
          <p:nvPr/>
        </p:nvSpPr>
        <p:spPr>
          <a:xfrm>
            <a:off x="2821906" y="2548580"/>
            <a:ext cx="1052810" cy="383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FABCCFA-23CD-3277-9BDD-4E800B5E1C4A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rot="16200000" flipH="1">
            <a:off x="2297691" y="1497959"/>
            <a:ext cx="147135" cy="195410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A1037D22-F233-2BAE-3066-841154CD0A67}"/>
              </a:ext>
            </a:extLst>
          </p:cNvPr>
          <p:cNvSpPr/>
          <p:nvPr/>
        </p:nvSpPr>
        <p:spPr>
          <a:xfrm>
            <a:off x="779839" y="3163744"/>
            <a:ext cx="1218102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1039277-4CDF-C890-2854-74D95178271E}"/>
              </a:ext>
            </a:extLst>
          </p:cNvPr>
          <p:cNvSpPr/>
          <p:nvPr/>
        </p:nvSpPr>
        <p:spPr>
          <a:xfrm>
            <a:off x="2821906" y="2931790"/>
            <a:ext cx="1052810" cy="470761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85D537-B637-0156-3AAA-62ED692C1CCA}"/>
              </a:ext>
            </a:extLst>
          </p:cNvPr>
          <p:cNvSpPr/>
          <p:nvPr/>
        </p:nvSpPr>
        <p:spPr>
          <a:xfrm>
            <a:off x="2821906" y="3402552"/>
            <a:ext cx="1052810" cy="6093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430F298-10B8-A02F-0C48-CF1BC1167662}"/>
              </a:ext>
            </a:extLst>
          </p:cNvPr>
          <p:cNvSpPr/>
          <p:nvPr/>
        </p:nvSpPr>
        <p:spPr>
          <a:xfrm>
            <a:off x="779120" y="4260563"/>
            <a:ext cx="1218102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11">
            <a:extLst>
              <a:ext uri="{FF2B5EF4-FFF2-40B4-BE49-F238E27FC236}">
                <a16:creationId xmlns:a16="http://schemas.microsoft.com/office/drawing/2014/main" id="{D3652C48-F88C-58AE-5BB9-3AC929C8D0E9}"/>
              </a:ext>
            </a:extLst>
          </p:cNvPr>
          <p:cNvCxnSpPr>
            <a:cxnSpLocks/>
            <a:stCxn id="21" idx="2"/>
            <a:endCxn id="27" idx="0"/>
          </p:cNvCxnSpPr>
          <p:nvPr/>
        </p:nvCxnSpPr>
        <p:spPr>
          <a:xfrm rot="5400000">
            <a:off x="2243915" y="3156166"/>
            <a:ext cx="248653" cy="19601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Left Brace 36">
            <a:extLst>
              <a:ext uri="{FF2B5EF4-FFF2-40B4-BE49-F238E27FC236}">
                <a16:creationId xmlns:a16="http://schemas.microsoft.com/office/drawing/2014/main" id="{6C156724-F647-0D44-8035-7B65E627D7E2}"/>
              </a:ext>
            </a:extLst>
          </p:cNvPr>
          <p:cNvSpPr/>
          <p:nvPr/>
        </p:nvSpPr>
        <p:spPr>
          <a:xfrm>
            <a:off x="347431" y="2355726"/>
            <a:ext cx="287313" cy="1950556"/>
          </a:xfrm>
          <a:prstGeom prst="leftBrace">
            <a:avLst>
              <a:gd name="adj1" fmla="val 55575"/>
              <a:gd name="adj2" fmla="val 49756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1">
            <a:extLst>
              <a:ext uri="{FF2B5EF4-FFF2-40B4-BE49-F238E27FC236}">
                <a16:creationId xmlns:a16="http://schemas.microsoft.com/office/drawing/2014/main" id="{F4CB356C-E2CF-F13A-F9EB-E93685E8B470}"/>
              </a:ext>
            </a:extLst>
          </p:cNvPr>
          <p:cNvCxnSpPr>
            <a:cxnSpLocks/>
            <a:stCxn id="10" idx="2"/>
            <a:endCxn id="16" idx="0"/>
          </p:cNvCxnSpPr>
          <p:nvPr/>
        </p:nvCxnSpPr>
        <p:spPr>
          <a:xfrm rot="5400000">
            <a:off x="2252624" y="2068056"/>
            <a:ext cx="231955" cy="1959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11">
            <a:extLst>
              <a:ext uri="{FF2B5EF4-FFF2-40B4-BE49-F238E27FC236}">
                <a16:creationId xmlns:a16="http://schemas.microsoft.com/office/drawing/2014/main" id="{B74D6FD3-E5A6-DFBA-0DA4-2767AA420B79}"/>
              </a:ext>
            </a:extLst>
          </p:cNvPr>
          <p:cNvCxnSpPr>
            <a:cxnSpLocks/>
            <a:stCxn id="16" idx="2"/>
            <a:endCxn id="21" idx="0"/>
          </p:cNvCxnSpPr>
          <p:nvPr/>
        </p:nvCxnSpPr>
        <p:spPr>
          <a:xfrm rot="16200000" flipH="1">
            <a:off x="2272056" y="2326296"/>
            <a:ext cx="193089" cy="1959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43692C90-9453-D003-6112-8C19C992BA45}"/>
              </a:ext>
            </a:extLst>
          </p:cNvPr>
          <p:cNvSpPr/>
          <p:nvPr/>
        </p:nvSpPr>
        <p:spPr>
          <a:xfrm>
            <a:off x="5571526" y="2351204"/>
            <a:ext cx="1218102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DDA80EF-D34B-8E56-D360-5597349DC357}"/>
              </a:ext>
            </a:extLst>
          </p:cNvPr>
          <p:cNvSpPr/>
          <p:nvPr/>
        </p:nvSpPr>
        <p:spPr>
          <a:xfrm>
            <a:off x="7480879" y="2544058"/>
            <a:ext cx="1052810" cy="383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  <a:endParaRPr lang="en-US" dirty="0"/>
          </a:p>
        </p:txBody>
      </p:sp>
      <p:cxnSp>
        <p:nvCxnSpPr>
          <p:cNvPr id="41" name="Straight Arrow Connector 11">
            <a:extLst>
              <a:ext uri="{FF2B5EF4-FFF2-40B4-BE49-F238E27FC236}">
                <a16:creationId xmlns:a16="http://schemas.microsoft.com/office/drawing/2014/main" id="{AD69C7D8-DEEE-4673-4CB6-CD63A67861B6}"/>
              </a:ext>
            </a:extLst>
          </p:cNvPr>
          <p:cNvCxnSpPr>
            <a:cxnSpLocks/>
            <a:stCxn id="39" idx="2"/>
            <a:endCxn id="40" idx="0"/>
          </p:cNvCxnSpPr>
          <p:nvPr/>
        </p:nvCxnSpPr>
        <p:spPr>
          <a:xfrm rot="16200000" flipH="1">
            <a:off x="7020363" y="1557136"/>
            <a:ext cx="147135" cy="182670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B6A1260B-3B19-A2F1-6B78-20B19BAF8E51}"/>
              </a:ext>
            </a:extLst>
          </p:cNvPr>
          <p:cNvSpPr/>
          <p:nvPr/>
        </p:nvSpPr>
        <p:spPr>
          <a:xfrm>
            <a:off x="7480879" y="2934797"/>
            <a:ext cx="1052810" cy="60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33DC271-C791-F8BF-2DDA-1A313774EBDA}"/>
              </a:ext>
            </a:extLst>
          </p:cNvPr>
          <p:cNvSpPr/>
          <p:nvPr/>
        </p:nvSpPr>
        <p:spPr>
          <a:xfrm>
            <a:off x="5565492" y="4021997"/>
            <a:ext cx="1218102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11">
            <a:extLst>
              <a:ext uri="{FF2B5EF4-FFF2-40B4-BE49-F238E27FC236}">
                <a16:creationId xmlns:a16="http://schemas.microsoft.com/office/drawing/2014/main" id="{4D989967-43BD-8C17-8E2F-7DF9CC136212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 rot="5400000">
            <a:off x="6851514" y="2866227"/>
            <a:ext cx="478800" cy="183274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Left Brace 46">
            <a:extLst>
              <a:ext uri="{FF2B5EF4-FFF2-40B4-BE49-F238E27FC236}">
                <a16:creationId xmlns:a16="http://schemas.microsoft.com/office/drawing/2014/main" id="{09637C80-A2DE-A228-7570-574100069113}"/>
              </a:ext>
            </a:extLst>
          </p:cNvPr>
          <p:cNvSpPr/>
          <p:nvPr/>
        </p:nvSpPr>
        <p:spPr>
          <a:xfrm>
            <a:off x="5133803" y="2351205"/>
            <a:ext cx="287313" cy="1716512"/>
          </a:xfrm>
          <a:prstGeom prst="leftBrace">
            <a:avLst>
              <a:gd name="adj1" fmla="val 55575"/>
              <a:gd name="adj2" fmla="val 49756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1523EB-DACC-1D02-C15D-4A654260F521}"/>
              </a:ext>
            </a:extLst>
          </p:cNvPr>
          <p:cNvSpPr txBox="1"/>
          <p:nvPr/>
        </p:nvSpPr>
        <p:spPr>
          <a:xfrm>
            <a:off x="779120" y="1993530"/>
            <a:ext cx="1218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клиент</a:t>
            </a:r>
            <a:endParaRPr lang="en-US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6E60F7D-F894-13F6-2368-A38C5CDBB3F8}"/>
              </a:ext>
            </a:extLst>
          </p:cNvPr>
          <p:cNvSpPr txBox="1"/>
          <p:nvPr/>
        </p:nvSpPr>
        <p:spPr>
          <a:xfrm>
            <a:off x="5526594" y="1993530"/>
            <a:ext cx="1218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клиент</a:t>
            </a:r>
            <a:endParaRPr lang="en-US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06EF4BD-B0A1-5E6E-D621-4C0B592FC993}"/>
              </a:ext>
            </a:extLst>
          </p:cNvPr>
          <p:cNvSpPr txBox="1"/>
          <p:nvPr/>
        </p:nvSpPr>
        <p:spPr>
          <a:xfrm>
            <a:off x="2815871" y="1993530"/>
            <a:ext cx="1058845" cy="369332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/>
            <a:r>
              <a:rPr lang="ru-RU" b="1" dirty="0"/>
              <a:t>сервер</a:t>
            </a:r>
            <a:endParaRPr lang="en-US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8EE2812-0D0C-4E65-3EAD-CE710480B26D}"/>
              </a:ext>
            </a:extLst>
          </p:cNvPr>
          <p:cNvSpPr txBox="1"/>
          <p:nvPr/>
        </p:nvSpPr>
        <p:spPr>
          <a:xfrm>
            <a:off x="7480878" y="1993530"/>
            <a:ext cx="1052810" cy="369332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/>
            <a:r>
              <a:rPr lang="ru-RU" b="1" dirty="0"/>
              <a:t>сервер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52531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E90CCD-9C58-2D7D-A3D9-3B55746FB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38E3107-4FF1-DC2D-D990-9C9ADD97F1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4"/>
            <a:ext cx="8541643" cy="3456781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i="0" dirty="0">
                <a:solidFill>
                  <a:schemeClr val="accent1">
                    <a:lumMod val="75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try</a:t>
            </a:r>
            <a:r>
              <a:rPr lang="en-US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(</a:t>
            </a:r>
            <a:r>
              <a:rPr lang="en-US" sz="1300" i="0" dirty="0">
                <a:solidFill>
                  <a:schemeClr val="accent2">
                    <a:lumMod val="75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Connection</a:t>
            </a:r>
            <a:r>
              <a:rPr lang="en-US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300" i="0" dirty="0"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con</a:t>
            </a:r>
            <a:r>
              <a:rPr lang="en-US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300" i="0" dirty="0"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= </a:t>
            </a:r>
            <a:r>
              <a:rPr lang="en-US" sz="1300" i="0" dirty="0" err="1">
                <a:solidFill>
                  <a:schemeClr val="accent2">
                    <a:lumMod val="75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DriverManager</a:t>
            </a:r>
            <a:r>
              <a:rPr lang="en-US" sz="1300" i="0" dirty="0" err="1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.getConnection</a:t>
            </a:r>
            <a:r>
              <a:rPr lang="en-US" sz="1300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endParaRPr lang="ru-RU" sz="1300" i="0" dirty="0">
              <a:solidFill>
                <a:srgbClr val="7030A0"/>
              </a:solidFill>
              <a:effectLst/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3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  </a:t>
            </a:r>
            <a:r>
              <a:rPr lang="en-US" sz="1300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"</a:t>
            </a:r>
            <a:r>
              <a:rPr lang="en-US" sz="1300" i="0" dirty="0" err="1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jdbc:mysql</a:t>
            </a:r>
            <a:r>
              <a:rPr lang="en-US" sz="1300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://localhost:3306/</a:t>
            </a:r>
            <a:r>
              <a:rPr lang="en-US" sz="1300" i="0" dirty="0" err="1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myDb</a:t>
            </a:r>
            <a:r>
              <a:rPr lang="en-US" sz="1300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"</a:t>
            </a:r>
            <a:r>
              <a:rPr lang="en-US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</a:t>
            </a:r>
            <a:r>
              <a:rPr lang="en-US" sz="1300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"user1"</a:t>
            </a:r>
            <a:r>
              <a:rPr lang="en-US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</a:t>
            </a:r>
            <a:r>
              <a:rPr lang="en-US" sz="1300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"pass"</a:t>
            </a:r>
            <a:r>
              <a:rPr lang="en-US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)) </a:t>
            </a:r>
            <a:endParaRPr lang="ru-RU" sz="1300" i="0" dirty="0">
              <a:solidFill>
                <a:srgbClr val="444444"/>
              </a:solidFill>
              <a:effectLst/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i="0" dirty="0">
                <a:solidFill>
                  <a:schemeClr val="accent1">
                    <a:lumMod val="75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try</a:t>
            </a:r>
            <a:r>
              <a:rPr lang="en-US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(</a:t>
            </a:r>
            <a:r>
              <a:rPr lang="en-US" sz="1300" i="0" dirty="0" err="1">
                <a:solidFill>
                  <a:schemeClr val="accent2">
                    <a:lumMod val="75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PreparedStatement</a:t>
            </a:r>
            <a:r>
              <a:rPr lang="en-US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300" i="0" dirty="0" err="1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pstmt</a:t>
            </a:r>
            <a:r>
              <a:rPr lang="en-US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</a:t>
            </a:r>
            <a:r>
              <a:rPr lang="en-US" sz="1300" i="0" dirty="0" err="1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con.prepareStatement</a:t>
            </a:r>
            <a:r>
              <a:rPr lang="en-US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br>
              <a:rPr lang="en-US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  </a:t>
            </a:r>
            <a:r>
              <a:rPr lang="en-US" sz="1300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"UPDATE employees SET position=</a:t>
            </a:r>
            <a:r>
              <a:rPr lang="en-US" sz="1300" i="0" dirty="0">
                <a:solidFill>
                  <a:srgbClr val="7030A0"/>
                </a:solidFill>
                <a:effectLst/>
                <a:highlight>
                  <a:srgbClr val="FFFF00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?</a:t>
            </a:r>
            <a:r>
              <a:rPr lang="en-US" sz="1300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WHERE </a:t>
            </a:r>
            <a:r>
              <a:rPr lang="en-US" sz="1300" i="0" dirty="0" err="1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emp_id</a:t>
            </a:r>
            <a:r>
              <a:rPr lang="en-US" sz="1300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=</a:t>
            </a:r>
            <a:r>
              <a:rPr lang="en-US" sz="1300" i="0" dirty="0">
                <a:solidFill>
                  <a:srgbClr val="7030A0"/>
                </a:solidFill>
                <a:effectLst/>
                <a:highlight>
                  <a:srgbClr val="FFFF00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?</a:t>
            </a:r>
            <a:r>
              <a:rPr lang="en-US" sz="13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;\n</a:t>
            </a:r>
            <a:r>
              <a:rPr lang="en-US" sz="1300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"+</a:t>
            </a:r>
            <a:br>
              <a:rPr lang="en-US" sz="1300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300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   SELECT * from employees where </a:t>
            </a:r>
            <a:r>
              <a:rPr lang="en-US" sz="1300" i="0" dirty="0" err="1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emp_id</a:t>
            </a:r>
            <a:r>
              <a:rPr lang="en-US" sz="1300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=</a:t>
            </a:r>
            <a:r>
              <a:rPr lang="en-US" sz="1300" i="0" dirty="0">
                <a:solidFill>
                  <a:srgbClr val="7030A0"/>
                </a:solidFill>
                <a:effectLst/>
                <a:highlight>
                  <a:srgbClr val="FFFF00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?</a:t>
            </a:r>
            <a:r>
              <a:rPr lang="en-US" sz="1300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"</a:t>
            </a:r>
            <a:r>
              <a:rPr lang="en-US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))</a:t>
            </a:r>
            <a:endParaRPr lang="ru-RU" sz="1300" i="0" dirty="0">
              <a:solidFill>
                <a:srgbClr val="444444"/>
              </a:solidFill>
              <a:effectLst/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300" b="0" i="0" dirty="0" err="1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pstmt.setString</a:t>
            </a:r>
            <a:r>
              <a:rPr lang="en-US" sz="1300" b="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en-US" sz="1300" b="0" i="0" dirty="0">
                <a:solidFill>
                  <a:schemeClr val="accent6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</a:t>
            </a:r>
            <a:r>
              <a:rPr lang="en-US" sz="1300" b="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</a:t>
            </a:r>
            <a:r>
              <a:rPr lang="en-US" sz="1300" b="0" i="0" dirty="0">
                <a:solidFill>
                  <a:srgbClr val="7030A0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"lead developer"</a:t>
            </a:r>
            <a:r>
              <a:rPr lang="en-US" sz="1300" b="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); </a:t>
            </a:r>
            <a:r>
              <a:rPr lang="en-US" sz="1300" b="0" i="0" dirty="0" err="1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pstmt.setInt</a:t>
            </a:r>
            <a:r>
              <a:rPr lang="en-US" sz="1300" b="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en-US" sz="1300" b="0" i="0" dirty="0">
                <a:solidFill>
                  <a:schemeClr val="accent6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2</a:t>
            </a:r>
            <a:r>
              <a:rPr lang="en-US" sz="1300" b="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</a:t>
            </a:r>
            <a:r>
              <a:rPr lang="en-US" sz="1300" b="0" i="0" dirty="0">
                <a:solidFill>
                  <a:schemeClr val="accent6">
                    <a:lumMod val="75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</a:t>
            </a:r>
            <a:r>
              <a:rPr lang="en-US" sz="1300" b="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); </a:t>
            </a:r>
            <a:r>
              <a:rPr lang="en-US" sz="1300" b="0" i="0" dirty="0" err="1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pstmt.setInt</a:t>
            </a:r>
            <a:r>
              <a:rPr lang="en-US" sz="1300" b="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3</a:t>
            </a:r>
            <a:r>
              <a:rPr lang="en-US" sz="1300" b="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</a:t>
            </a:r>
            <a:r>
              <a:rPr lang="en-US" sz="1300" b="0" i="0" dirty="0">
                <a:solidFill>
                  <a:schemeClr val="accent6">
                    <a:lumMod val="75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</a:t>
            </a:r>
            <a:r>
              <a:rPr lang="en-US" sz="1300" b="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);</a:t>
            </a:r>
            <a:br>
              <a:rPr lang="en-US" sz="1300" b="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300" b="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3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/* </a:t>
            </a:r>
            <a:r>
              <a:rPr lang="en-US" sz="13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boolean</a:t>
            </a:r>
            <a:r>
              <a:rPr lang="en-US" sz="13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hasResults1 = */</a:t>
            </a:r>
            <a:r>
              <a:rPr lang="en-US" sz="1300" b="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300" b="0" i="0" dirty="0" err="1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pstmt.execute</a:t>
            </a:r>
            <a:r>
              <a:rPr lang="en-US" sz="1300" b="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300" dirty="0">
                <a:solidFill>
                  <a:schemeClr val="accent2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int</a:t>
            </a:r>
            <a:r>
              <a:rPr lang="en-US" sz="1300" dirty="0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300" dirty="0" err="1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rowsAffected</a:t>
            </a:r>
            <a:r>
              <a:rPr lang="en-US" sz="1300" dirty="0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</a:t>
            </a:r>
            <a:r>
              <a:rPr lang="en-US" sz="1300" dirty="0" err="1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pstmt.getUpdateCount</a:t>
            </a:r>
            <a:r>
              <a:rPr lang="en-US" sz="1300" dirty="0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3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/* </a:t>
            </a:r>
            <a:r>
              <a:rPr lang="en-US" sz="1300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boolean</a:t>
            </a:r>
            <a:r>
              <a:rPr lang="en-US" sz="13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hasResults2 = */</a:t>
            </a:r>
            <a:r>
              <a:rPr lang="en-US" sz="1300" b="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300" b="0" i="0" dirty="0" err="1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pstmt.getMoreResults</a:t>
            </a:r>
            <a:r>
              <a:rPr lang="en-US" sz="1300" b="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i="0" dirty="0">
                <a:solidFill>
                  <a:schemeClr val="accent2">
                    <a:lumMod val="75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300" i="0" dirty="0" err="1">
                <a:solidFill>
                  <a:schemeClr val="accent2">
                    <a:lumMod val="75000"/>
                  </a:schemeClr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ResultSet</a:t>
            </a:r>
            <a:r>
              <a:rPr lang="en-US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300" i="0" dirty="0" err="1"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resultSet</a:t>
            </a:r>
            <a:r>
              <a:rPr lang="en-US" sz="1300" i="0" dirty="0"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</a:t>
            </a:r>
            <a:r>
              <a:rPr lang="ru-RU" sz="1300" dirty="0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300" i="0" dirty="0" err="1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stmt.getResultSet</a:t>
            </a:r>
            <a:r>
              <a:rPr lang="en-US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(); </a:t>
            </a:r>
            <a:r>
              <a:rPr lang="en-US" sz="1300" i="0" dirty="0" err="1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resultSet</a:t>
            </a:r>
            <a:r>
              <a:rPr lang="en-US" sz="1300" dirty="0" err="1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.next</a:t>
            </a:r>
            <a:r>
              <a:rPr lang="en-US" sz="1300" dirty="0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();</a:t>
            </a:r>
            <a:br>
              <a:rPr lang="en-US" sz="1300" dirty="0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300" dirty="0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Employee emp = </a:t>
            </a:r>
            <a:r>
              <a:rPr lang="en-US" sz="1300" dirty="0" err="1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this.getEmployee</a:t>
            </a:r>
            <a:r>
              <a:rPr lang="en-US" sz="1300" dirty="0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en-US" sz="1300" dirty="0" err="1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resultSet</a:t>
            </a:r>
            <a:r>
              <a:rPr lang="en-US" sz="1300" dirty="0">
                <a:solidFill>
                  <a:srgbClr val="44444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);</a:t>
            </a:r>
            <a:endParaRPr lang="en-US" sz="1300" i="0" dirty="0">
              <a:solidFill>
                <a:srgbClr val="444444"/>
              </a:solidFill>
              <a:effectLst/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i="0" dirty="0">
                <a:solidFill>
                  <a:srgbClr val="444444"/>
                </a:solidFill>
                <a:effectLst/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}</a:t>
            </a:r>
            <a:endParaRPr lang="en-US" sz="1300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9276587-1522-6A85-0C04-56207E0B7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Исполнение групповых операций</a:t>
            </a:r>
            <a:r>
              <a:rPr lang="en-US" dirty="0"/>
              <a:t>: </a:t>
            </a:r>
            <a:r>
              <a:rPr lang="ru-RU" dirty="0"/>
              <a:t>реализация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951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8233BF-D3E8-114B-239F-A6EA1F811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CA47DB-D7A4-BF9A-7876-5BC22846CD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SQL/PSM – </a:t>
            </a:r>
            <a:r>
              <a:rPr lang="ru-RU" dirty="0"/>
              <a:t>часть стандарта </a:t>
            </a:r>
            <a:r>
              <a:rPr lang="en-US" dirty="0"/>
              <a:t>SQL (</a:t>
            </a:r>
            <a:r>
              <a:rPr lang="ru-RU" dirty="0"/>
              <a:t>начиная с </a:t>
            </a:r>
            <a:r>
              <a:rPr lang="en-US" dirty="0"/>
              <a:t>SQL-99)</a:t>
            </a:r>
          </a:p>
          <a:p>
            <a:r>
              <a:rPr lang="ru-RU" dirty="0"/>
              <a:t>Дополняет язык </a:t>
            </a:r>
            <a:r>
              <a:rPr lang="en-US" dirty="0"/>
              <a:t>SQL </a:t>
            </a:r>
            <a:r>
              <a:rPr lang="ru-RU" dirty="0"/>
              <a:t>набором императивных инструкций:</a:t>
            </a:r>
          </a:p>
          <a:p>
            <a:pPr lvl="1"/>
            <a:r>
              <a:rPr lang="ru-RU" dirty="0"/>
              <a:t>Декларации и манипуляции с переменными</a:t>
            </a:r>
          </a:p>
          <a:p>
            <a:pPr lvl="1"/>
            <a:r>
              <a:rPr lang="ru-RU" dirty="0"/>
              <a:t>Курсоры</a:t>
            </a:r>
          </a:p>
          <a:p>
            <a:pPr lvl="1"/>
            <a:r>
              <a:rPr lang="ru-RU" dirty="0"/>
              <a:t>Инструкции управления исполнением </a:t>
            </a:r>
          </a:p>
          <a:p>
            <a:pPr lvl="1"/>
            <a:r>
              <a:rPr lang="ru-RU" dirty="0"/>
              <a:t>Инструкции обработки ошибок</a:t>
            </a:r>
          </a:p>
          <a:p>
            <a:r>
              <a:rPr lang="ru-RU" dirty="0"/>
              <a:t>Недостатки? </a:t>
            </a:r>
            <a:endParaRPr lang="en-US" dirty="0"/>
          </a:p>
          <a:p>
            <a:pPr lvl="1">
              <a:buClr>
                <a:srgbClr val="C00000"/>
              </a:buClr>
              <a:buFont typeface="Acrom" panose="020B0604020202020204" charset="-52"/>
              <a:buChar char="▬"/>
            </a:pPr>
            <a:r>
              <a:rPr lang="ru-RU" dirty="0"/>
              <a:t>Почти не встречается в природе</a:t>
            </a:r>
            <a:br>
              <a:rPr lang="ru-RU" dirty="0"/>
            </a:br>
            <a:r>
              <a:rPr lang="ru-RU" dirty="0"/>
              <a:t>Исключения: </a:t>
            </a:r>
            <a:r>
              <a:rPr lang="en-US" dirty="0"/>
              <a:t>DB2, PostgreSQL (PL/</a:t>
            </a:r>
            <a:r>
              <a:rPr lang="en-US" dirty="0" err="1"/>
              <a:t>pgPSM</a:t>
            </a:r>
            <a:r>
              <a:rPr lang="en-US" dirty="0"/>
              <a:t>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C7EA90D-992F-717F-C6C5-80788EADE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Императивное программирование внутри СУБД: </a:t>
            </a:r>
            <a:r>
              <a:rPr lang="en-US" dirty="0"/>
              <a:t>SQL/PSM</a:t>
            </a:r>
          </a:p>
        </p:txBody>
      </p:sp>
    </p:spTree>
    <p:extLst>
      <p:ext uri="{BB962C8B-B14F-4D97-AF65-F5344CB8AC3E}">
        <p14:creationId xmlns:p14="http://schemas.microsoft.com/office/powerpoint/2010/main" val="1373899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11F415-1284-A1E8-7DA1-08FA49FD3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1F66C-F777-505B-7BC0-F2E48F858F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BEGIN ATOMIC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DECLARE 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v1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SMALLINT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       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/* variable-declaration */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v1 =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50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	                     /* assignment statement */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DECLARE 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CURSOR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FOR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SELECT 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column_1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FROM 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Table_1;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/* Cursor-declaration */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OPEN 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cc;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                   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/* statement */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FETCH 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INTO 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v1;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          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/* statement */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CLOSE 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cc;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                  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/* statement */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INSERT INTO 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Table_2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VALUES 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(v1);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/* statement */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END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ACF929F-B7DF-8E6D-9911-845624CDB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SQL/PSM: </a:t>
            </a:r>
            <a:r>
              <a:rPr lang="ru-RU" dirty="0"/>
              <a:t>Переменные и курсоры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078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731D0-AE4D-872A-3429-099AF7D4C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434366-4925-5B6C-47D5-5EF392925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EEFD47-853B-6F35-727E-E6A9FDDEC0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CASE </a:t>
            </a:r>
            <a:r>
              <a:rPr lang="en-US" dirty="0">
                <a:latin typeface="+mn-lt"/>
                <a:cs typeface="Cascadia Mono SemiLight" panose="020B0609020000020004" pitchFamily="49" charset="0"/>
              </a:rPr>
              <a:t>– </a:t>
            </a:r>
            <a:r>
              <a:rPr lang="ru-RU" dirty="0">
                <a:latin typeface="+mn-lt"/>
                <a:cs typeface="Cascadia Mono SemiLight" panose="020B0609020000020004" pitchFamily="49" charset="0"/>
              </a:rPr>
              <a:t>множественный выбор 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switch</a:t>
            </a:r>
            <a:r>
              <a:rPr lang="en-US" dirty="0">
                <a:latin typeface="+mn-lt"/>
                <a:cs typeface="Cascadia Mono SemiLight" panose="020B06090200000200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IF </a:t>
            </a:r>
            <a:r>
              <a:rPr lang="en-US" dirty="0">
                <a:latin typeface="+mn-lt"/>
                <a:cs typeface="Cascadia Mono SemiLight" panose="020B0609020000020004" pitchFamily="49" charset="0"/>
              </a:rPr>
              <a:t>– </a:t>
            </a:r>
            <a:r>
              <a:rPr lang="ru-RU" dirty="0">
                <a:latin typeface="+mn-lt"/>
                <a:cs typeface="Cascadia Mono SemiLight" panose="020B0609020000020004" pitchFamily="49" charset="0"/>
              </a:rPr>
              <a:t>условное исполнение</a:t>
            </a:r>
            <a:r>
              <a:rPr lang="en-US" dirty="0">
                <a:latin typeface="+mn-lt"/>
                <a:cs typeface="Cascadia Mono SemiLight" panose="020B0609020000020004" pitchFamily="49" charset="0"/>
              </a:rPr>
              <a:t> 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if</a:t>
            </a:r>
            <a:r>
              <a:rPr lang="en-US" dirty="0">
                <a:latin typeface="+mn-lt"/>
                <a:cs typeface="Cascadia Mono SemiLight" panose="020B0609020000020004" pitchFamily="49" charset="0"/>
              </a:rPr>
              <a:t>)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ITERATE </a:t>
            </a:r>
            <a:r>
              <a:rPr lang="en-US" dirty="0">
                <a:latin typeface="+mn-lt"/>
                <a:cs typeface="Cascadia Mono SemiLight" panose="020B0609020000020004" pitchFamily="49" charset="0"/>
              </a:rPr>
              <a:t>– </a:t>
            </a:r>
            <a:r>
              <a:rPr lang="ru-RU" dirty="0">
                <a:latin typeface="+mn-lt"/>
                <a:cs typeface="Cascadia Mono SemiLight" panose="020B0609020000020004" pitchFamily="49" charset="0"/>
              </a:rPr>
              <a:t>переход к следующей итерации 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continue</a:t>
            </a:r>
            <a:r>
              <a:rPr lang="ru-RU" dirty="0">
                <a:latin typeface="+mn-lt"/>
                <a:cs typeface="Cascadia Mono SemiLight" panose="020B0609020000020004" pitchFamily="49" charset="0"/>
              </a:rPr>
              <a:t>)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LOOP </a:t>
            </a:r>
            <a:r>
              <a:rPr lang="en-US" dirty="0">
                <a:latin typeface="+mn-lt"/>
                <a:cs typeface="Cascadia Mono SemiLight" panose="020B0609020000020004" pitchFamily="49" charset="0"/>
              </a:rPr>
              <a:t>– </a:t>
            </a:r>
            <a:r>
              <a:rPr lang="ru-RU" dirty="0">
                <a:latin typeface="+mn-lt"/>
                <a:cs typeface="Cascadia Mono SemiLight" panose="020B0609020000020004" pitchFamily="49" charset="0"/>
              </a:rPr>
              <a:t>циклическое исполнение (-)</a:t>
            </a:r>
            <a:endParaRPr lang="en-US" dirty="0">
              <a:latin typeface="+mn-lt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LEAVE </a:t>
            </a:r>
            <a:r>
              <a:rPr lang="en-US" dirty="0">
                <a:latin typeface="+mn-lt"/>
                <a:cs typeface="Cascadia Mono SemiLight" panose="020B0609020000020004" pitchFamily="49" charset="0"/>
              </a:rPr>
              <a:t>– </a:t>
            </a:r>
            <a:r>
              <a:rPr lang="ru-RU" dirty="0">
                <a:latin typeface="+mn-lt"/>
                <a:cs typeface="Cascadia Mono SemiLight" panose="020B0609020000020004" pitchFamily="49" charset="0"/>
              </a:rPr>
              <a:t>выход из цикла или блока 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break</a:t>
            </a:r>
            <a:r>
              <a:rPr lang="ru-RU" dirty="0">
                <a:latin typeface="+mn-lt"/>
                <a:cs typeface="Cascadia Mono SemiLight" panose="020B0609020000020004" pitchFamily="49" charset="0"/>
              </a:rPr>
              <a:t>)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WHILE </a:t>
            </a:r>
            <a:r>
              <a:rPr lang="en-US" dirty="0">
                <a:latin typeface="+mn-lt"/>
                <a:cs typeface="Cascadia Mono SemiLight" panose="020B0609020000020004" pitchFamily="49" charset="0"/>
              </a:rPr>
              <a:t>– </a:t>
            </a:r>
            <a:r>
              <a:rPr lang="ru-RU" dirty="0">
                <a:latin typeface="+mn-lt"/>
                <a:cs typeface="Cascadia Mono SemiLight" panose="020B0609020000020004" pitchFamily="49" charset="0"/>
              </a:rPr>
              <a:t>условный цикл с проверкой в начале 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while</a:t>
            </a:r>
            <a:r>
              <a:rPr lang="ru-RU" dirty="0">
                <a:latin typeface="+mn-lt"/>
                <a:cs typeface="Cascadia Mono SemiLight" panose="020B0609020000020004" pitchFamily="49" charset="0"/>
              </a:rPr>
              <a:t>)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REPEAT </a:t>
            </a:r>
            <a:r>
              <a:rPr lang="en-US" dirty="0">
                <a:latin typeface="+mn-lt"/>
                <a:cs typeface="Cascadia Mono SemiLight" panose="020B0609020000020004" pitchFamily="49" charset="0"/>
              </a:rPr>
              <a:t>– </a:t>
            </a:r>
            <a:r>
              <a:rPr lang="ru-RU" dirty="0">
                <a:latin typeface="+mn-lt"/>
                <a:cs typeface="Cascadia Mono SemiLight" panose="020B0609020000020004" pitchFamily="49" charset="0"/>
              </a:rPr>
              <a:t>условный цикл с проверкой в конце 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do</a:t>
            </a:r>
            <a:r>
              <a:rPr lang="ru-RU" dirty="0">
                <a:latin typeface="+mn-lt"/>
                <a:cs typeface="Cascadia Mono SemiLight" panose="020B0609020000020004" pitchFamily="49" charset="0"/>
              </a:rPr>
              <a:t>)</a:t>
            </a:r>
            <a:endParaRPr lang="ru-RU" dirty="0">
              <a:solidFill>
                <a:schemeClr val="accent1">
                  <a:lumMod val="75000"/>
                </a:schemeClr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FOR </a:t>
            </a:r>
            <a:r>
              <a:rPr lang="en-US" dirty="0">
                <a:latin typeface="+mn-lt"/>
                <a:cs typeface="Cascadia Mono SemiLight" panose="020B0609020000020004" pitchFamily="49" charset="0"/>
              </a:rPr>
              <a:t>– </a:t>
            </a:r>
            <a:r>
              <a:rPr lang="ru-RU" dirty="0">
                <a:latin typeface="+mn-lt"/>
                <a:cs typeface="Cascadia Mono SemiLight" panose="020B0609020000020004" pitchFamily="49" charset="0"/>
              </a:rPr>
              <a:t>цикл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FETCH</a:t>
            </a:r>
            <a:r>
              <a:rPr lang="ru-RU" dirty="0">
                <a:latin typeface="+mn-lt"/>
                <a:cs typeface="Cascadia Mono SemiLight" panose="020B0609020000020004" pitchFamily="49" charset="0"/>
              </a:rPr>
              <a:t>, перебирающий курсор 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foreach</a:t>
            </a:r>
            <a:r>
              <a:rPr lang="ru-RU" dirty="0">
                <a:latin typeface="+mn-lt"/>
                <a:cs typeface="Cascadia Mono SemiLight" panose="020B0609020000020004" pitchFamily="49" charset="0"/>
              </a:rPr>
              <a:t>)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83675B-5804-2C91-FADC-8923968EA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SQL/PSM: </a:t>
            </a:r>
            <a:r>
              <a:rPr lang="ru-RU" dirty="0"/>
              <a:t>Управляющие конструкции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055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11F415-1284-A1E8-7DA1-08FA49FD3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1F66C-F777-505B-7BC0-F2E48F858F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BEGIN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DECLARE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constraint_error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CONDITION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FOR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'23000'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/* condition declaration */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DECLARE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v1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CHAR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5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DEFAULT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'Okay!'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           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/* variable declaration */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DECLARE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CONTINUE HANDLER FOR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'22003'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     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/* handler declaration */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v1 = </a:t>
            </a:r>
            <a:r>
              <a:rPr lang="en-US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en-US" dirty="0" err="1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Ovflw</a:t>
            </a:r>
            <a:r>
              <a:rPr lang="en-US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DECLARE CONTINUE HANDLER FOR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constraint_error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/* handler declaration */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v1 = </a:t>
            </a:r>
            <a:r>
              <a:rPr lang="en-US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'c-err'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DECLARE CONTINUE HANDLER FOR SQLWARNING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  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/* handler declaration */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v1 = </a:t>
            </a:r>
            <a:r>
              <a:rPr lang="en-US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'?????'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INSERT INTO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Table_1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VALUES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99999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);           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/* statement */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INSERT INTO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Table_2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VALUES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(v1);              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/* statement */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END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ACF929F-B7DF-8E6D-9911-845624CDB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SQL/PSM: </a:t>
            </a:r>
            <a:r>
              <a:rPr lang="ru-RU" dirty="0"/>
              <a:t>сигналы и обработчики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11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788F52-700E-8C73-7A9A-ADC9F3679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359DB-9BF5-CDE7-30B1-2536232C32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4"/>
            <a:ext cx="8541643" cy="32628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GRANT</a:t>
            </a:r>
            <a:r>
              <a:rPr lang="en-US" sz="1600" dirty="0">
                <a:latin typeface="Consolas" panose="020B0609020204030204" pitchFamily="49" charset="0"/>
              </a:rPr>
              <a:t> {&lt;action&gt; [, …]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ON</a:t>
            </a:r>
            <a:r>
              <a:rPr lang="en-US" sz="1600" dirty="0">
                <a:latin typeface="Consolas" panose="020B0609020204030204" pitchFamily="49" charset="0"/>
              </a:rPr>
              <a:t> &lt;object&gt;} [, …]</a:t>
            </a:r>
            <a:r>
              <a:rPr lang="en-US" sz="1600" i="1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TO</a:t>
            </a:r>
            <a:r>
              <a:rPr lang="en-US" sz="1600" dirty="0">
                <a:latin typeface="Consolas" panose="020B0609020204030204" pitchFamily="49" charset="0"/>
              </a:rPr>
              <a:t> &lt;grantee&gt; [, …]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  [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WITH GRANT OPTION</a:t>
            </a:r>
            <a:r>
              <a:rPr lang="en-US" sz="1600" dirty="0">
                <a:latin typeface="Consolas" panose="020B0609020204030204" pitchFamily="49" charset="0"/>
              </a:rPr>
              <a:t>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GRANT</a:t>
            </a:r>
            <a:r>
              <a:rPr lang="en-US" sz="1600" dirty="0">
                <a:latin typeface="Consolas" panose="020B0609020204030204" pitchFamily="49" charset="0"/>
              </a:rPr>
              <a:t> &lt;role&gt; [, …]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TO</a:t>
            </a:r>
            <a:r>
              <a:rPr lang="en-US" sz="1600" dirty="0">
                <a:latin typeface="Consolas" panose="020B0609020204030204" pitchFamily="49" charset="0"/>
              </a:rPr>
              <a:t> &lt;grantee&gt; [, …] [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WITH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ADMIN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OPTION</a:t>
            </a:r>
            <a:r>
              <a:rPr lang="en-US" sz="1600" dirty="0">
                <a:latin typeface="Consolas" panose="020B0609020204030204" pitchFamily="49" charset="0"/>
              </a:rPr>
              <a:t> 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REVOKE</a:t>
            </a:r>
            <a:r>
              <a:rPr lang="en-US" sz="1600" dirty="0">
                <a:latin typeface="Consolas" panose="020B0609020204030204" pitchFamily="49" charset="0"/>
              </a:rPr>
              <a:t> {&lt;action&gt; [, …]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ON</a:t>
            </a:r>
            <a:r>
              <a:rPr lang="en-US" sz="1600" dirty="0">
                <a:latin typeface="Consolas" panose="020B0609020204030204" pitchFamily="49" charset="0"/>
              </a:rPr>
              <a:t> &lt;object&gt;}</a:t>
            </a:r>
            <a:r>
              <a:rPr lang="en-US" sz="1600" i="1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</a:rPr>
              <a:t>[, …]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sz="1600" dirty="0">
                <a:latin typeface="Consolas" panose="020B0609020204030204" pitchFamily="49" charset="0"/>
              </a:rPr>
              <a:t> &lt;grantee&gt; [, …] 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  {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RESTRICT</a:t>
            </a:r>
            <a:r>
              <a:rPr lang="en-US" sz="1600" dirty="0">
                <a:latin typeface="Consolas" panose="020B0609020204030204" pitchFamily="49" charset="0"/>
              </a:rPr>
              <a:t> |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CASCADE</a:t>
            </a:r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REVOKE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GRANT</a:t>
            </a:r>
            <a:r>
              <a:rPr lang="en-US" sz="1600" dirty="0">
                <a:solidFill>
                  <a:schemeClr val="accent4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OPTION</a:t>
            </a:r>
            <a:r>
              <a:rPr lang="en-US" sz="1600" dirty="0">
                <a:solidFill>
                  <a:schemeClr val="accent4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latin typeface="Consolas" panose="020B0609020204030204" pitchFamily="49" charset="0"/>
              </a:rPr>
              <a:t> &lt;action&gt;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ON</a:t>
            </a:r>
            <a:r>
              <a:rPr lang="en-US" sz="1600" dirty="0">
                <a:latin typeface="Consolas" panose="020B0609020204030204" pitchFamily="49" charset="0"/>
              </a:rPr>
              <a:t> &lt;object</a:t>
            </a:r>
            <a:r>
              <a:rPr lang="en-US" sz="1600" i="1" dirty="0">
                <a:latin typeface="Consolas" panose="020B0609020204030204" pitchFamily="49" charset="0"/>
              </a:rPr>
              <a:t>&gt;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sz="1600" dirty="0">
                <a:latin typeface="Consolas" panose="020B0609020204030204" pitchFamily="49" charset="0"/>
              </a:rPr>
              <a:t> &lt;grantee&gt; [, …] 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  {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RESTRICT</a:t>
            </a:r>
            <a:r>
              <a:rPr lang="en-US" sz="1600" dirty="0">
                <a:latin typeface="Consolas" panose="020B0609020204030204" pitchFamily="49" charset="0"/>
              </a:rPr>
              <a:t> |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CASCADE</a:t>
            </a:r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REVOKE</a:t>
            </a:r>
            <a:r>
              <a:rPr lang="en-US" sz="1600" dirty="0">
                <a:latin typeface="Consolas" panose="020B0609020204030204" pitchFamily="49" charset="0"/>
              </a:rPr>
              <a:t> &lt;role&gt; [, …]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sz="1600" dirty="0">
                <a:latin typeface="Consolas" panose="020B0609020204030204" pitchFamily="49" charset="0"/>
              </a:rPr>
              <a:t> &lt;grantee&gt; [, …] {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RESTRICT</a:t>
            </a:r>
            <a:r>
              <a:rPr lang="en-US" sz="1600" dirty="0">
                <a:latin typeface="Consolas" panose="020B0609020204030204" pitchFamily="49" charset="0"/>
              </a:rPr>
              <a:t> |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CASCADE</a:t>
            </a:r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REVOKE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ADMIN OPTION</a:t>
            </a:r>
            <a:r>
              <a:rPr lang="en-US" sz="1600" dirty="0">
                <a:solidFill>
                  <a:schemeClr val="accent4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latin typeface="Consolas" panose="020B0609020204030204" pitchFamily="49" charset="0"/>
              </a:rPr>
              <a:t> &lt;role&gt;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sz="1600" dirty="0">
                <a:latin typeface="Consolas" panose="020B0609020204030204" pitchFamily="49" charset="0"/>
              </a:rPr>
              <a:t> &lt;grantee&gt; [, …] {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RESTRICT</a:t>
            </a:r>
            <a:r>
              <a:rPr lang="en-US" sz="1600" dirty="0">
                <a:latin typeface="Consolas" panose="020B0609020204030204" pitchFamily="49" charset="0"/>
              </a:rPr>
              <a:t> |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CASCADE</a:t>
            </a:r>
            <a:r>
              <a:rPr lang="en-US" sz="1600" dirty="0">
                <a:latin typeface="Consolas" panose="020B0609020204030204" pitchFamily="49" charset="0"/>
              </a:rPr>
              <a:t>}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-- non-standard extensions:</a:t>
            </a:r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DENY</a:t>
            </a:r>
            <a:r>
              <a:rPr lang="en-US" sz="1600" dirty="0">
                <a:latin typeface="Consolas" panose="020B0609020204030204" pitchFamily="49" charset="0"/>
              </a:rPr>
              <a:t> {&lt;action&gt; [, …]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ON</a:t>
            </a:r>
            <a:r>
              <a:rPr lang="en-US" sz="1600" dirty="0">
                <a:latin typeface="Consolas" panose="020B0609020204030204" pitchFamily="49" charset="0"/>
              </a:rPr>
              <a:t> &lt;object&gt;} [, …]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sz="1600" dirty="0">
                <a:latin typeface="Consolas" panose="020B0609020204030204" pitchFamily="49" charset="0"/>
              </a:rPr>
              <a:t> &lt;grantee&gt;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31E885A-3762-1396-D14D-CB488948F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Привилегии в </a:t>
            </a:r>
            <a:r>
              <a:rPr lang="en-US" dirty="0"/>
              <a:t>SQL</a:t>
            </a:r>
          </a:p>
        </p:txBody>
      </p:sp>
    </p:spTree>
    <p:extLst>
      <p:ext uri="{BB962C8B-B14F-4D97-AF65-F5344CB8AC3E}">
        <p14:creationId xmlns:p14="http://schemas.microsoft.com/office/powerpoint/2010/main" val="1757862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8C6D23-FC3F-410D-D715-350DA3B43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9662F4-6E50-6D3D-A72F-B30325A97B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5122E5-1037-54AD-E599-0D7DF5215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Привилегии в </a:t>
            </a:r>
            <a:r>
              <a:rPr lang="en-US" dirty="0"/>
              <a:t>SQL: </a:t>
            </a:r>
            <a:r>
              <a:rPr lang="ru-RU" dirty="0"/>
              <a:t>объекты и действия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75B7E0-03CC-9BAC-7B23-3FADD8E7D7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3323506"/>
              </p:ext>
            </p:extLst>
          </p:nvPr>
        </p:nvGraphicFramePr>
        <p:xfrm>
          <a:off x="349202" y="1419225"/>
          <a:ext cx="8541644" cy="32080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74526">
                  <a:extLst>
                    <a:ext uri="{9D8B030D-6E8A-4147-A177-3AD203B41FA5}">
                      <a16:colId xmlns:a16="http://schemas.microsoft.com/office/drawing/2014/main" val="3468893590"/>
                    </a:ext>
                  </a:extLst>
                </a:gridCol>
                <a:gridCol w="6767118">
                  <a:extLst>
                    <a:ext uri="{9D8B030D-6E8A-4147-A177-3AD203B41FA5}">
                      <a16:colId xmlns:a16="http://schemas.microsoft.com/office/drawing/2014/main" val="1139254052"/>
                    </a:ext>
                  </a:extLst>
                </a:gridCol>
              </a:tblGrid>
              <a:tr h="250268"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</a:rPr>
                        <a:t>Объект</a:t>
                      </a:r>
                      <a:endParaRPr lang="en-US" dirty="0">
                        <a:effectLst/>
                      </a:endParaRP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</a:rPr>
                        <a:t>Действия</a:t>
                      </a:r>
                      <a:endParaRPr lang="en-US" dirty="0">
                        <a:effectLst/>
                      </a:endParaRPr>
                    </a:p>
                  </a:txBody>
                  <a:tcPr marL="47625" marR="76200" marT="9525" marB="9525" anchor="ctr"/>
                </a:tc>
                <a:extLst>
                  <a:ext uri="{0D108BD9-81ED-4DB2-BD59-A6C34878D82A}">
                    <a16:rowId xmlns:a16="http://schemas.microsoft.com/office/drawing/2014/main" val="634111781"/>
                  </a:ext>
                </a:extLst>
              </a:tr>
              <a:tr h="484286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Base table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Cascadia Mono SemiLight" panose="020B0609020000020004" pitchFamily="49" charset="0"/>
                          <a:cs typeface="Cascadia Mono SemiLight" panose="020B0609020000020004" pitchFamily="49" charset="0"/>
                        </a:rPr>
                        <a:t>SELECT, INSERT, UPDATE, DELETE, TRIGGER,</a:t>
                      </a:r>
                      <a:r>
                        <a:rPr lang="ru-RU" dirty="0">
                          <a:effectLst/>
                          <a:latin typeface="Cascadia Mono SemiLight" panose="020B0609020000020004" pitchFamily="49" charset="0"/>
                          <a:cs typeface="Cascadia Mono SemiLight" panose="020B0609020000020004" pitchFamily="49" charset="0"/>
                        </a:rPr>
                        <a:t> </a:t>
                      </a:r>
                      <a:r>
                        <a:rPr lang="en-US" dirty="0">
                          <a:effectLst/>
                          <a:latin typeface="Cascadia Mono SemiLight" panose="020B0609020000020004" pitchFamily="49" charset="0"/>
                          <a:cs typeface="Cascadia Mono SemiLight" panose="020B0609020000020004" pitchFamily="49" charset="0"/>
                        </a:rPr>
                        <a:t>REFERENCES</a:t>
                      </a:r>
                    </a:p>
                  </a:txBody>
                  <a:tcPr marL="47625" marR="76200" marT="9525" marB="9525" anchor="ctr"/>
                </a:tc>
                <a:extLst>
                  <a:ext uri="{0D108BD9-81ED-4DB2-BD59-A6C34878D82A}">
                    <a16:rowId xmlns:a16="http://schemas.microsoft.com/office/drawing/2014/main" val="1837711112"/>
                  </a:ext>
                </a:extLst>
              </a:tr>
              <a:tr h="250268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View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Cascadia Mono SemiLight" panose="020B0609020000020004" pitchFamily="49" charset="0"/>
                          <a:cs typeface="Cascadia Mono SemiLight" panose="020B0609020000020004" pitchFamily="49" charset="0"/>
                        </a:rPr>
                        <a:t>SELECT, INSERT, UPDATE, DELETE, REFERENCES</a:t>
                      </a:r>
                    </a:p>
                  </a:txBody>
                  <a:tcPr marL="47625" marR="76200" marT="9525" marB="9525" anchor="ctr"/>
                </a:tc>
                <a:extLst>
                  <a:ext uri="{0D108BD9-81ED-4DB2-BD59-A6C34878D82A}">
                    <a16:rowId xmlns:a16="http://schemas.microsoft.com/office/drawing/2014/main" val="1432860987"/>
                  </a:ext>
                </a:extLst>
              </a:tr>
              <a:tr h="250268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Column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Cascadia Mono SemiLight" panose="020B0609020000020004" pitchFamily="49" charset="0"/>
                          <a:cs typeface="Cascadia Mono SemiLight" panose="020B0609020000020004" pitchFamily="49" charset="0"/>
                        </a:rPr>
                        <a:t>SELECT, INSERT, UPDATE, REFERENCES</a:t>
                      </a:r>
                    </a:p>
                  </a:txBody>
                  <a:tcPr marL="47625" marR="76200" marT="9525" marB="9525" anchor="ctr"/>
                </a:tc>
                <a:extLst>
                  <a:ext uri="{0D108BD9-81ED-4DB2-BD59-A6C34878D82A}">
                    <a16:rowId xmlns:a16="http://schemas.microsoft.com/office/drawing/2014/main" val="303752722"/>
                  </a:ext>
                </a:extLst>
              </a:tr>
              <a:tr h="250268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Procedure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Cascadia Mono SemiLight" panose="020B0609020000020004" pitchFamily="49" charset="0"/>
                          <a:cs typeface="Cascadia Mono SemiLight" panose="020B0609020000020004" pitchFamily="49" charset="0"/>
                        </a:rPr>
                        <a:t>EXECUTE</a:t>
                      </a:r>
                    </a:p>
                  </a:txBody>
                  <a:tcPr marL="47625" marR="76200" marT="9525" marB="9525" anchor="ctr"/>
                </a:tc>
                <a:extLst>
                  <a:ext uri="{0D108BD9-81ED-4DB2-BD59-A6C34878D82A}">
                    <a16:rowId xmlns:a16="http://schemas.microsoft.com/office/drawing/2014/main" val="2418000880"/>
                  </a:ext>
                </a:extLst>
              </a:tr>
              <a:tr h="250268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Domain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Cascadia Mono SemiLight" panose="020B0609020000020004" pitchFamily="49" charset="0"/>
                          <a:cs typeface="Cascadia Mono SemiLight" panose="020B0609020000020004" pitchFamily="49" charset="0"/>
                        </a:rPr>
                        <a:t>USAGE</a:t>
                      </a:r>
                    </a:p>
                  </a:txBody>
                  <a:tcPr marL="47625" marR="76200" marT="9525" marB="9525" anchor="ctr"/>
                </a:tc>
                <a:extLst>
                  <a:ext uri="{0D108BD9-81ED-4DB2-BD59-A6C34878D82A}">
                    <a16:rowId xmlns:a16="http://schemas.microsoft.com/office/drawing/2014/main" val="3738992606"/>
                  </a:ext>
                </a:extLst>
              </a:tr>
              <a:tr h="250268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Character Set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Cascadia Mono SemiLight" panose="020B0609020000020004" pitchFamily="49" charset="0"/>
                          <a:cs typeface="Cascadia Mono SemiLight" panose="020B0609020000020004" pitchFamily="49" charset="0"/>
                        </a:rPr>
                        <a:t>USAGE</a:t>
                      </a:r>
                    </a:p>
                  </a:txBody>
                  <a:tcPr marL="47625" marR="76200" marT="9525" marB="9525" anchor="ctr"/>
                </a:tc>
                <a:extLst>
                  <a:ext uri="{0D108BD9-81ED-4DB2-BD59-A6C34878D82A}">
                    <a16:rowId xmlns:a16="http://schemas.microsoft.com/office/drawing/2014/main" val="2592019415"/>
                  </a:ext>
                </a:extLst>
              </a:tr>
              <a:tr h="250268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Collation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Cascadia Mono SemiLight" panose="020B0609020000020004" pitchFamily="49" charset="0"/>
                          <a:cs typeface="Cascadia Mono SemiLight" panose="020B0609020000020004" pitchFamily="49" charset="0"/>
                        </a:rPr>
                        <a:t>USAGE</a:t>
                      </a:r>
                    </a:p>
                  </a:txBody>
                  <a:tcPr marL="47625" marR="76200" marT="9525" marB="9525" anchor="ctr"/>
                </a:tc>
                <a:extLst>
                  <a:ext uri="{0D108BD9-81ED-4DB2-BD59-A6C34878D82A}">
                    <a16:rowId xmlns:a16="http://schemas.microsoft.com/office/drawing/2014/main" val="3658153035"/>
                  </a:ext>
                </a:extLst>
              </a:tr>
              <a:tr h="250268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Translation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Cascadia Mono SemiLight" panose="020B0609020000020004" pitchFamily="49" charset="0"/>
                          <a:cs typeface="Cascadia Mono SemiLight" panose="020B0609020000020004" pitchFamily="49" charset="0"/>
                        </a:rPr>
                        <a:t>USAGE</a:t>
                      </a:r>
                    </a:p>
                  </a:txBody>
                  <a:tcPr marL="47625" marR="76200" marT="9525" marB="9525" anchor="ctr"/>
                </a:tc>
                <a:extLst>
                  <a:ext uri="{0D108BD9-81ED-4DB2-BD59-A6C34878D82A}">
                    <a16:rowId xmlns:a16="http://schemas.microsoft.com/office/drawing/2014/main" val="367242036"/>
                  </a:ext>
                </a:extLst>
              </a:tr>
              <a:tr h="250268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UDT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Cascadia Mono SemiLight" panose="020B0609020000020004" pitchFamily="49" charset="0"/>
                          <a:cs typeface="Cascadia Mono SemiLight" panose="020B0609020000020004" pitchFamily="49" charset="0"/>
                        </a:rPr>
                        <a:t>UNDER</a:t>
                      </a:r>
                    </a:p>
                  </a:txBody>
                  <a:tcPr marL="47625" marR="76200" marT="9525" marB="9525" anchor="ctr"/>
                </a:tc>
                <a:extLst>
                  <a:ext uri="{0D108BD9-81ED-4DB2-BD59-A6C34878D82A}">
                    <a16:rowId xmlns:a16="http://schemas.microsoft.com/office/drawing/2014/main" val="2944748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55587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28B17-993E-9953-60AF-A8DC8468A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40A324-4596-BA0F-C8AE-36B2EDA16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FA518-BF81-7E3B-39B2-C4E2C151AC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4"/>
            <a:ext cx="8541643" cy="32628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GRANT SELECT, INSERT ON </a:t>
            </a:r>
            <a:r>
              <a:rPr lang="en-US" sz="16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Sally_Dates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TO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sam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WITH GRANT OPTION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GRANT SELECT(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date_1, date_2),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INSERT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(date_1)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ON </a:t>
            </a:r>
            <a:r>
              <a:rPr lang="en-US" sz="16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Sally_Dates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TO 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bob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REVOKE SELECT(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date_2)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ON </a:t>
            </a:r>
            <a:r>
              <a:rPr lang="en-US" sz="16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Sally_Dates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 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bob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GRANT ALL PERMISSIONS ON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Sally_Dates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TO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sam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REVOKE INSERT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</a:t>
            </a:r>
            <a:r>
              <a:rPr lang="en-US" sz="1600" dirty="0">
                <a:solidFill>
                  <a:schemeClr val="accent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UPDATE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</a:t>
            </a:r>
            <a:r>
              <a:rPr lang="en-US" sz="1600" dirty="0">
                <a:solidFill>
                  <a:schemeClr val="accent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DELETE</a:t>
            </a:r>
            <a:r>
              <a:rPr lang="en-US" sz="1600" dirty="0">
                <a:solidFill>
                  <a:schemeClr val="accent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ON</a:t>
            </a:r>
            <a:r>
              <a:rPr lang="en-US" sz="1600" dirty="0">
                <a:solidFill>
                  <a:schemeClr val="accent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Accounts</a:t>
            </a:r>
            <a:r>
              <a:rPr lang="en-US" sz="1600" dirty="0">
                <a:solidFill>
                  <a:schemeClr val="accent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sz="1600" dirty="0">
                <a:solidFill>
                  <a:schemeClr val="accent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PUBLIC;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-- or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DENY</a:t>
            </a:r>
            <a:r>
              <a:rPr lang="en-US" sz="1600" dirty="0">
                <a:solidFill>
                  <a:schemeClr val="accent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INSERT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</a:t>
            </a:r>
            <a:r>
              <a:rPr lang="en-US" sz="1600" dirty="0">
                <a:solidFill>
                  <a:schemeClr val="accent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UPDATE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</a:t>
            </a:r>
            <a:r>
              <a:rPr lang="en-US" sz="1600" dirty="0">
                <a:solidFill>
                  <a:schemeClr val="accent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DELETE</a:t>
            </a:r>
            <a:r>
              <a:rPr lang="en-US" sz="1600" dirty="0">
                <a:solidFill>
                  <a:schemeClr val="accent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ON</a:t>
            </a:r>
            <a:r>
              <a:rPr lang="en-US" sz="1600" dirty="0">
                <a:solidFill>
                  <a:schemeClr val="accent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Accounts</a:t>
            </a:r>
            <a:r>
              <a:rPr lang="en-US" sz="1600" dirty="0">
                <a:solidFill>
                  <a:schemeClr val="accent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TO</a:t>
            </a:r>
            <a:r>
              <a:rPr lang="en-US" sz="1600" dirty="0">
                <a:solidFill>
                  <a:schemeClr val="accent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db_user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-- assuming EXECUTE AS SELF or SECURITY DEFINER: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GRANT</a:t>
            </a:r>
            <a:r>
              <a:rPr lang="en-US" sz="1600" dirty="0">
                <a:solidFill>
                  <a:schemeClr val="accent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EXECUTE</a:t>
            </a:r>
            <a:r>
              <a:rPr lang="en-US" sz="1600" dirty="0">
                <a:solidFill>
                  <a:schemeClr val="accent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ON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TransferMoney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TO</a:t>
            </a:r>
            <a:r>
              <a:rPr lang="en-US" sz="1600" dirty="0">
                <a:solidFill>
                  <a:schemeClr val="accent4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PUBLIC; </a:t>
            </a:r>
            <a:b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5BCC48-E9EA-3276-4768-A85B78831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Привилегии в </a:t>
            </a:r>
            <a:r>
              <a:rPr lang="en-US" dirty="0"/>
              <a:t>SQL: </a:t>
            </a:r>
            <a:r>
              <a:rPr lang="ru-RU" dirty="0"/>
              <a:t>примеры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473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075BF2-41EF-FCF9-9C60-2B9B4C294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338DC-87BB-DA6C-4B07-620624F6BD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B685DB-1D91-21DE-6E56-2506AF0F7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Привилегии в </a:t>
            </a:r>
            <a:r>
              <a:rPr lang="en-US" dirty="0"/>
              <a:t>SQL: </a:t>
            </a:r>
            <a:r>
              <a:rPr lang="ru-RU" dirty="0"/>
              <a:t>Цепочки делегирования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D4DEC2-34F5-1B21-DE50-7E7FAEC144CA}"/>
              </a:ext>
            </a:extLst>
          </p:cNvPr>
          <p:cNvSpPr/>
          <p:nvPr/>
        </p:nvSpPr>
        <p:spPr>
          <a:xfrm>
            <a:off x="350836" y="1419225"/>
            <a:ext cx="2060923" cy="369332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OWNER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1A2EB3-2A27-4A31-9EB2-B60BC6C46D34}"/>
              </a:ext>
            </a:extLst>
          </p:cNvPr>
          <p:cNvSpPr/>
          <p:nvPr/>
        </p:nvSpPr>
        <p:spPr>
          <a:xfrm>
            <a:off x="2522617" y="2062850"/>
            <a:ext cx="2060923" cy="3693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GRANTEE 1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8DB66B-EB2E-3B53-96AA-E06CEE1EED12}"/>
              </a:ext>
            </a:extLst>
          </p:cNvPr>
          <p:cNvSpPr/>
          <p:nvPr/>
        </p:nvSpPr>
        <p:spPr>
          <a:xfrm>
            <a:off x="3005722" y="1680145"/>
            <a:ext cx="1584176" cy="216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With grant option</a:t>
            </a:r>
          </a:p>
        </p:txBody>
      </p:sp>
      <p:sp>
        <p:nvSpPr>
          <p:cNvPr id="8" name="Arrow: Bent 7">
            <a:extLst>
              <a:ext uri="{FF2B5EF4-FFF2-40B4-BE49-F238E27FC236}">
                <a16:creationId xmlns:a16="http://schemas.microsoft.com/office/drawing/2014/main" id="{CEFDD6EA-8B6F-0B71-CDF6-B7623A3F7C14}"/>
              </a:ext>
            </a:extLst>
          </p:cNvPr>
          <p:cNvSpPr/>
          <p:nvPr/>
        </p:nvSpPr>
        <p:spPr>
          <a:xfrm rot="5400000">
            <a:off x="2447970" y="1558794"/>
            <a:ext cx="504056" cy="504056"/>
          </a:xfrm>
          <a:prstGeom prst="bentArrow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AA5887-6E16-4D77-FBA0-AE6F7DC3ED6C}"/>
              </a:ext>
            </a:extLst>
          </p:cNvPr>
          <p:cNvSpPr/>
          <p:nvPr/>
        </p:nvSpPr>
        <p:spPr>
          <a:xfrm>
            <a:off x="408871" y="2758453"/>
            <a:ext cx="2060923" cy="3693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GRANTEE 2 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F21986C0-922F-EEFE-AC5C-83A4CBB25111}"/>
              </a:ext>
            </a:extLst>
          </p:cNvPr>
          <p:cNvSpPr/>
          <p:nvPr/>
        </p:nvSpPr>
        <p:spPr>
          <a:xfrm>
            <a:off x="1273285" y="1805598"/>
            <a:ext cx="216024" cy="910168"/>
          </a:xfrm>
          <a:prstGeom prst="downArrow">
            <a:avLst>
              <a:gd name="adj1" fmla="val 58818"/>
              <a:gd name="adj2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16CBA-9B8E-F579-3949-B313DC50C423}"/>
              </a:ext>
            </a:extLst>
          </p:cNvPr>
          <p:cNvSpPr/>
          <p:nvPr/>
        </p:nvSpPr>
        <p:spPr>
          <a:xfrm>
            <a:off x="4738946" y="2715766"/>
            <a:ext cx="2060923" cy="3693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GRANTEE 3 </a:t>
            </a:r>
          </a:p>
        </p:txBody>
      </p:sp>
      <p:sp>
        <p:nvSpPr>
          <p:cNvPr id="12" name="Arrow: Bent 11">
            <a:extLst>
              <a:ext uri="{FF2B5EF4-FFF2-40B4-BE49-F238E27FC236}">
                <a16:creationId xmlns:a16="http://schemas.microsoft.com/office/drawing/2014/main" id="{175EA4FF-1014-B29E-FD08-EA81D2C3F69F}"/>
              </a:ext>
            </a:extLst>
          </p:cNvPr>
          <p:cNvSpPr/>
          <p:nvPr/>
        </p:nvSpPr>
        <p:spPr>
          <a:xfrm rot="5400000">
            <a:off x="4664299" y="2211710"/>
            <a:ext cx="504056" cy="504056"/>
          </a:xfrm>
          <a:prstGeom prst="ben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124776"/>
      </p:ext>
    </p:extLst>
  </p:cSld>
  <p:clrMapOvr>
    <a:masterClrMapping/>
  </p:clrMapOvr>
</p:sld>
</file>

<file path=ppt/theme/theme1.xml><?xml version="1.0" encoding="utf-8"?>
<a:theme xmlns:a="http://schemas.openxmlformats.org/drawingml/2006/main" name="NSU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SU Captio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17231</TotalTime>
  <Words>1345</Words>
  <Application>Microsoft Office PowerPoint</Application>
  <PresentationFormat>On-screen Show (16:9)</PresentationFormat>
  <Paragraphs>221</Paragraphs>
  <Slides>18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Acrom Bold</vt:lpstr>
      <vt:lpstr>Acrom ExtraBold</vt:lpstr>
      <vt:lpstr>Cascadia Mono SemiLight</vt:lpstr>
      <vt:lpstr>Acrom</vt:lpstr>
      <vt:lpstr>Consolas</vt:lpstr>
      <vt:lpstr>NSU Content</vt:lpstr>
      <vt:lpstr>NSU Captions</vt:lpstr>
      <vt:lpstr>БАЗЫ ДАННЫХ</vt:lpstr>
      <vt:lpstr>PowerPoint Presentation</vt:lpstr>
      <vt:lpstr>Использование SQL для Создания приложений</vt:lpstr>
      <vt:lpstr>Межплатформенные API</vt:lpstr>
      <vt:lpstr>Типовая иерархия объектов универсального API SQL</vt:lpstr>
      <vt:lpstr>Соответствие типов объектов в различных API</vt:lpstr>
      <vt:lpstr>Пример использования SQL из JAVA программы</vt:lpstr>
      <vt:lpstr>Передача параметров в запросы SQL</vt:lpstr>
      <vt:lpstr>Исполнение групповых операций: мотивация</vt:lpstr>
      <vt:lpstr>Исполнение групповых операций: реализация</vt:lpstr>
      <vt:lpstr>Императивное программирование внутри СУБД: SQL/PSM</vt:lpstr>
      <vt:lpstr>SQL/PSM: Переменные и курсоры</vt:lpstr>
      <vt:lpstr>SQL/PSM: Управляющие конструкции</vt:lpstr>
      <vt:lpstr>SQL/PSM: сигналы и обработчики</vt:lpstr>
      <vt:lpstr>Привилегии в SQL</vt:lpstr>
      <vt:lpstr>Привилегии в SQL: объекты и действия</vt:lpstr>
      <vt:lpstr>Привилегии в SQL: примеры</vt:lpstr>
      <vt:lpstr>Привилегии в SQL: Цепочки делегирования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Master</dc:creator>
  <cp:lastModifiedBy>Anton Zlygostev</cp:lastModifiedBy>
  <cp:revision>864</cp:revision>
  <dcterms:created xsi:type="dcterms:W3CDTF">2016-08-15T04:55:12Z</dcterms:created>
  <dcterms:modified xsi:type="dcterms:W3CDTF">2024-11-20T18:07:34Z</dcterms:modified>
</cp:coreProperties>
</file>