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39"/>
  </p:notesMasterIdLst>
  <p:sldIdLst>
    <p:sldId id="514" r:id="rId3"/>
    <p:sldId id="524" r:id="rId4"/>
    <p:sldId id="586" r:id="rId5"/>
    <p:sldId id="587" r:id="rId6"/>
    <p:sldId id="621" r:id="rId7"/>
    <p:sldId id="622" r:id="rId8"/>
    <p:sldId id="623" r:id="rId9"/>
    <p:sldId id="624" r:id="rId10"/>
    <p:sldId id="625" r:id="rId11"/>
    <p:sldId id="627" r:id="rId12"/>
    <p:sldId id="630" r:id="rId13"/>
    <p:sldId id="629" r:id="rId14"/>
    <p:sldId id="628" r:id="rId15"/>
    <p:sldId id="631" r:id="rId16"/>
    <p:sldId id="632" r:id="rId17"/>
    <p:sldId id="633" r:id="rId18"/>
    <p:sldId id="634" r:id="rId19"/>
    <p:sldId id="635" r:id="rId20"/>
    <p:sldId id="636" r:id="rId21"/>
    <p:sldId id="637" r:id="rId22"/>
    <p:sldId id="638" r:id="rId23"/>
    <p:sldId id="639" r:id="rId24"/>
    <p:sldId id="640" r:id="rId25"/>
    <p:sldId id="641" r:id="rId26"/>
    <p:sldId id="642" r:id="rId27"/>
    <p:sldId id="643" r:id="rId28"/>
    <p:sldId id="650" r:id="rId29"/>
    <p:sldId id="644" r:id="rId30"/>
    <p:sldId id="645" r:id="rId31"/>
    <p:sldId id="646" r:id="rId32"/>
    <p:sldId id="647" r:id="rId33"/>
    <p:sldId id="648" r:id="rId34"/>
    <p:sldId id="649" r:id="rId35"/>
    <p:sldId id="651" r:id="rId36"/>
    <p:sldId id="652" r:id="rId37"/>
    <p:sldId id="653" r:id="rId38"/>
  </p:sldIdLst>
  <p:sldSz cx="9144000" cy="5143500" type="screen16x9"/>
  <p:notesSz cx="6858000" cy="9144000"/>
  <p:embeddedFontLst>
    <p:embeddedFont>
      <p:font typeface="Acrom" panose="020B0604020202020204" charset="-52"/>
      <p:regular r:id="rId40"/>
    </p:embeddedFont>
    <p:embeddedFont>
      <p:font typeface="Acrom Bold" panose="020B0604020202020204" charset="-52"/>
      <p:bold r:id="rId41"/>
    </p:embeddedFont>
    <p:embeddedFont>
      <p:font typeface="Acrom ExtraBold" panose="020B0604020202020204" charset="-52"/>
      <p:bold r:id="rId42"/>
    </p:embeddedFont>
    <p:embeddedFont>
      <p:font typeface="Cascadia Code SemiBold" panose="020B0609020000020004" pitchFamily="49" charset="0"/>
      <p:bold r:id="rId43"/>
      <p:boldItalic r:id="rId4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  <p14:sldId id="524"/>
            <p14:sldId id="586"/>
            <p14:sldId id="587"/>
            <p14:sldId id="621"/>
            <p14:sldId id="622"/>
            <p14:sldId id="623"/>
            <p14:sldId id="624"/>
            <p14:sldId id="625"/>
            <p14:sldId id="627"/>
            <p14:sldId id="630"/>
            <p14:sldId id="629"/>
            <p14:sldId id="628"/>
            <p14:sldId id="631"/>
            <p14:sldId id="632"/>
            <p14:sldId id="63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  <p14:sldId id="650"/>
            <p14:sldId id="644"/>
            <p14:sldId id="645"/>
            <p14:sldId id="646"/>
            <p14:sldId id="647"/>
            <p14:sldId id="648"/>
            <p14:sldId id="649"/>
            <p14:sldId id="651"/>
            <p14:sldId id="652"/>
            <p14:sldId id="653"/>
          </p14:sldIdLst>
        </p14:section>
        <p14:section name="Literature" id="{B9960BE5-F3B4-48C0-BA4B-65F190ECCD4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FEFEFE"/>
    <a:srgbClr val="FF0000"/>
    <a:srgbClr val="C20808"/>
    <a:srgbClr val="F0F0F0"/>
    <a:srgbClr val="B8B8B8"/>
    <a:srgbClr val="DBF2F3"/>
    <a:srgbClr val="D6D6FE"/>
    <a:srgbClr val="9292FB"/>
    <a:srgbClr val="C1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13" autoAdjust="0"/>
    <p:restoredTop sz="81961" autoAdjust="0"/>
  </p:normalViewPr>
  <p:slideViewPr>
    <p:cSldViewPr>
      <p:cViewPr>
        <p:scale>
          <a:sx n="100" d="100"/>
          <a:sy n="100" d="100"/>
        </p:scale>
        <p:origin x="1152" y="33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3.fntdata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1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4.fntdata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24.02.2025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174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508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6018A-1A7B-AC95-7D83-B6F1D3E8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73E57-5AA4-3901-A3D3-7A1140BEA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3DC50-4CC2-907B-5671-ECB069127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998F9-A928-D0BB-F3F2-88FB27827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3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8F7D-7AB2-4CBF-C244-0B43839DE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438FD9-E0E8-CD53-9F5D-6F264043E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F7FE7-0B63-D633-1B7B-062B0E3A3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06B44-7CCA-220D-324A-31D31FF13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7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82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964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F31863B-D2C1-455A-9EA1-E26FFC62CD1F}" type="datetime1">
              <a:rPr lang="ru-RU" smtClean="0"/>
              <a:t>24.02.2025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77501038-3FD5-4508-A3B2-A3E2BAE5DE49}" type="datetime1">
              <a:rPr lang="ru-RU" smtClean="0"/>
              <a:t>24.02.2025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8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06694701-841A-4648-9226-979284EF9C69}" type="datetime1">
              <a:rPr lang="ru-RU" smtClean="0"/>
              <a:t>24.02.2025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33F0968-48E1-48DF-98AF-E00A7EFE6F72}" type="datetime1">
              <a:rPr lang="ru-RU" smtClean="0"/>
              <a:t>24.02.2025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72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2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76093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1.xml"/><Relationship Id="rId7" Type="http://schemas.microsoft.com/office/2007/relationships/hdphoto" Target="../media/hdphoto3.wdp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image" Target="../media/image14.jpeg"/><Relationship Id="rId10" Type="http://schemas.openxmlformats.org/officeDocument/2006/relationships/image" Target="../media/image17.png"/><Relationship Id="rId4" Type="http://schemas.openxmlformats.org/officeDocument/2006/relationships/theme" Target="../theme/theme2.xml"/><Relationship Id="rId9" Type="http://schemas.microsoft.com/office/2007/relationships/hdphoto" Target="../media/hdphoto4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0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9037-CC8E-4534-B7F6-0A122AB3349B}" type="datetime1">
              <a:rPr lang="ru-RU" smtClean="0"/>
              <a:t>24.02.2025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4" r:id="rId3"/>
    <p:sldLayoutId id="2147483683" r:id="rId4"/>
    <p:sldLayoutId id="2147483680" r:id="rId5"/>
    <p:sldLayoutId id="2147483687" r:id="rId6"/>
    <p:sldLayoutId id="2147483688" r:id="rId7"/>
    <p:sldLayoutId id="2147483689" r:id="rId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 cap="all" baseline="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  <p:sldLayoutId id="214748369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4362" y="3147814"/>
            <a:ext cx="4332104" cy="1728193"/>
          </a:xfrm>
        </p:spPr>
        <p:txBody>
          <a:bodyPr>
            <a:normAutofit/>
          </a:bodyPr>
          <a:lstStyle/>
          <a:p>
            <a:r>
              <a:rPr lang="ru-RU" altLang="ru-RU" dirty="0"/>
              <a:t>Сетевая модель</a:t>
            </a:r>
            <a:r>
              <a:rPr lang="en-US" altLang="ru-RU" dirty="0"/>
              <a:t> </a:t>
            </a:r>
            <a:r>
              <a:rPr lang="ru-RU" altLang="ru-RU" dirty="0"/>
              <a:t>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26515-82F9-BFED-C2A0-1967B2EA7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8397626" cy="2305050"/>
          </a:xfrm>
        </p:spPr>
        <p:txBody>
          <a:bodyPr/>
          <a:lstStyle/>
          <a:p>
            <a:r>
              <a:rPr lang="ru-RU" altLang="ru-RU" sz="2000" b="1" dirty="0"/>
              <a:t>Т.В. </a:t>
            </a:r>
            <a:r>
              <a:rPr lang="ru-RU" altLang="ru-RU" sz="2000" b="1" dirty="0" err="1"/>
              <a:t>Олле</a:t>
            </a:r>
            <a:r>
              <a:rPr lang="ru-RU" altLang="ru-RU" sz="2000" b="1" dirty="0"/>
              <a:t> </a:t>
            </a:r>
            <a:r>
              <a:rPr lang="ru-RU" altLang="ru-RU" sz="2000" dirty="0"/>
              <a:t>Предложения КОДАСИЛ по управлению базами данных. – М.: Финансы и статистика, 1981</a:t>
            </a:r>
          </a:p>
          <a:p>
            <a:pPr eaLnBrk="1" hangingPunct="1"/>
            <a:endParaRPr lang="ru-RU"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118199-88F4-C870-1F8E-8EA926A2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4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9AEFFB-0F83-E5E8-CCAB-D6B1B0B33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419DD-B1BA-C731-7F3B-BF3D6582A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929596"/>
          </a:xfrm>
        </p:spPr>
        <p:txBody>
          <a:bodyPr numCol="2">
            <a:normAutofit fontScale="55000" lnSpcReduction="20000"/>
          </a:bodyPr>
          <a:lstStyle/>
          <a:p>
            <a:pPr marL="266700" indent="-266700">
              <a:lnSpc>
                <a:spcPct val="120000"/>
              </a:lnSpc>
              <a:spcBef>
                <a:spcPts val="600"/>
              </a:spcBef>
            </a:pPr>
            <a:r>
              <a:rPr lang="ru-RU" sz="2800" dirty="0"/>
              <a:t>Стандарт сетевой модели впервые был определен в 1975 году организацией CODASYL </a:t>
            </a:r>
            <a:br>
              <a:rPr lang="ru-RU" sz="2800" dirty="0"/>
            </a:br>
            <a:r>
              <a:rPr lang="ru-RU" sz="2800" dirty="0"/>
              <a:t>(Conference </a:t>
            </a:r>
            <a:r>
              <a:rPr lang="ru-RU" sz="2800" dirty="0" err="1"/>
              <a:t>of</a:t>
            </a:r>
            <a:r>
              <a:rPr lang="ru-RU" sz="2800" dirty="0"/>
              <a:t> Data System </a:t>
            </a:r>
            <a:r>
              <a:rPr lang="ru-RU" sz="2800" dirty="0" err="1"/>
              <a:t>Languages</a:t>
            </a:r>
            <a:r>
              <a:rPr lang="ru-RU" sz="2800" dirty="0"/>
              <a:t>) которая определила </a:t>
            </a:r>
          </a:p>
          <a:p>
            <a:pPr marL="539750" lvl="2" indent="-27305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</a:pPr>
            <a:r>
              <a:rPr lang="ru-RU" sz="2700" dirty="0"/>
              <a:t>базовые понятия модели</a:t>
            </a:r>
          </a:p>
          <a:p>
            <a:pPr marL="539750" lvl="2" indent="-27305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</a:pPr>
            <a:r>
              <a:rPr lang="ru-RU" sz="2700" dirty="0"/>
              <a:t>структуру СУБД (набор языков работы с данными)</a:t>
            </a:r>
          </a:p>
          <a:p>
            <a:pPr marL="266700" lvl="1" indent="-2667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</a:pPr>
            <a:r>
              <a:rPr lang="ru-RU" sz="2900" dirty="0"/>
              <a:t>На основе системы </a:t>
            </a:r>
            <a:r>
              <a:rPr lang="en-US" sz="2900" dirty="0"/>
              <a:t>IDS </a:t>
            </a:r>
            <a:r>
              <a:rPr lang="ru-RU" sz="2900" dirty="0"/>
              <a:t>фирмы </a:t>
            </a:r>
            <a:r>
              <a:rPr lang="en-US" sz="2900" dirty="0"/>
              <a:t>General Electric </a:t>
            </a:r>
            <a:r>
              <a:rPr lang="ru-RU" sz="2900" dirty="0"/>
              <a:t>с 1965-1967г. ведутся работы по обработке списков. Ч. Бахман, Дж. Додд, У. Симмонс</a:t>
            </a:r>
          </a:p>
          <a:p>
            <a:pPr marL="266700" lvl="1" indent="-26670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</a:pPr>
            <a:r>
              <a:rPr lang="ru-RU" sz="2900" dirty="0"/>
              <a:t>С 1967 РГБД – выработка концепции языков обработки данных: </a:t>
            </a:r>
          </a:p>
          <a:p>
            <a:pPr marL="539750" lvl="2" indent="-27305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</a:pPr>
            <a:r>
              <a:rPr lang="ru-RU" sz="2700" dirty="0"/>
              <a:t>включающий язык, </a:t>
            </a:r>
          </a:p>
          <a:p>
            <a:pPr marL="539750" lvl="2" indent="-273050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</a:pPr>
            <a:r>
              <a:rPr lang="ru-RU" sz="2700" dirty="0"/>
              <a:t>язык с развитой структурой для экономических приложений (</a:t>
            </a:r>
            <a:r>
              <a:rPr lang="en-US" sz="2700" dirty="0"/>
              <a:t>Cobol</a:t>
            </a:r>
            <a:r>
              <a:rPr lang="ru-RU" sz="2700" dirty="0"/>
              <a:t>, </a:t>
            </a:r>
            <a:r>
              <a:rPr lang="en-US" sz="2700" dirty="0"/>
              <a:t>PL/1)</a:t>
            </a:r>
            <a:r>
              <a:rPr lang="ru-RU" sz="2700" dirty="0"/>
              <a:t>. </a:t>
            </a:r>
            <a:r>
              <a:rPr lang="en-US" sz="2700" dirty="0"/>
              <a:t>PL/1</a:t>
            </a:r>
            <a:r>
              <a:rPr lang="ru-RU" sz="2700" dirty="0"/>
              <a:t> обладал более развитой структурой записи.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9FFE9-27B4-1434-7CBC-9EE1CC414D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История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4DDAFA-371C-EADF-F048-CDF673DE1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827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675F9-6AC7-EAB2-E11D-61CFC3E75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92143E-5C0A-C128-5AC6-371C9718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D842F-B541-E191-8B31-2EB2285AA7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785579"/>
          </a:xfrm>
        </p:spPr>
        <p:txBody>
          <a:bodyPr numCol="2"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ru-RU" sz="3500" dirty="0"/>
              <a:t>Базовыми объектами модели являются</a:t>
            </a:r>
            <a:r>
              <a:rPr lang="ru-RU" sz="2800" dirty="0"/>
              <a:t>:</a:t>
            </a:r>
          </a:p>
          <a:p>
            <a:pPr marL="714375" lvl="2" indent="-357188">
              <a:lnSpc>
                <a:spcPct val="120000"/>
              </a:lnSpc>
              <a:spcBef>
                <a:spcPts val="1000"/>
              </a:spcBef>
              <a:buClr>
                <a:srgbClr val="C00000"/>
              </a:buClr>
            </a:pPr>
            <a:r>
              <a:rPr lang="ru-RU" sz="3300" dirty="0"/>
              <a:t>Элемент данных</a:t>
            </a:r>
          </a:p>
          <a:p>
            <a:pPr marL="714375" lvl="2" indent="-357188">
              <a:lnSpc>
                <a:spcPct val="120000"/>
              </a:lnSpc>
              <a:spcBef>
                <a:spcPts val="1000"/>
              </a:spcBef>
              <a:buClr>
                <a:srgbClr val="C00000"/>
              </a:buClr>
            </a:pPr>
            <a:r>
              <a:rPr lang="ru-RU" sz="3300" dirty="0"/>
              <a:t>Агрегат данных</a:t>
            </a:r>
          </a:p>
          <a:p>
            <a:pPr marL="714375" lvl="2" indent="-357188">
              <a:lnSpc>
                <a:spcPct val="120000"/>
              </a:lnSpc>
              <a:spcBef>
                <a:spcPts val="1000"/>
              </a:spcBef>
              <a:buClr>
                <a:srgbClr val="C00000"/>
              </a:buClr>
            </a:pPr>
            <a:r>
              <a:rPr lang="ru-RU" sz="3300" dirty="0"/>
              <a:t>Запись</a:t>
            </a:r>
          </a:p>
          <a:p>
            <a:pPr marL="714375" lvl="2" indent="-357188">
              <a:lnSpc>
                <a:spcPct val="120000"/>
              </a:lnSpc>
              <a:spcBef>
                <a:spcPts val="1000"/>
              </a:spcBef>
              <a:buClr>
                <a:srgbClr val="C00000"/>
              </a:buClr>
            </a:pPr>
            <a:r>
              <a:rPr lang="ru-RU" sz="3300" dirty="0"/>
              <a:t>Набор</a:t>
            </a:r>
          </a:p>
          <a:p>
            <a:pPr>
              <a:lnSpc>
                <a:spcPct val="120000"/>
              </a:lnSpc>
            </a:pPr>
            <a:r>
              <a:rPr lang="ru-RU" sz="3500" b="1" dirty="0">
                <a:cs typeface="Times New Roman" pitchFamily="18" charset="0"/>
              </a:rPr>
              <a:t>Элемент данных </a:t>
            </a:r>
            <a:r>
              <a:rPr lang="ru-RU" sz="3500" i="1" dirty="0"/>
              <a:t>— </a:t>
            </a:r>
            <a:r>
              <a:rPr lang="ru-RU" sz="3500" dirty="0"/>
              <a:t>то же, что и в иерархической модели – минимальная  информационная единица, доступная пользователю СУБД.</a:t>
            </a:r>
          </a:p>
          <a:p>
            <a:pPr>
              <a:lnSpc>
                <a:spcPct val="120000"/>
              </a:lnSpc>
            </a:pPr>
            <a:r>
              <a:rPr lang="ru-RU" sz="3500" b="1" dirty="0">
                <a:cs typeface="Times New Roman" pitchFamily="18" charset="0"/>
              </a:rPr>
              <a:t>Агрегат данных </a:t>
            </a:r>
            <a:r>
              <a:rPr lang="ru-RU" sz="3500" dirty="0"/>
              <a:t>соответствует следующему уровню обобщения в модели. </a:t>
            </a:r>
          </a:p>
          <a:p>
            <a:pPr>
              <a:lnSpc>
                <a:spcPct val="120000"/>
              </a:lnSpc>
            </a:pPr>
            <a:r>
              <a:rPr lang="ru-RU" sz="3500" dirty="0"/>
              <a:t>В модели определены </a:t>
            </a:r>
            <a:r>
              <a:rPr lang="ru-RU" sz="3500" b="1" dirty="0"/>
              <a:t>агрегаты двух типов:</a:t>
            </a:r>
            <a:endParaRPr lang="en-US" sz="3500" dirty="0"/>
          </a:p>
          <a:p>
            <a:pPr marL="742950" lvl="2" indent="-342900">
              <a:lnSpc>
                <a:spcPct val="120000"/>
              </a:lnSpc>
              <a:spcBef>
                <a:spcPts val="1000"/>
              </a:spcBef>
              <a:buClr>
                <a:srgbClr val="C00000"/>
              </a:buClr>
            </a:pPr>
            <a:r>
              <a:rPr lang="ru-RU" sz="3300" dirty="0"/>
              <a:t>вектор</a:t>
            </a:r>
            <a:r>
              <a:rPr lang="en-US" sz="3300" dirty="0"/>
              <a:t>,</a:t>
            </a:r>
          </a:p>
          <a:p>
            <a:pPr marL="742950" lvl="2" indent="-342900">
              <a:lnSpc>
                <a:spcPct val="120000"/>
              </a:lnSpc>
              <a:spcBef>
                <a:spcPts val="1000"/>
              </a:spcBef>
              <a:buClr>
                <a:srgbClr val="C00000"/>
              </a:buClr>
            </a:pPr>
            <a:r>
              <a:rPr lang="ru-RU" sz="3300" dirty="0"/>
              <a:t>повторяющаяся группа</a:t>
            </a:r>
            <a:r>
              <a:rPr lang="ru-RU" sz="3800" dirty="0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CF39C-1FE1-21F4-4162-3D44AEF27C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Структура модели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7FB45A-B8A4-B3C4-635E-597FE04E6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939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42032-4B62-7FCB-AF70-3488B7F89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BDAAE4-A97E-6437-8DEB-E2CA0206F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BBB5B-22E4-2B19-4C32-59CBEF2B0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6093371" cy="2785579"/>
          </a:xfrm>
        </p:spPr>
        <p:txBody>
          <a:bodyPr numCol="1">
            <a:normAutofit fontScale="325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4800" dirty="0"/>
              <a:t>Агрегат данных имеет </a:t>
            </a:r>
            <a:r>
              <a:rPr lang="ru-RU" sz="4800" b="1" dirty="0"/>
              <a:t>имя</a:t>
            </a:r>
            <a:r>
              <a:rPr lang="ru-RU" sz="4800" dirty="0"/>
              <a:t>, и в системе допустимо обращение к агрегату по имени.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4800" dirty="0"/>
              <a:t>Агрегат </a:t>
            </a:r>
            <a:r>
              <a:rPr lang="ru-RU" sz="4800" b="1" dirty="0"/>
              <a:t>типа вектор </a:t>
            </a:r>
            <a:r>
              <a:rPr lang="ru-RU" sz="4800" dirty="0"/>
              <a:t>соответствует линейному набору элементов данных.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4800" dirty="0"/>
              <a:t>Например, агрегат </a:t>
            </a:r>
            <a:r>
              <a:rPr lang="ru-RU" sz="4800" b="1" dirty="0"/>
              <a:t>Адрес </a:t>
            </a:r>
            <a:r>
              <a:rPr lang="ru-RU" sz="4800" dirty="0"/>
              <a:t>может быть представлен следующим образом: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4800" b="1" dirty="0"/>
              <a:t>		Адрес </a:t>
            </a:r>
            <a:r>
              <a:rPr lang="ru-RU" sz="4800" dirty="0"/>
              <a:t>= (город улица дом квартира)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4800" dirty="0"/>
              <a:t>Агрегат типа повторяющаяся группа соответствует </a:t>
            </a:r>
            <a:r>
              <a:rPr lang="ru-RU" sz="4800" b="1" dirty="0"/>
              <a:t>совокупности векторов данных.</a:t>
            </a:r>
            <a:r>
              <a:rPr lang="ru-RU" sz="4800" dirty="0"/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4800" dirty="0"/>
              <a:t>Например, агрегат </a:t>
            </a:r>
            <a:r>
              <a:rPr lang="ru-RU" sz="4800" b="1" dirty="0"/>
              <a:t>Зарплата </a:t>
            </a:r>
            <a:r>
              <a:rPr lang="ru-RU" sz="4800" dirty="0"/>
              <a:t>соответствует типу </a:t>
            </a:r>
            <a:r>
              <a:rPr lang="ru-RU" sz="4800" b="1" dirty="0"/>
              <a:t>повторяющаяся группа</a:t>
            </a:r>
            <a:r>
              <a:rPr lang="ru-RU" sz="4800" dirty="0"/>
              <a:t> с числом повторений 12.</a:t>
            </a:r>
            <a:endParaRPr lang="ru-RU" sz="3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633E79-0282-3C3F-1F63-D74D34D047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Агрегат данных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6B23FA-C1A0-EC75-31E1-96FEAC831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1927BD-9585-D27B-B87D-021DBA710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896956"/>
              </p:ext>
            </p:extLst>
          </p:nvPr>
        </p:nvGraphicFramePr>
        <p:xfrm>
          <a:off x="6804248" y="1821913"/>
          <a:ext cx="1981942" cy="25482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990971">
                  <a:extLst>
                    <a:ext uri="{9D8B030D-6E8A-4147-A177-3AD203B41FA5}">
                      <a16:colId xmlns:a16="http://schemas.microsoft.com/office/drawing/2014/main" val="1034506401"/>
                    </a:ext>
                  </a:extLst>
                </a:gridCol>
                <a:gridCol w="990971">
                  <a:extLst>
                    <a:ext uri="{9D8B030D-6E8A-4147-A177-3AD203B41FA5}">
                      <a16:colId xmlns:a16="http://schemas.microsoft.com/office/drawing/2014/main" val="4122001485"/>
                    </a:ext>
                  </a:extLst>
                </a:gridCol>
              </a:tblGrid>
              <a:tr h="138109"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Aptos Display" panose="020B0004020202020204" pitchFamily="34" charset="0"/>
                        </a:rPr>
                        <a:t>Месяц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dirty="0">
                          <a:latin typeface="Aptos Display" panose="020B0004020202020204" pitchFamily="34" charset="0"/>
                        </a:rPr>
                        <a:t>Сумма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3910339586"/>
                  </a:ext>
                </a:extLst>
              </a:tr>
              <a:tr h="138109">
                <a:tc>
                  <a:txBody>
                    <a:bodyPr/>
                    <a:lstStyle/>
                    <a:p>
                      <a:r>
                        <a:rPr lang="ru-RU" sz="1050" dirty="0" err="1">
                          <a:latin typeface="Aptos Display" panose="020B0004020202020204" pitchFamily="34" charset="0"/>
                        </a:rPr>
                        <a:t>Янв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dirty="0">
                          <a:latin typeface="Aptos Display" panose="020B0004020202020204" pitchFamily="34" charset="0"/>
                        </a:rPr>
                        <a:t>12500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448702239"/>
                  </a:ext>
                </a:extLst>
              </a:tr>
              <a:tr h="138109">
                <a:tc>
                  <a:txBody>
                    <a:bodyPr/>
                    <a:lstStyle/>
                    <a:p>
                      <a:r>
                        <a:rPr lang="ru-RU" sz="1050" dirty="0" err="1">
                          <a:latin typeface="Aptos Display" panose="020B0004020202020204" pitchFamily="34" charset="0"/>
                        </a:rPr>
                        <a:t>Фев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dirty="0">
                          <a:latin typeface="Aptos Display" panose="020B0004020202020204" pitchFamily="34" charset="0"/>
                        </a:rPr>
                        <a:t>13000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2460243232"/>
                  </a:ext>
                </a:extLst>
              </a:tr>
              <a:tr h="138109"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Aptos Display" panose="020B0004020202020204" pitchFamily="34" charset="0"/>
                        </a:rPr>
                        <a:t>Мар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dirty="0">
                          <a:latin typeface="Aptos Display" panose="020B0004020202020204" pitchFamily="34" charset="0"/>
                        </a:rPr>
                        <a:t>13500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386586912"/>
                  </a:ext>
                </a:extLst>
              </a:tr>
              <a:tr h="138109">
                <a:tc>
                  <a:txBody>
                    <a:bodyPr/>
                    <a:lstStyle/>
                    <a:p>
                      <a:r>
                        <a:rPr lang="ru-RU" sz="1050" dirty="0" err="1">
                          <a:latin typeface="Aptos Display" panose="020B0004020202020204" pitchFamily="34" charset="0"/>
                        </a:rPr>
                        <a:t>Апр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dirty="0">
                          <a:latin typeface="Aptos Display" panose="020B0004020202020204" pitchFamily="34" charset="0"/>
                        </a:rPr>
                        <a:t>13000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3850831434"/>
                  </a:ext>
                </a:extLst>
              </a:tr>
              <a:tr h="138109"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Aptos Display" panose="020B0004020202020204" pitchFamily="34" charset="0"/>
                        </a:rPr>
                        <a:t>Май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dirty="0">
                          <a:latin typeface="Aptos Display" panose="020B0004020202020204" pitchFamily="34" charset="0"/>
                        </a:rPr>
                        <a:t>14000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837376501"/>
                  </a:ext>
                </a:extLst>
              </a:tr>
              <a:tr h="138109">
                <a:tc>
                  <a:txBody>
                    <a:bodyPr/>
                    <a:lstStyle/>
                    <a:p>
                      <a:r>
                        <a:rPr lang="ru-RU" sz="1050" dirty="0" err="1">
                          <a:latin typeface="Aptos Display" panose="020B0004020202020204" pitchFamily="34" charset="0"/>
                        </a:rPr>
                        <a:t>Июн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dirty="0">
                          <a:latin typeface="Aptos Display" panose="020B0004020202020204" pitchFamily="34" charset="0"/>
                        </a:rPr>
                        <a:t>12500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651369482"/>
                  </a:ext>
                </a:extLst>
              </a:tr>
              <a:tr h="138109">
                <a:tc>
                  <a:txBody>
                    <a:bodyPr/>
                    <a:lstStyle/>
                    <a:p>
                      <a:r>
                        <a:rPr lang="ru-RU" sz="1050" dirty="0" err="1">
                          <a:latin typeface="Aptos Display" panose="020B0004020202020204" pitchFamily="34" charset="0"/>
                        </a:rPr>
                        <a:t>Июл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dirty="0">
                          <a:latin typeface="Aptos Display" panose="020B0004020202020204" pitchFamily="34" charset="0"/>
                        </a:rPr>
                        <a:t>13700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872367099"/>
                  </a:ext>
                </a:extLst>
              </a:tr>
              <a:tr h="138109">
                <a:tc>
                  <a:txBody>
                    <a:bodyPr/>
                    <a:lstStyle/>
                    <a:p>
                      <a:r>
                        <a:rPr lang="ru-RU" sz="1050" dirty="0" err="1">
                          <a:latin typeface="Aptos Display" panose="020B0004020202020204" pitchFamily="34" charset="0"/>
                        </a:rPr>
                        <a:t>Авг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dirty="0">
                          <a:latin typeface="Aptos Display" panose="020B0004020202020204" pitchFamily="34" charset="0"/>
                        </a:rPr>
                        <a:t>14000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152913861"/>
                  </a:ext>
                </a:extLst>
              </a:tr>
              <a:tr h="138109"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Aptos Display" panose="020B0004020202020204" pitchFamily="34" charset="0"/>
                        </a:rPr>
                        <a:t>Сен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dirty="0">
                          <a:latin typeface="Aptos Display" panose="020B0004020202020204" pitchFamily="34" charset="0"/>
                        </a:rPr>
                        <a:t>14100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362417841"/>
                  </a:ext>
                </a:extLst>
              </a:tr>
              <a:tr h="138109">
                <a:tc>
                  <a:txBody>
                    <a:bodyPr/>
                    <a:lstStyle/>
                    <a:p>
                      <a:r>
                        <a:rPr lang="ru-RU" sz="1050" dirty="0" err="1">
                          <a:latin typeface="Aptos Display" panose="020B0004020202020204" pitchFamily="34" charset="0"/>
                        </a:rPr>
                        <a:t>Окт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dirty="0">
                          <a:latin typeface="Aptos Display" panose="020B0004020202020204" pitchFamily="34" charset="0"/>
                        </a:rPr>
                        <a:t>13800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3031553240"/>
                  </a:ext>
                </a:extLst>
              </a:tr>
              <a:tr h="138109"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Aptos Display" panose="020B0004020202020204" pitchFamily="34" charset="0"/>
                        </a:rPr>
                        <a:t>Ноя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dirty="0">
                          <a:latin typeface="Aptos Display" panose="020B0004020202020204" pitchFamily="34" charset="0"/>
                        </a:rPr>
                        <a:t>15000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506162107"/>
                  </a:ext>
                </a:extLst>
              </a:tr>
              <a:tr h="138109">
                <a:tc>
                  <a:txBody>
                    <a:bodyPr/>
                    <a:lstStyle/>
                    <a:p>
                      <a:r>
                        <a:rPr lang="ru-RU" sz="1050" dirty="0">
                          <a:latin typeface="Aptos Display" panose="020B0004020202020204" pitchFamily="34" charset="0"/>
                        </a:rPr>
                        <a:t>Дек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dirty="0">
                          <a:latin typeface="Aptos Display" panose="020B0004020202020204" pitchFamily="34" charset="0"/>
                        </a:rPr>
                        <a:t>14500</a:t>
                      </a:r>
                      <a:endParaRPr lang="en-US" sz="1050" dirty="0">
                        <a:latin typeface="Aptos Display" panose="020B0004020202020204" pitchFamily="34" charset="0"/>
                      </a:endParaRPr>
                    </a:p>
                  </a:txBody>
                  <a:tcPr marL="45720" marR="45720" marT="18000" marB="18000"/>
                </a:tc>
                <a:extLst>
                  <a:ext uri="{0D108BD9-81ED-4DB2-BD59-A6C34878D82A}">
                    <a16:rowId xmlns:a16="http://schemas.microsoft.com/office/drawing/2014/main" val="1019423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247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5798A0-1C2C-8FD9-E57D-0486D4F91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E406E-9250-6A46-DD82-507DCA21A8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707654"/>
            <a:ext cx="8541643" cy="266509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ru-RU" u="sng" dirty="0"/>
              <a:t>Записью</a:t>
            </a:r>
            <a:r>
              <a:rPr lang="ru-RU" dirty="0"/>
              <a:t> называется </a:t>
            </a:r>
            <a:r>
              <a:rPr lang="ru-RU" i="1" dirty="0">
                <a:solidFill>
                  <a:schemeClr val="accent1"/>
                </a:solidFill>
              </a:rPr>
              <a:t>совокупность агрегатов </a:t>
            </a:r>
            <a:r>
              <a:rPr lang="ru-RU" dirty="0"/>
              <a:t>или </a:t>
            </a:r>
            <a:r>
              <a:rPr lang="ru-RU" i="1" dirty="0">
                <a:solidFill>
                  <a:schemeClr val="accent1"/>
                </a:solidFill>
              </a:rPr>
              <a:t>элементов данных</a:t>
            </a:r>
            <a:r>
              <a:rPr lang="ru-RU" dirty="0"/>
              <a:t>, моделирующая объект из некоторого класса объектов реального мира.</a:t>
            </a:r>
          </a:p>
          <a:p>
            <a:pPr>
              <a:lnSpc>
                <a:spcPct val="120000"/>
              </a:lnSpc>
            </a:pPr>
            <a:r>
              <a:rPr lang="ru-RU" dirty="0"/>
              <a:t>Понятие записи соответствует понятию "сегмент" в иерархической модели. </a:t>
            </a:r>
          </a:p>
          <a:p>
            <a:pPr>
              <a:lnSpc>
                <a:spcPct val="120000"/>
              </a:lnSpc>
            </a:pPr>
            <a:r>
              <a:rPr lang="ru-RU" dirty="0"/>
              <a:t>Для записи, так же как и для сегмента, вводятся понятия </a:t>
            </a:r>
            <a:r>
              <a:rPr lang="ru-RU" sz="2100" b="1" i="1" dirty="0">
                <a:solidFill>
                  <a:schemeClr val="accent1"/>
                </a:solidFill>
                <a:cs typeface="Times New Roman" pitchFamily="18" charset="0"/>
              </a:rPr>
              <a:t>типа записи </a:t>
            </a:r>
            <a:r>
              <a:rPr lang="ru-RU" dirty="0"/>
              <a:t>и </a:t>
            </a:r>
            <a:r>
              <a:rPr lang="ru-RU" sz="2100" b="1" i="1" dirty="0">
                <a:solidFill>
                  <a:schemeClr val="accent1"/>
                </a:solidFill>
                <a:cs typeface="Times New Roman" pitchFamily="18" charset="0"/>
              </a:rPr>
              <a:t>экземпляра записи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</a:pPr>
            <a:r>
              <a:rPr lang="ru-RU" dirty="0"/>
              <a:t>При моделировании реального мира могут быть варианты, что определить как тип записи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8C803-E115-DFC8-8EED-488CE7C29E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Запись данных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7BAD0E2-3EE7-C909-FECF-F76E5D09A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370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1666D-810B-C3E3-2FCC-3B044978C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6E58B0-333F-B136-CCED-F46FA2C77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D0F3A-EFE5-6D59-E0D2-682037F7A0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879714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RECORD NAME IS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СЛУЖАЩИЙ;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НОМЕР-СЛУЖ;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9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8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ФАМИЛИЯ-СЛУЖ;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14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ДАТА-РОЖДЕНИЯ;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9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6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ЧИСЛО-СПЕЦ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TYPE IS DECIMAL FIXED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ОБРАЗОВАНИЕ;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OCCURS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ЧИСЛО-СПЕЦ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TIMES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03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СПЕЦИАЛЬНОСТЬ;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X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5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); </a:t>
            </a:r>
            <a:b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CHECK IS VALUE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Б.Ф.,М.Ф.,Б.М.И.,М.М.И., … Б.И.,М.И.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03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ДАТА-ЗАВЕРШ;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9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6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);</a:t>
            </a:r>
            <a:b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CHECK IS VALUE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130101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THRU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960101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03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УЧЕБНОЕ-ЗАВЕД;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X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(14);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37801-849C-DF27-C11A-E5CD94CAEF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Пример. Описание Сотрудника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2275FA-B8F1-2ABB-4554-01DEC1A2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053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0A2B-5044-5C2F-E314-8118FFD3A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FB93C0-4104-4EC6-1181-34A33A4E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47001-587D-F877-A910-E7C6404887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707654"/>
            <a:ext cx="5104101" cy="309634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ru-RU" sz="2000" kern="0" dirty="0"/>
              <a:t>Набором называется отношение «</a:t>
            </a:r>
            <a:r>
              <a:rPr lang="ru-RU" sz="2000" b="1" kern="0" dirty="0">
                <a:solidFill>
                  <a:schemeClr val="accent1"/>
                </a:solidFill>
              </a:rPr>
              <a:t>один-ко-многим</a:t>
            </a:r>
            <a:r>
              <a:rPr lang="ru-RU" sz="2000" kern="0" dirty="0"/>
              <a:t>», связывающее записи разных типов.</a:t>
            </a:r>
          </a:p>
          <a:p>
            <a:pPr>
              <a:lnSpc>
                <a:spcPct val="100000"/>
              </a:lnSpc>
            </a:pPr>
            <a:r>
              <a:rPr lang="ru-RU" sz="2000" kern="0" dirty="0">
                <a:solidFill>
                  <a:schemeClr val="accent1"/>
                </a:solidFill>
              </a:rPr>
              <a:t>Тип набора (тип связи) </a:t>
            </a:r>
            <a:r>
              <a:rPr lang="ru-RU" sz="2000" kern="0" dirty="0"/>
              <a:t>отражает иерархическую связь между </a:t>
            </a:r>
            <a:r>
              <a:rPr lang="ru-RU" sz="2000" kern="0" dirty="0">
                <a:solidFill>
                  <a:schemeClr val="accent1"/>
                </a:solidFill>
              </a:rPr>
              <a:t>двумя или более типами записей</a:t>
            </a:r>
            <a:r>
              <a:rPr lang="ru-RU" sz="2000" kern="0" dirty="0"/>
              <a:t>. </a:t>
            </a:r>
          </a:p>
          <a:p>
            <a:pPr>
              <a:lnSpc>
                <a:spcPct val="100000"/>
              </a:lnSpc>
            </a:pPr>
            <a:r>
              <a:rPr lang="ru-RU" sz="2000" kern="0" dirty="0">
                <a:solidFill>
                  <a:schemeClr val="accent1"/>
                </a:solidFill>
              </a:rPr>
              <a:t>Родительский тип записи (предок)</a:t>
            </a:r>
            <a:r>
              <a:rPr lang="ru-RU" sz="2000" kern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ru-RU" sz="2000" kern="0" dirty="0"/>
              <a:t>в данном наборе называется </a:t>
            </a:r>
            <a:r>
              <a:rPr lang="ru-RU" sz="2000" b="1" u="sng" kern="0" dirty="0">
                <a:solidFill>
                  <a:srgbClr val="3333FF"/>
                </a:solidFill>
              </a:rPr>
              <a:t>владельцем</a:t>
            </a:r>
            <a:r>
              <a:rPr lang="ru-RU" sz="2000" b="1" u="sng" kern="0" dirty="0">
                <a:solidFill>
                  <a:srgbClr val="7030A0"/>
                </a:solidFill>
              </a:rPr>
              <a:t> набора</a:t>
            </a:r>
          </a:p>
          <a:p>
            <a:pPr>
              <a:lnSpc>
                <a:spcPct val="100000"/>
              </a:lnSpc>
            </a:pPr>
            <a:r>
              <a:rPr lang="ru-RU" sz="2000" kern="0" dirty="0">
                <a:solidFill>
                  <a:srgbClr val="008000"/>
                </a:solidFill>
              </a:rPr>
              <a:t>Дочерние типы</a:t>
            </a:r>
            <a:r>
              <a:rPr lang="en-US" sz="2000" kern="0" dirty="0">
                <a:solidFill>
                  <a:srgbClr val="008000"/>
                </a:solidFill>
              </a:rPr>
              <a:t> </a:t>
            </a:r>
            <a:r>
              <a:rPr lang="ru-RU" sz="2000" kern="0" dirty="0">
                <a:solidFill>
                  <a:srgbClr val="008000"/>
                </a:solidFill>
              </a:rPr>
              <a:t>записи (потомки) ) </a:t>
            </a:r>
            <a:r>
              <a:rPr lang="ru-RU" sz="2000" kern="0" dirty="0"/>
              <a:t>— </a:t>
            </a:r>
            <a:r>
              <a:rPr lang="ru-RU" sz="2000" b="1" u="sng" kern="0" dirty="0">
                <a:solidFill>
                  <a:srgbClr val="008000"/>
                </a:solidFill>
              </a:rPr>
              <a:t>членом (</a:t>
            </a:r>
            <a:r>
              <a:rPr lang="en-US" sz="2000" b="1" u="sng" kern="0" dirty="0">
                <a:solidFill>
                  <a:srgbClr val="008000"/>
                </a:solidFill>
              </a:rPr>
              <a:t>-</a:t>
            </a:r>
            <a:r>
              <a:rPr lang="ru-RU" sz="2000" b="1" u="sng" kern="0" dirty="0">
                <a:solidFill>
                  <a:srgbClr val="008000"/>
                </a:solidFill>
              </a:rPr>
              <a:t>нами)</a:t>
            </a:r>
            <a:r>
              <a:rPr lang="ru-RU" sz="2000" kern="0" dirty="0"/>
              <a:t> того же </a:t>
            </a:r>
            <a:r>
              <a:rPr lang="ru-RU" sz="2000" b="1" u="sng" kern="0" dirty="0">
                <a:solidFill>
                  <a:srgbClr val="7030A0"/>
                </a:solidFill>
              </a:rPr>
              <a:t>набора</a:t>
            </a:r>
            <a:r>
              <a:rPr lang="ru-RU" sz="2000" kern="0" dirty="0"/>
              <a:t>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21973-43E1-463D-F339-4CDB25F62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Набор данных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DEEE25-9217-3F29-8EE7-BAAF4792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0CDE81-B41C-68AD-0FAF-2B99283B52A7}"/>
              </a:ext>
            </a:extLst>
          </p:cNvPr>
          <p:cNvGrpSpPr/>
          <p:nvPr/>
        </p:nvGrpSpPr>
        <p:grpSpPr>
          <a:xfrm>
            <a:off x="5580358" y="1821709"/>
            <a:ext cx="3534782" cy="2005739"/>
            <a:chOff x="1747059" y="-1861706"/>
            <a:chExt cx="4578721" cy="416068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09AF39B-A83D-AE0F-8212-5DA2B222F4BF}"/>
                </a:ext>
              </a:extLst>
            </p:cNvPr>
            <p:cNvSpPr txBox="1"/>
            <p:nvPr/>
          </p:nvSpPr>
          <p:spPr>
            <a:xfrm>
              <a:off x="2095103" y="-1106688"/>
              <a:ext cx="1796949" cy="57460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1200" dirty="0">
                  <a:solidFill>
                    <a:srgbClr val="3333FF"/>
                  </a:solidFill>
                </a:rPr>
                <a:t>Запись типа А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F6EA9D-CDB7-95B7-BF62-83372AB9636A}"/>
                </a:ext>
              </a:extLst>
            </p:cNvPr>
            <p:cNvSpPr txBox="1"/>
            <p:nvPr/>
          </p:nvSpPr>
          <p:spPr>
            <a:xfrm>
              <a:off x="1747059" y="1756299"/>
              <a:ext cx="1593930" cy="54268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1050" dirty="0">
                  <a:solidFill>
                    <a:srgbClr val="008000"/>
                  </a:solidFill>
                </a:rPr>
                <a:t>Запись типа </a:t>
              </a:r>
              <a:r>
                <a:rPr lang="en-US" sz="1050" dirty="0">
                  <a:solidFill>
                    <a:srgbClr val="008000"/>
                  </a:solidFill>
                </a:rPr>
                <a:t>B</a:t>
              </a:r>
              <a:endParaRPr lang="ru-RU" sz="1050" dirty="0">
                <a:solidFill>
                  <a:srgbClr val="008000"/>
                </a:solidFill>
              </a:endParaRPr>
            </a:p>
          </p:txBody>
        </p:sp>
        <p:cxnSp>
          <p:nvCxnSpPr>
            <p:cNvPr id="8" name="Прямая со стрелкой 4">
              <a:extLst>
                <a:ext uri="{FF2B5EF4-FFF2-40B4-BE49-F238E27FC236}">
                  <a16:creationId xmlns:a16="http://schemas.microsoft.com/office/drawing/2014/main" id="{644D7713-635D-B146-B321-F2CE79B45FAB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 flipH="1">
              <a:off x="2544024" y="-532084"/>
              <a:ext cx="449553" cy="2288383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BB3C366-C14A-B13E-A237-302744EA298F}"/>
                </a:ext>
              </a:extLst>
            </p:cNvPr>
            <p:cNvSpPr txBox="1"/>
            <p:nvPr/>
          </p:nvSpPr>
          <p:spPr>
            <a:xfrm>
              <a:off x="3953003" y="-1049230"/>
              <a:ext cx="2372777" cy="542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050" dirty="0">
                  <a:solidFill>
                    <a:srgbClr val="3333FF"/>
                  </a:solidFill>
                </a:rPr>
                <a:t>Владелец</a:t>
              </a:r>
              <a:r>
                <a:rPr lang="ru-RU" sz="1050" dirty="0"/>
                <a:t> </a:t>
              </a:r>
              <a:r>
                <a:rPr lang="ru-RU" sz="1050" dirty="0">
                  <a:solidFill>
                    <a:srgbClr val="7030A0"/>
                  </a:solidFill>
                </a:rPr>
                <a:t>набора </a:t>
              </a:r>
              <a:r>
                <a:rPr lang="en-US" sz="1050" dirty="0">
                  <a:solidFill>
                    <a:srgbClr val="7030A0"/>
                  </a:solidFill>
                </a:rPr>
                <a:t>N</a:t>
              </a:r>
              <a:endParaRPr lang="ru-RU" sz="1050" dirty="0">
                <a:solidFill>
                  <a:srgbClr val="7030A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4DDD29-FDE6-F660-4991-2E1F9C92C03E}"/>
                </a:ext>
              </a:extLst>
            </p:cNvPr>
            <p:cNvSpPr txBox="1"/>
            <p:nvPr/>
          </p:nvSpPr>
          <p:spPr>
            <a:xfrm>
              <a:off x="3927444" y="1442330"/>
              <a:ext cx="1978010" cy="574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>
                  <a:solidFill>
                    <a:srgbClr val="008000"/>
                  </a:solidFill>
                </a:rPr>
                <a:t>Члены</a:t>
              </a:r>
              <a:r>
                <a:rPr lang="ru-RU" sz="1200" dirty="0"/>
                <a:t> </a:t>
              </a:r>
              <a:r>
                <a:rPr lang="ru-RU" sz="1200" dirty="0">
                  <a:solidFill>
                    <a:srgbClr val="7030A0"/>
                  </a:solidFill>
                </a:rPr>
                <a:t>набора </a:t>
              </a:r>
              <a:r>
                <a:rPr lang="en-US" sz="1200" dirty="0">
                  <a:solidFill>
                    <a:srgbClr val="7030A0"/>
                  </a:solidFill>
                </a:rPr>
                <a:t>N</a:t>
              </a:r>
              <a:endParaRPr lang="ru-RU" sz="1200" dirty="0">
                <a:solidFill>
                  <a:srgbClr val="7030A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BA29604-B3F4-9170-ECBC-B47586E7D433}"/>
                </a:ext>
              </a:extLst>
            </p:cNvPr>
            <p:cNvSpPr txBox="1"/>
            <p:nvPr/>
          </p:nvSpPr>
          <p:spPr>
            <a:xfrm>
              <a:off x="3010784" y="-1861706"/>
              <a:ext cx="1137345" cy="574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>
                  <a:solidFill>
                    <a:srgbClr val="7030A0"/>
                  </a:solidFill>
                </a:rPr>
                <a:t>Набор </a:t>
              </a:r>
              <a:r>
                <a:rPr lang="en-US" sz="1200" dirty="0">
                  <a:solidFill>
                    <a:srgbClr val="7030A0"/>
                  </a:solidFill>
                </a:rPr>
                <a:t>N</a:t>
              </a:r>
              <a:endParaRPr lang="ru-RU" sz="1200" dirty="0">
                <a:solidFill>
                  <a:srgbClr val="7030A0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AE70E87-1246-752B-ADB9-6CD9386600FB}"/>
                </a:ext>
              </a:extLst>
            </p:cNvPr>
            <p:cNvSpPr txBox="1"/>
            <p:nvPr/>
          </p:nvSpPr>
          <p:spPr>
            <a:xfrm>
              <a:off x="3130478" y="703033"/>
              <a:ext cx="1694317" cy="54268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1050" dirty="0">
                  <a:solidFill>
                    <a:srgbClr val="008000"/>
                  </a:solidFill>
                </a:rPr>
                <a:t>Запись типа С</a:t>
              </a:r>
            </a:p>
          </p:txBody>
        </p:sp>
        <p:cxnSp>
          <p:nvCxnSpPr>
            <p:cNvPr id="13" name="Прямая со стрелкой 15">
              <a:extLst>
                <a:ext uri="{FF2B5EF4-FFF2-40B4-BE49-F238E27FC236}">
                  <a16:creationId xmlns:a16="http://schemas.microsoft.com/office/drawing/2014/main" id="{71DF5B04-82C9-65CB-1092-3EE5E7F61A92}"/>
                </a:ext>
              </a:extLst>
            </p:cNvPr>
            <p:cNvCxnSpPr>
              <a:cxnSpLocks/>
              <a:stCxn id="6" idx="2"/>
              <a:endCxn id="12" idx="0"/>
            </p:cNvCxnSpPr>
            <p:nvPr/>
          </p:nvCxnSpPr>
          <p:spPr>
            <a:xfrm>
              <a:off x="2993577" y="-532084"/>
              <a:ext cx="984060" cy="1235117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5425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4F3F7-285D-0FD7-5313-0218F3A81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5CA5F2-D940-7F47-7E35-EC354090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F42A1-44C3-9890-F7F1-FD44B45EB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707654"/>
            <a:ext cx="5104101" cy="309634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0000"/>
              </a:lnSpc>
            </a:pPr>
            <a:r>
              <a:rPr lang="ru-RU" sz="2400" kern="0" dirty="0"/>
              <a:t>Сотрудник описывается двумя типами записей и набором. </a:t>
            </a:r>
          </a:p>
          <a:p>
            <a:pPr>
              <a:lnSpc>
                <a:spcPct val="100000"/>
              </a:lnSpc>
            </a:pPr>
            <a:r>
              <a:rPr lang="ru-RU" sz="2400" kern="0" dirty="0"/>
              <a:t>Запись </a:t>
            </a:r>
            <a:r>
              <a:rPr lang="ru-RU" sz="2400" kern="0" dirty="0">
                <a:solidFill>
                  <a:schemeClr val="accent1"/>
                </a:solidFill>
              </a:rPr>
              <a:t>СЛУЖАЩИЙ</a:t>
            </a:r>
            <a:r>
              <a:rPr lang="ru-RU" sz="2400" kern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ru-RU" sz="2400" kern="0" dirty="0"/>
              <a:t>содержит поля:</a:t>
            </a:r>
          </a:p>
          <a:p>
            <a:pPr marL="357188" lvl="1" indent="0">
              <a:lnSpc>
                <a:spcPct val="100000"/>
              </a:lnSpc>
              <a:buClr>
                <a:srgbClr val="FF0000"/>
              </a:buClr>
              <a:buNone/>
            </a:pPr>
            <a:r>
              <a:rPr lang="ru-RU" sz="2000" kern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НОМЕР-СЛУЖ</a:t>
            </a:r>
            <a:endParaRPr lang="en-US" sz="2000" kern="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357188" lvl="1" indent="0">
              <a:lnSpc>
                <a:spcPct val="100000"/>
              </a:lnSpc>
              <a:buClr>
                <a:srgbClr val="FF0000"/>
              </a:buClr>
              <a:buNone/>
            </a:pPr>
            <a:r>
              <a:rPr lang="ru-RU" sz="2000" kern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ФАМИЛИЯ-СЛУЖ</a:t>
            </a:r>
          </a:p>
          <a:p>
            <a:pPr marL="357188" lvl="1" indent="0">
              <a:lnSpc>
                <a:spcPct val="100000"/>
              </a:lnSpc>
              <a:buClr>
                <a:srgbClr val="FF0000"/>
              </a:buClr>
              <a:buNone/>
            </a:pPr>
            <a:r>
              <a:rPr lang="ru-RU" sz="2000" kern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ДАТА-РОЖДЕНИЯ</a:t>
            </a:r>
          </a:p>
          <a:p>
            <a:pPr marL="357188" lvl="1" indent="0">
              <a:lnSpc>
                <a:spcPct val="100000"/>
              </a:lnSpc>
              <a:buClr>
                <a:srgbClr val="FF0000"/>
              </a:buClr>
              <a:buNone/>
            </a:pPr>
            <a:r>
              <a:rPr lang="ru-RU" sz="2000" kern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ЧИСЛО-СПЕЦ</a:t>
            </a:r>
          </a:p>
          <a:p>
            <a:pPr marL="0" indent="0">
              <a:lnSpc>
                <a:spcPct val="100000"/>
              </a:lnSpc>
            </a:pPr>
            <a:r>
              <a:rPr lang="ru-RU" sz="2400" kern="0" dirty="0"/>
              <a:t> Запись </a:t>
            </a:r>
            <a:r>
              <a:rPr lang="ru-RU" sz="2400" kern="0" dirty="0">
                <a:solidFill>
                  <a:srgbClr val="008000"/>
                </a:solidFill>
              </a:rPr>
              <a:t>ОБРАЗОВАНИЕ</a:t>
            </a:r>
            <a:r>
              <a:rPr lang="ru-RU" sz="2400" kern="0" dirty="0"/>
              <a:t> содержит поля:</a:t>
            </a:r>
          </a:p>
          <a:p>
            <a:pPr marL="357188" lvl="1" indent="0">
              <a:lnSpc>
                <a:spcPct val="100000"/>
              </a:lnSpc>
              <a:buClr>
                <a:srgbClr val="FF0000"/>
              </a:buClr>
              <a:buNone/>
            </a:pPr>
            <a:r>
              <a:rPr lang="ru-RU" sz="2100" kern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СПЕЦИАЛЬНОСТЬ</a:t>
            </a:r>
          </a:p>
          <a:p>
            <a:pPr marL="357188" lvl="1" indent="0">
              <a:lnSpc>
                <a:spcPct val="100000"/>
              </a:lnSpc>
              <a:buClr>
                <a:srgbClr val="FF0000"/>
              </a:buClr>
              <a:buNone/>
            </a:pPr>
            <a:r>
              <a:rPr lang="ru-RU" sz="2100" kern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ДАТА-ЗАВЕРШ</a:t>
            </a:r>
          </a:p>
          <a:p>
            <a:pPr marL="357188" lvl="1" indent="0">
              <a:lnSpc>
                <a:spcPct val="100000"/>
              </a:lnSpc>
              <a:buClr>
                <a:srgbClr val="FF0000"/>
              </a:buClr>
              <a:buNone/>
            </a:pPr>
            <a:r>
              <a:rPr lang="ru-RU" sz="2100" kern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УЧЕБНОЕ-ЗАВЕД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4CBB2-263D-A35B-CF04-8D139B2C13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Пример. Описание Сотрудника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2F1D01-D685-10C0-3912-DC72C9203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6C069DF-EB2A-BE1F-4C2D-C1AE010E5346}"/>
              </a:ext>
            </a:extLst>
          </p:cNvPr>
          <p:cNvGrpSpPr/>
          <p:nvPr/>
        </p:nvGrpSpPr>
        <p:grpSpPr>
          <a:xfrm>
            <a:off x="5312874" y="1707654"/>
            <a:ext cx="3435591" cy="2311049"/>
            <a:chOff x="1747059" y="-1879214"/>
            <a:chExt cx="4450235" cy="479401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7146B1B-49E6-F34D-95F2-A5D71C9B26D3}"/>
                </a:ext>
              </a:extLst>
            </p:cNvPr>
            <p:cNvSpPr txBox="1"/>
            <p:nvPr/>
          </p:nvSpPr>
          <p:spPr>
            <a:xfrm>
              <a:off x="2095103" y="-1106688"/>
              <a:ext cx="1796949" cy="57460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200" dirty="0">
                  <a:solidFill>
                    <a:srgbClr val="3333FF"/>
                  </a:solidFill>
                </a:rPr>
                <a:t>Служащий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9EE71A1-48D9-8B32-1EC4-185F2DEBD00B}"/>
                </a:ext>
              </a:extLst>
            </p:cNvPr>
            <p:cNvSpPr txBox="1"/>
            <p:nvPr/>
          </p:nvSpPr>
          <p:spPr>
            <a:xfrm>
              <a:off x="1747059" y="1756299"/>
              <a:ext cx="1593930" cy="54268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1050" dirty="0">
                  <a:solidFill>
                    <a:srgbClr val="008000"/>
                  </a:solidFill>
                </a:rPr>
                <a:t>Образование</a:t>
              </a:r>
            </a:p>
          </p:txBody>
        </p:sp>
        <p:cxnSp>
          <p:nvCxnSpPr>
            <p:cNvPr id="8" name="Прямая со стрелкой 4">
              <a:extLst>
                <a:ext uri="{FF2B5EF4-FFF2-40B4-BE49-F238E27FC236}">
                  <a16:creationId xmlns:a16="http://schemas.microsoft.com/office/drawing/2014/main" id="{CCF127A2-E05F-50E8-54C5-3011DA2F370F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 flipH="1">
              <a:off x="2544024" y="-532084"/>
              <a:ext cx="449553" cy="2288383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ACD16-F7ED-F7B5-F1C5-35D486E8017F}"/>
                </a:ext>
              </a:extLst>
            </p:cNvPr>
            <p:cNvSpPr txBox="1"/>
            <p:nvPr/>
          </p:nvSpPr>
          <p:spPr>
            <a:xfrm>
              <a:off x="3953003" y="-1049230"/>
              <a:ext cx="2244291" cy="5426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050" dirty="0">
                  <a:solidFill>
                    <a:srgbClr val="3333FF"/>
                  </a:solidFill>
                </a:rPr>
                <a:t>Владелец</a:t>
              </a:r>
              <a:r>
                <a:rPr lang="ru-RU" sz="1050" dirty="0"/>
                <a:t> </a:t>
              </a:r>
              <a:r>
                <a:rPr lang="ru-RU" sz="1050" dirty="0">
                  <a:solidFill>
                    <a:srgbClr val="7030A0"/>
                  </a:solidFill>
                </a:rPr>
                <a:t>набора СО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6860989-9715-7AB3-6AE8-B6B02E6BDCF0}"/>
                </a:ext>
              </a:extLst>
            </p:cNvPr>
            <p:cNvSpPr txBox="1"/>
            <p:nvPr/>
          </p:nvSpPr>
          <p:spPr>
            <a:xfrm>
              <a:off x="1869623" y="2340200"/>
              <a:ext cx="2208975" cy="574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>
                  <a:solidFill>
                    <a:srgbClr val="008000"/>
                  </a:solidFill>
                </a:rPr>
                <a:t>Члены</a:t>
              </a:r>
              <a:r>
                <a:rPr lang="ru-RU" sz="1200" dirty="0"/>
                <a:t> </a:t>
              </a:r>
              <a:r>
                <a:rPr lang="ru-RU" sz="1200" dirty="0">
                  <a:solidFill>
                    <a:srgbClr val="7030A0"/>
                  </a:solidFill>
                </a:rPr>
                <a:t>набора СО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A5D8E7-C31E-4027-324A-0C2AE7439D1C}"/>
                </a:ext>
              </a:extLst>
            </p:cNvPr>
            <p:cNvSpPr txBox="1"/>
            <p:nvPr/>
          </p:nvSpPr>
          <p:spPr>
            <a:xfrm>
              <a:off x="3050382" y="-1879214"/>
              <a:ext cx="1805240" cy="5746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>
                  <a:solidFill>
                    <a:srgbClr val="7030A0"/>
                  </a:solidFill>
                </a:rPr>
                <a:t>Набор СО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3227F3-5C53-4217-C70F-DE4DB934ED5D}"/>
                </a:ext>
              </a:extLst>
            </p:cNvPr>
            <p:cNvSpPr txBox="1"/>
            <p:nvPr/>
          </p:nvSpPr>
          <p:spPr>
            <a:xfrm>
              <a:off x="3854535" y="716948"/>
              <a:ext cx="1694317" cy="54268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50" dirty="0">
                  <a:solidFill>
                    <a:srgbClr val="008000"/>
                  </a:solidFill>
                </a:rPr>
                <a:t>Должность</a:t>
              </a:r>
            </a:p>
          </p:txBody>
        </p:sp>
        <p:cxnSp>
          <p:nvCxnSpPr>
            <p:cNvPr id="13" name="Прямая со стрелкой 15">
              <a:extLst>
                <a:ext uri="{FF2B5EF4-FFF2-40B4-BE49-F238E27FC236}">
                  <a16:creationId xmlns:a16="http://schemas.microsoft.com/office/drawing/2014/main" id="{C2266C43-E992-A446-43FF-C82F3A2D61F1}"/>
                </a:ext>
              </a:extLst>
            </p:cNvPr>
            <p:cNvCxnSpPr>
              <a:cxnSpLocks/>
              <a:stCxn id="6" idx="2"/>
              <a:endCxn id="12" idx="0"/>
            </p:cNvCxnSpPr>
            <p:nvPr/>
          </p:nvCxnSpPr>
          <p:spPr>
            <a:xfrm>
              <a:off x="2993578" y="-532084"/>
              <a:ext cx="1708116" cy="1249032"/>
            </a:xfrm>
            <a:prstGeom prst="straightConnector1">
              <a:avLst/>
            </a:prstGeom>
            <a:ln>
              <a:prstDash val="dash"/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4567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B4D66-C93E-A43A-CE5B-8114E5072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E2BCC5-673F-4A0C-DFEA-B5288C091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42982-0547-D267-351C-05BF226D4A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52107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Тип записи может быть </a:t>
            </a:r>
            <a:r>
              <a:rPr lang="ru-RU" dirty="0">
                <a:solidFill>
                  <a:srgbClr val="C00000"/>
                </a:solidFill>
              </a:rPr>
              <a:t>одновременно</a:t>
            </a:r>
            <a:r>
              <a:rPr lang="ru-RU" dirty="0"/>
              <a:t> </a:t>
            </a:r>
            <a:r>
              <a:rPr lang="ru-RU" dirty="0">
                <a:solidFill>
                  <a:schemeClr val="accent1"/>
                </a:solidFill>
              </a:rPr>
              <a:t>владельцем и членом нескольких типов наборов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Между </a:t>
            </a:r>
            <a:r>
              <a:rPr lang="ru-RU" dirty="0">
                <a:solidFill>
                  <a:srgbClr val="C00000"/>
                </a:solidFill>
              </a:rPr>
              <a:t>двумя типами записей </a:t>
            </a:r>
            <a:r>
              <a:rPr lang="ru-RU" dirty="0"/>
              <a:t>может быть определено </a:t>
            </a:r>
            <a:r>
              <a:rPr lang="ru-RU" dirty="0">
                <a:solidFill>
                  <a:srgbClr val="C00000"/>
                </a:solidFill>
              </a:rPr>
              <a:t>любое количество типов наборов</a:t>
            </a:r>
            <a:r>
              <a:rPr lang="ru-RU" dirty="0"/>
              <a:t>. </a:t>
            </a:r>
            <a:endParaRPr lang="ru-RU" dirty="0">
              <a:solidFill>
                <a:schemeClr val="accent1"/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База данных может содержать любое число типов набора и типов записей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Допускаются циклические структуры. </a:t>
            </a:r>
            <a:br>
              <a:rPr lang="ru-RU" dirty="0"/>
            </a:br>
            <a:r>
              <a:rPr lang="ru-RU" dirty="0"/>
              <a:t>То есть в одном наборе тип записи X может быть </a:t>
            </a:r>
            <a:r>
              <a:rPr lang="ru-RU" dirty="0">
                <a:solidFill>
                  <a:schemeClr val="accent1"/>
                </a:solidFill>
              </a:rPr>
              <a:t>владельцем</a:t>
            </a:r>
            <a:r>
              <a:rPr lang="ru-RU" dirty="0"/>
              <a:t>  и тип записи Y </a:t>
            </a:r>
            <a:r>
              <a:rPr lang="ru-RU" dirty="0">
                <a:solidFill>
                  <a:schemeClr val="accent1"/>
                </a:solidFill>
              </a:rPr>
              <a:t>членом</a:t>
            </a:r>
            <a:r>
              <a:rPr lang="ru-RU" dirty="0"/>
              <a:t>,  а в другом наборе – наоборот. </a:t>
            </a:r>
          </a:p>
          <a:p>
            <a:pPr indent="0"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AFE10-C48C-99FA-C2CB-EE31B70F95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Свойства наборов данных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CCADC6-EB71-C0EE-A31C-06C80DE17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7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8349F-77F0-066A-F867-B17C395FB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320C8B-8AFC-CDC3-92F1-1392FF887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279C7-A01A-DE4E-D4F5-CA1BF12C69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Свойства наборов данных. Примеры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CB30E8-722E-C1D7-A4A3-EEF5058D0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</a:t>
            </a:r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13ABA86-871D-E47B-27FF-47255D70F0FF}"/>
              </a:ext>
            </a:extLst>
          </p:cNvPr>
          <p:cNvGrpSpPr/>
          <p:nvPr/>
        </p:nvGrpSpPr>
        <p:grpSpPr>
          <a:xfrm>
            <a:off x="24208" y="1995885"/>
            <a:ext cx="2694479" cy="1659484"/>
            <a:chOff x="24208" y="1949393"/>
            <a:chExt cx="2694479" cy="165948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7AE8FC5-B303-7AAF-08EB-103802A1D721}"/>
                </a:ext>
              </a:extLst>
            </p:cNvPr>
            <p:cNvSpPr txBox="1"/>
            <p:nvPr/>
          </p:nvSpPr>
          <p:spPr>
            <a:xfrm>
              <a:off x="1537123" y="2282896"/>
              <a:ext cx="11815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>
                  <a:solidFill>
                    <a:schemeClr val="accent1"/>
                  </a:solidFill>
                </a:rPr>
                <a:t>Исполнение</a:t>
              </a:r>
            </a:p>
          </p:txBody>
        </p:sp>
        <p:sp>
          <p:nvSpPr>
            <p:cNvPr id="8" name="TextBox 2">
              <a:extLst>
                <a:ext uri="{FF2B5EF4-FFF2-40B4-BE49-F238E27FC236}">
                  <a16:creationId xmlns:a16="http://schemas.microsoft.com/office/drawing/2014/main" id="{4FFE5A8B-7C6C-F2E1-74DD-0B6DAD1DA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512" y="1949393"/>
              <a:ext cx="1383788" cy="276999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200" dirty="0"/>
                <a:t>ТОВАР</a:t>
              </a:r>
            </a:p>
          </p:txBody>
        </p:sp>
        <p:sp>
          <p:nvSpPr>
            <p:cNvPr id="9" name="TextBox 2">
              <a:extLst>
                <a:ext uri="{FF2B5EF4-FFF2-40B4-BE49-F238E27FC236}">
                  <a16:creationId xmlns:a16="http://schemas.microsoft.com/office/drawing/2014/main" id="{BB0D5199-43B9-4B0F-5E2E-E14DE1D166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35" y="2610166"/>
              <a:ext cx="1383788" cy="46166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200" dirty="0"/>
                <a:t>СТАТЬЯ -ЗАКАЗА</a:t>
              </a:r>
            </a:p>
          </p:txBody>
        </p:sp>
        <p:cxnSp>
          <p:nvCxnSpPr>
            <p:cNvPr id="10" name="Прямая со стрелкой 3">
              <a:extLst>
                <a:ext uri="{FF2B5EF4-FFF2-40B4-BE49-F238E27FC236}">
                  <a16:creationId xmlns:a16="http://schemas.microsoft.com/office/drawing/2014/main" id="{EFD6DE75-CE74-110E-04EF-2FEF251C0090}"/>
                </a:ext>
              </a:extLst>
            </p:cNvPr>
            <p:cNvCxnSpPr/>
            <p:nvPr/>
          </p:nvCxnSpPr>
          <p:spPr>
            <a:xfrm>
              <a:off x="1531300" y="2237055"/>
              <a:ext cx="0" cy="373111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 стрелкой 11">
              <a:extLst>
                <a:ext uri="{FF2B5EF4-FFF2-40B4-BE49-F238E27FC236}">
                  <a16:creationId xmlns:a16="http://schemas.microsoft.com/office/drawing/2014/main" id="{9F0B34D0-97CD-8180-8F83-E418F6F9878A}"/>
                </a:ext>
              </a:extLst>
            </p:cNvPr>
            <p:cNvCxnSpPr/>
            <p:nvPr/>
          </p:nvCxnSpPr>
          <p:spPr>
            <a:xfrm>
              <a:off x="897159" y="2242702"/>
              <a:ext cx="0" cy="373111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13B748-DA9C-4AA9-AC43-1F00ACCFBC44}"/>
                </a:ext>
              </a:extLst>
            </p:cNvPr>
            <p:cNvSpPr txBox="1"/>
            <p:nvPr/>
          </p:nvSpPr>
          <p:spPr>
            <a:xfrm>
              <a:off x="103687" y="2277701"/>
              <a:ext cx="7809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ru-RU" sz="1200" dirty="0">
                  <a:solidFill>
                    <a:schemeClr val="accent1"/>
                  </a:solidFill>
                </a:rPr>
                <a:t>Заказы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FF9BC-DCF7-E8BD-2EC0-5F1D572497FE}"/>
                </a:ext>
              </a:extLst>
            </p:cNvPr>
            <p:cNvSpPr txBox="1"/>
            <p:nvPr/>
          </p:nvSpPr>
          <p:spPr>
            <a:xfrm>
              <a:off x="24208" y="3177990"/>
              <a:ext cx="221598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100" dirty="0"/>
                <a:t>2 типа набора между</a:t>
              </a:r>
              <a:br>
                <a:rPr lang="ru-RU" sz="1100" dirty="0"/>
              </a:br>
              <a:r>
                <a:rPr lang="ru-RU" sz="1100" dirty="0"/>
                <a:t>2-мя типами записи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D2D4C31-2430-27A8-C138-B330771127C7}"/>
              </a:ext>
            </a:extLst>
          </p:cNvPr>
          <p:cNvSpPr txBox="1"/>
          <p:nvPr/>
        </p:nvSpPr>
        <p:spPr>
          <a:xfrm>
            <a:off x="6056180" y="2281971"/>
            <a:ext cx="905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1"/>
                </a:solidFill>
              </a:rPr>
              <a:t>Заказы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5ED2C1-964A-51DB-681E-5BA4F71C842A}"/>
              </a:ext>
            </a:extLst>
          </p:cNvPr>
          <p:cNvSpPr txBox="1"/>
          <p:nvPr/>
        </p:nvSpPr>
        <p:spPr>
          <a:xfrm>
            <a:off x="7526361" y="2323239"/>
            <a:ext cx="12011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accent1"/>
                </a:solidFill>
              </a:rPr>
              <a:t>Содержит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5F39140-8D0F-354C-B56F-DEB23182BD34}"/>
              </a:ext>
            </a:extLst>
          </p:cNvPr>
          <p:cNvGrpSpPr/>
          <p:nvPr/>
        </p:nvGrpSpPr>
        <p:grpSpPr>
          <a:xfrm>
            <a:off x="6147886" y="1972933"/>
            <a:ext cx="2215987" cy="1647802"/>
            <a:chOff x="4851381" y="1779498"/>
            <a:chExt cx="2215987" cy="1647802"/>
          </a:xfrm>
        </p:grpSpPr>
        <p:sp>
          <p:nvSpPr>
            <p:cNvPr id="15" name="TextBox 2">
              <a:extLst>
                <a:ext uri="{FF2B5EF4-FFF2-40B4-BE49-F238E27FC236}">
                  <a16:creationId xmlns:a16="http://schemas.microsoft.com/office/drawing/2014/main" id="{1ED427F1-1EC1-F7B1-E977-B2EDC5F5A9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4696" y="1779498"/>
              <a:ext cx="1383788" cy="276999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200" dirty="0"/>
                <a:t>ТОВАР</a:t>
              </a:r>
            </a:p>
          </p:txBody>
        </p:sp>
        <p:sp>
          <p:nvSpPr>
            <p:cNvPr id="16" name="TextBox 2">
              <a:extLst>
                <a:ext uri="{FF2B5EF4-FFF2-40B4-BE49-F238E27FC236}">
                  <a16:creationId xmlns:a16="http://schemas.microsoft.com/office/drawing/2014/main" id="{49B601E6-3511-AD8F-F7D0-AAACE8A73E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9819" y="2440271"/>
              <a:ext cx="1383788" cy="46166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200" dirty="0"/>
                <a:t>СТАТЬЯ -ЗАКАЗА</a:t>
              </a:r>
            </a:p>
          </p:txBody>
        </p:sp>
        <p:cxnSp>
          <p:nvCxnSpPr>
            <p:cNvPr id="17" name="Прямая со стрелкой 17">
              <a:extLst>
                <a:ext uri="{FF2B5EF4-FFF2-40B4-BE49-F238E27FC236}">
                  <a16:creationId xmlns:a16="http://schemas.microsoft.com/office/drawing/2014/main" id="{06422950-9918-7478-4162-CC3541C383B6}"/>
                </a:ext>
              </a:extLst>
            </p:cNvPr>
            <p:cNvCxnSpPr/>
            <p:nvPr/>
          </p:nvCxnSpPr>
          <p:spPr>
            <a:xfrm>
              <a:off x="6164484" y="2067160"/>
              <a:ext cx="0" cy="373111"/>
            </a:xfrm>
            <a:prstGeom prst="straightConnector1">
              <a:avLst/>
            </a:prstGeom>
            <a:ln>
              <a:headEnd type="stealth" w="lg" len="lg"/>
              <a:tailEnd type="non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8">
              <a:extLst>
                <a:ext uri="{FF2B5EF4-FFF2-40B4-BE49-F238E27FC236}">
                  <a16:creationId xmlns:a16="http://schemas.microsoft.com/office/drawing/2014/main" id="{F6B1E0C5-8C9F-A716-224F-9B9DCE9E99E3}"/>
                </a:ext>
              </a:extLst>
            </p:cNvPr>
            <p:cNvCxnSpPr/>
            <p:nvPr/>
          </p:nvCxnSpPr>
          <p:spPr>
            <a:xfrm>
              <a:off x="5530343" y="2072808"/>
              <a:ext cx="0" cy="373111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9A7CB9-9E72-27A0-27AA-5AF535AA0918}"/>
                </a:ext>
              </a:extLst>
            </p:cNvPr>
            <p:cNvSpPr txBox="1"/>
            <p:nvPr/>
          </p:nvSpPr>
          <p:spPr>
            <a:xfrm>
              <a:off x="4851381" y="2996413"/>
              <a:ext cx="221598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100" dirty="0"/>
                <a:t>Мини-цикл между</a:t>
              </a:r>
              <a:br>
                <a:rPr lang="ru-RU" sz="1100" dirty="0"/>
              </a:br>
              <a:r>
                <a:rPr lang="ru-RU" sz="1100" dirty="0"/>
                <a:t>2-мя типами записи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2E02E52-D17A-CFE5-25C5-048F4ED5F712}"/>
              </a:ext>
            </a:extLst>
          </p:cNvPr>
          <p:cNvGrpSpPr/>
          <p:nvPr/>
        </p:nvGrpSpPr>
        <p:grpSpPr>
          <a:xfrm>
            <a:off x="2949407" y="1986129"/>
            <a:ext cx="2494081" cy="2143778"/>
            <a:chOff x="2492648" y="1949393"/>
            <a:chExt cx="2494081" cy="214377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6EBE6AC-66C0-557D-7AE2-C13FDD9BDE35}"/>
                </a:ext>
              </a:extLst>
            </p:cNvPr>
            <p:cNvGrpSpPr/>
            <p:nvPr/>
          </p:nvGrpSpPr>
          <p:grpSpPr>
            <a:xfrm>
              <a:off x="3029854" y="1949393"/>
              <a:ext cx="1390254" cy="1819588"/>
              <a:chOff x="3396464" y="3434119"/>
              <a:chExt cx="1390254" cy="1819588"/>
            </a:xfrm>
          </p:grpSpPr>
          <p:sp>
            <p:nvSpPr>
              <p:cNvPr id="22" name="TextBox 2">
                <a:extLst>
                  <a:ext uri="{FF2B5EF4-FFF2-40B4-BE49-F238E27FC236}">
                    <a16:creationId xmlns:a16="http://schemas.microsoft.com/office/drawing/2014/main" id="{19D14F14-BFD8-3141-280E-B3C5A2B37F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2930" y="3434119"/>
                <a:ext cx="1383788" cy="276999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ru-RU" altLang="ru-RU" sz="1200" dirty="0"/>
                  <a:t>ТОВАР</a:t>
                </a:r>
              </a:p>
            </p:txBody>
          </p:sp>
          <p:sp>
            <p:nvSpPr>
              <p:cNvPr id="23" name="TextBox 2">
                <a:extLst>
                  <a:ext uri="{FF2B5EF4-FFF2-40B4-BE49-F238E27FC236}">
                    <a16:creationId xmlns:a16="http://schemas.microsoft.com/office/drawing/2014/main" id="{7E2B8E27-ADE6-96CB-B80C-F8EE5DB332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6464" y="4792042"/>
                <a:ext cx="1383788" cy="461665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ru-RU" altLang="ru-RU" sz="1200" dirty="0"/>
                  <a:t>СТАТЬЯ -ЗАКАЗА</a:t>
                </a:r>
              </a:p>
            </p:txBody>
          </p:sp>
          <p:cxnSp>
            <p:nvCxnSpPr>
              <p:cNvPr id="24" name="Прямая со стрелкой 25">
                <a:extLst>
                  <a:ext uri="{FF2B5EF4-FFF2-40B4-BE49-F238E27FC236}">
                    <a16:creationId xmlns:a16="http://schemas.microsoft.com/office/drawing/2014/main" id="{939EE4E6-2DD5-037B-8A79-42445D077CEB}"/>
                  </a:ext>
                </a:extLst>
              </p:cNvPr>
              <p:cNvCxnSpPr/>
              <p:nvPr/>
            </p:nvCxnSpPr>
            <p:spPr>
              <a:xfrm>
                <a:off x="4075425" y="3725036"/>
                <a:ext cx="0" cy="373111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">
                <a:extLst>
                  <a:ext uri="{FF2B5EF4-FFF2-40B4-BE49-F238E27FC236}">
                    <a16:creationId xmlns:a16="http://schemas.microsoft.com/office/drawing/2014/main" id="{334BCBC5-6D2C-F8BE-4D2F-DECA800001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6464" y="4098938"/>
                <a:ext cx="1383788" cy="276999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defRPr sz="28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ru-RU" altLang="ru-RU" sz="1200" dirty="0"/>
                  <a:t>ЗАКАЗ</a:t>
                </a:r>
              </a:p>
            </p:txBody>
          </p:sp>
          <p:cxnSp>
            <p:nvCxnSpPr>
              <p:cNvPr id="26" name="Прямая со стрелкой 32">
                <a:extLst>
                  <a:ext uri="{FF2B5EF4-FFF2-40B4-BE49-F238E27FC236}">
                    <a16:creationId xmlns:a16="http://schemas.microsoft.com/office/drawing/2014/main" id="{F80FFDED-2A7B-F896-231C-36F88F02DBC0}"/>
                  </a:ext>
                </a:extLst>
              </p:cNvPr>
              <p:cNvCxnSpPr/>
              <p:nvPr/>
            </p:nvCxnSpPr>
            <p:spPr>
              <a:xfrm>
                <a:off x="4075425" y="4403997"/>
                <a:ext cx="0" cy="373111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B40AE1C-1480-AE36-1D29-3E34C10D2BE1}"/>
                </a:ext>
              </a:extLst>
            </p:cNvPr>
            <p:cNvSpPr txBox="1"/>
            <p:nvPr/>
          </p:nvSpPr>
          <p:spPr>
            <a:xfrm>
              <a:off x="3676933" y="2286504"/>
              <a:ext cx="12192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>
                  <a:solidFill>
                    <a:schemeClr val="accent1"/>
                  </a:solidFill>
                </a:rPr>
                <a:t>Товар-Заказ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E725DA4-DE98-E9B5-4FE8-949B1268795A}"/>
                </a:ext>
              </a:extLst>
            </p:cNvPr>
            <p:cNvSpPr txBox="1"/>
            <p:nvPr/>
          </p:nvSpPr>
          <p:spPr>
            <a:xfrm>
              <a:off x="3708815" y="2951323"/>
              <a:ext cx="12779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200" dirty="0">
                  <a:solidFill>
                    <a:schemeClr val="accent1"/>
                  </a:solidFill>
                </a:rPr>
                <a:t>Заказ-Статья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EF2AC62-FF46-3D83-BC78-4AC53B4DF286}"/>
                </a:ext>
              </a:extLst>
            </p:cNvPr>
            <p:cNvSpPr txBox="1"/>
            <p:nvPr/>
          </p:nvSpPr>
          <p:spPr>
            <a:xfrm>
              <a:off x="2492648" y="3831561"/>
              <a:ext cx="247113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100" dirty="0"/>
                <a:t>Иерархическая структура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534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350FE-C450-E4DF-1A69-0E033AAC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19DC22-07E6-8B86-BDBE-828EDAA9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103B9-D536-E1CC-EC6A-337FEADE2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73630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00000"/>
              </a:lnSpc>
              <a:buClr>
                <a:srgbClr val="C00000"/>
              </a:buClr>
            </a:pPr>
            <a:r>
              <a:rPr lang="ru-RU" sz="2400" dirty="0"/>
              <a:t>Наличие подобных возможностей позволяет моделировать отношение "многие-ко-многим" между двумя объектами реального мира, что выгодно отличает сетевую модель от иерархической.</a:t>
            </a:r>
          </a:p>
          <a:p>
            <a:pPr>
              <a:lnSpc>
                <a:spcPct val="100000"/>
              </a:lnSpc>
              <a:buClr>
                <a:srgbClr val="C00000"/>
              </a:buClr>
            </a:pPr>
            <a:r>
              <a:rPr lang="ru-RU" sz="2400" dirty="0"/>
              <a:t>Для данного типа набора </a:t>
            </a:r>
            <a:r>
              <a:rPr lang="en-US" sz="2400" dirty="0"/>
              <a:t>S</a:t>
            </a:r>
            <a:r>
              <a:rPr lang="ru-RU" sz="2400" dirty="0"/>
              <a:t> с типом записи владельца P и типом записи члена C должны выполняться следующие два условия: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</a:pPr>
            <a:r>
              <a:rPr lang="ru-RU" sz="2200" dirty="0"/>
              <a:t>Каждый экземпляр </a:t>
            </a:r>
            <a:r>
              <a:rPr lang="ru-RU" sz="2200" dirty="0">
                <a:solidFill>
                  <a:srgbClr val="3333FF"/>
                </a:solidFill>
              </a:rPr>
              <a:t>типа записи P</a:t>
            </a:r>
            <a:r>
              <a:rPr lang="ru-RU" sz="2200" dirty="0"/>
              <a:t> является </a:t>
            </a:r>
            <a:r>
              <a:rPr lang="ru-RU" sz="2200" dirty="0">
                <a:solidFill>
                  <a:srgbClr val="3333FF"/>
                </a:solidFill>
              </a:rPr>
              <a:t>владельцем</a:t>
            </a:r>
            <a:r>
              <a:rPr lang="ru-RU" sz="2200" dirty="0"/>
              <a:t> </a:t>
            </a:r>
            <a:r>
              <a:rPr lang="ru-RU" sz="2200" dirty="0">
                <a:solidFill>
                  <a:srgbClr val="C00000"/>
                </a:solidFill>
              </a:rPr>
              <a:t>только в одном экземпляре </a:t>
            </a:r>
            <a:r>
              <a:rPr lang="ru-RU" sz="2200" dirty="0"/>
              <a:t>типа </a:t>
            </a:r>
            <a:r>
              <a:rPr lang="ru-RU" sz="2200" dirty="0">
                <a:solidFill>
                  <a:srgbClr val="7030A0"/>
                </a:solidFill>
              </a:rPr>
              <a:t>набора </a:t>
            </a:r>
            <a:r>
              <a:rPr lang="en-US" sz="2200" dirty="0">
                <a:solidFill>
                  <a:srgbClr val="7030A0"/>
                </a:solidFill>
              </a:rPr>
              <a:t>S</a:t>
            </a:r>
            <a:r>
              <a:rPr lang="ru-RU" sz="2200" dirty="0"/>
              <a:t>;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</a:pPr>
            <a:r>
              <a:rPr lang="ru-RU" sz="2200" dirty="0"/>
              <a:t>Каждый экземпляр </a:t>
            </a:r>
            <a:r>
              <a:rPr lang="ru-RU" sz="2200" dirty="0">
                <a:solidFill>
                  <a:srgbClr val="008000"/>
                </a:solidFill>
              </a:rPr>
              <a:t>типа записи C</a:t>
            </a:r>
            <a:r>
              <a:rPr lang="ru-RU" sz="2200" dirty="0"/>
              <a:t> является </a:t>
            </a:r>
            <a:r>
              <a:rPr lang="ru-RU" sz="2200" dirty="0">
                <a:solidFill>
                  <a:srgbClr val="008000"/>
                </a:solidFill>
              </a:rPr>
              <a:t>членом</a:t>
            </a:r>
            <a:r>
              <a:rPr lang="ru-RU" sz="2200" dirty="0"/>
              <a:t> </a:t>
            </a:r>
            <a:r>
              <a:rPr lang="ru-RU" sz="2200" dirty="0">
                <a:solidFill>
                  <a:srgbClr val="DE4110"/>
                </a:solidFill>
              </a:rPr>
              <a:t>не более чем в одном экземпляре </a:t>
            </a:r>
            <a:r>
              <a:rPr lang="ru-RU" sz="2200" dirty="0"/>
              <a:t>типа </a:t>
            </a:r>
            <a:r>
              <a:rPr lang="ru-RU" sz="2200" dirty="0">
                <a:solidFill>
                  <a:srgbClr val="7030A0"/>
                </a:solidFill>
              </a:rPr>
              <a:t>набора </a:t>
            </a:r>
            <a:r>
              <a:rPr lang="en-US" sz="2200" dirty="0">
                <a:solidFill>
                  <a:srgbClr val="7030A0"/>
                </a:solidFill>
              </a:rPr>
              <a:t>S</a:t>
            </a:r>
            <a:r>
              <a:rPr lang="ru-RU" sz="2200" dirty="0"/>
              <a:t>.</a:t>
            </a:r>
          </a:p>
          <a:p>
            <a:pPr marL="342900" indent="-342900">
              <a:lnSpc>
                <a:spcPct val="100000"/>
              </a:lnSpc>
              <a:buClr>
                <a:srgbClr val="C00000"/>
              </a:buClr>
            </a:pPr>
            <a:r>
              <a:rPr lang="ru-RU" sz="2400" dirty="0"/>
              <a:t>В рамках </a:t>
            </a:r>
            <a:r>
              <a:rPr lang="ru-RU" sz="2400" dirty="0">
                <a:solidFill>
                  <a:srgbClr val="C00000"/>
                </a:solidFill>
              </a:rPr>
              <a:t>экземпляра набора </a:t>
            </a:r>
            <a:r>
              <a:rPr lang="ru-RU" sz="2400" dirty="0"/>
              <a:t>возможен </a:t>
            </a:r>
            <a:r>
              <a:rPr lang="ru-RU" sz="2400" dirty="0">
                <a:solidFill>
                  <a:srgbClr val="C00000"/>
                </a:solidFill>
              </a:rPr>
              <a:t>последовательный просмотр </a:t>
            </a:r>
            <a:r>
              <a:rPr lang="ru-RU" sz="2400" dirty="0">
                <a:solidFill>
                  <a:srgbClr val="008000"/>
                </a:solidFill>
              </a:rPr>
              <a:t>экземпляров членов набора</a:t>
            </a:r>
            <a:r>
              <a:rPr lang="ru-RU" sz="2400" dirty="0"/>
              <a:t>, связанных с одним </a:t>
            </a:r>
            <a:r>
              <a:rPr lang="ru-RU" sz="2400" dirty="0">
                <a:solidFill>
                  <a:schemeClr val="accent1"/>
                </a:solidFill>
              </a:rPr>
              <a:t>экземпляром владельца набора</a:t>
            </a:r>
            <a:r>
              <a:rPr lang="ru-RU" sz="2400" dirty="0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058FD-31D7-C9A4-2748-4B845F4BB5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Свойства наборов данных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6343CF-3AD1-BCA1-7263-7EE28B2A5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73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2D6F7-CE1C-548A-EE63-5E864537E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18CE66-4F8B-8292-1F31-078FCD55D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DC42F-F285-527A-7462-CD43C0E7C3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наборы данных. Примеры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E1A7F3-1928-D88F-D6FA-3F15F5B3D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</a:t>
            </a:r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932C118-79CE-D00A-99FC-9051D9CD19AA}"/>
              </a:ext>
            </a:extLst>
          </p:cNvPr>
          <p:cNvGrpSpPr/>
          <p:nvPr/>
        </p:nvGrpSpPr>
        <p:grpSpPr>
          <a:xfrm>
            <a:off x="103687" y="1995885"/>
            <a:ext cx="2615000" cy="1122438"/>
            <a:chOff x="103687" y="1949393"/>
            <a:chExt cx="2615000" cy="112243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1E36D7-B75B-0CA9-3278-A0FB31700F34}"/>
                </a:ext>
              </a:extLst>
            </p:cNvPr>
            <p:cNvSpPr txBox="1"/>
            <p:nvPr/>
          </p:nvSpPr>
          <p:spPr>
            <a:xfrm>
              <a:off x="1537123" y="2282896"/>
              <a:ext cx="11815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>
                  <a:solidFill>
                    <a:schemeClr val="accent1"/>
                  </a:solidFill>
                </a:rPr>
                <a:t>Исполнение</a:t>
              </a:r>
            </a:p>
          </p:txBody>
        </p:sp>
        <p:sp>
          <p:nvSpPr>
            <p:cNvPr id="8" name="TextBox 2">
              <a:extLst>
                <a:ext uri="{FF2B5EF4-FFF2-40B4-BE49-F238E27FC236}">
                  <a16:creationId xmlns:a16="http://schemas.microsoft.com/office/drawing/2014/main" id="{7B93A13A-59A1-2C99-7F72-1701D68DB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512" y="1949393"/>
              <a:ext cx="1383788" cy="276999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200" dirty="0"/>
                <a:t>ТОВАР</a:t>
              </a:r>
            </a:p>
          </p:txBody>
        </p:sp>
        <p:sp>
          <p:nvSpPr>
            <p:cNvPr id="9" name="TextBox 2">
              <a:extLst>
                <a:ext uri="{FF2B5EF4-FFF2-40B4-BE49-F238E27FC236}">
                  <a16:creationId xmlns:a16="http://schemas.microsoft.com/office/drawing/2014/main" id="{199EA782-3508-93CC-FBA5-236B967E71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635" y="2610166"/>
              <a:ext cx="1383788" cy="46166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200" dirty="0"/>
                <a:t>СТАТЬЯ -ЗАКАЗА</a:t>
              </a:r>
            </a:p>
          </p:txBody>
        </p:sp>
        <p:cxnSp>
          <p:nvCxnSpPr>
            <p:cNvPr id="10" name="Прямая со стрелкой 3">
              <a:extLst>
                <a:ext uri="{FF2B5EF4-FFF2-40B4-BE49-F238E27FC236}">
                  <a16:creationId xmlns:a16="http://schemas.microsoft.com/office/drawing/2014/main" id="{BDEC7EDC-D916-D8C4-14E4-40210BCD8A35}"/>
                </a:ext>
              </a:extLst>
            </p:cNvPr>
            <p:cNvCxnSpPr/>
            <p:nvPr/>
          </p:nvCxnSpPr>
          <p:spPr>
            <a:xfrm>
              <a:off x="1531300" y="2237055"/>
              <a:ext cx="0" cy="373111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 стрелкой 11">
              <a:extLst>
                <a:ext uri="{FF2B5EF4-FFF2-40B4-BE49-F238E27FC236}">
                  <a16:creationId xmlns:a16="http://schemas.microsoft.com/office/drawing/2014/main" id="{907F1B6E-B601-0833-ECE1-CCD900D19D8A}"/>
                </a:ext>
              </a:extLst>
            </p:cNvPr>
            <p:cNvCxnSpPr/>
            <p:nvPr/>
          </p:nvCxnSpPr>
          <p:spPr>
            <a:xfrm>
              <a:off x="897159" y="2242702"/>
              <a:ext cx="0" cy="373111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9846145-474A-CD8A-8D1E-A1C7EF5836CB}"/>
                </a:ext>
              </a:extLst>
            </p:cNvPr>
            <p:cNvSpPr txBox="1"/>
            <p:nvPr/>
          </p:nvSpPr>
          <p:spPr>
            <a:xfrm>
              <a:off x="103687" y="2277701"/>
              <a:ext cx="7809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ru-RU" sz="1200" dirty="0">
                  <a:solidFill>
                    <a:schemeClr val="accent1"/>
                  </a:solidFill>
                </a:rPr>
                <a:t>Заказы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2B85D83-5DEA-B9C0-FAE8-C0E03F48E506}"/>
              </a:ext>
            </a:extLst>
          </p:cNvPr>
          <p:cNvGrpSpPr>
            <a:grpSpLocks noChangeAspect="1"/>
          </p:cNvGrpSpPr>
          <p:nvPr/>
        </p:nvGrpSpPr>
        <p:grpSpPr>
          <a:xfrm>
            <a:off x="2968216" y="1777207"/>
            <a:ext cx="5634272" cy="2065921"/>
            <a:chOff x="509589" y="2743963"/>
            <a:chExt cx="7929561" cy="2907535"/>
          </a:xfrm>
        </p:grpSpPr>
        <p:sp>
          <p:nvSpPr>
            <p:cNvPr id="37" name="TextBox 2">
              <a:extLst>
                <a:ext uri="{FF2B5EF4-FFF2-40B4-BE49-F238E27FC236}">
                  <a16:creationId xmlns:a16="http://schemas.microsoft.com/office/drawing/2014/main" id="{88BE9373-5B31-4EFD-D361-00BC294EDE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1212" y="3779998"/>
              <a:ext cx="1926213" cy="389843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200" dirty="0"/>
                <a:t>Кофе </a:t>
              </a:r>
              <a:r>
                <a:rPr lang="ru-RU" altLang="ru-RU" sz="1200" dirty="0" err="1"/>
                <a:t>Арабика</a:t>
              </a:r>
              <a:endParaRPr lang="ru-RU" altLang="ru-RU" sz="1200" dirty="0"/>
            </a:p>
          </p:txBody>
        </p:sp>
        <p:sp>
          <p:nvSpPr>
            <p:cNvPr id="38" name="TextBox 2">
              <a:extLst>
                <a:ext uri="{FF2B5EF4-FFF2-40B4-BE49-F238E27FC236}">
                  <a16:creationId xmlns:a16="http://schemas.microsoft.com/office/drawing/2014/main" id="{395D1939-97DD-3D29-1D72-358A5B901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750" y="4673600"/>
              <a:ext cx="3556000" cy="3556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36000" tIns="36000" rIns="36000" bIns="36000">
              <a:norm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050" dirty="0"/>
                <a:t>12.04.2016, ТЦ,  10 шт. </a:t>
              </a:r>
            </a:p>
            <a:p>
              <a:pPr algn="ctr" eaLnBrk="1" hangingPunct="1"/>
              <a:endParaRPr lang="ru-RU" altLang="ru-RU" sz="1200" dirty="0"/>
            </a:p>
          </p:txBody>
        </p:sp>
        <p:cxnSp>
          <p:nvCxnSpPr>
            <p:cNvPr id="39" name="Прямая со стрелкой 29">
              <a:extLst>
                <a:ext uri="{FF2B5EF4-FFF2-40B4-BE49-F238E27FC236}">
                  <a16:creationId xmlns:a16="http://schemas.microsoft.com/office/drawing/2014/main" id="{BBACB4F7-6A81-06CE-8921-5604E906B735}"/>
                </a:ext>
              </a:extLst>
            </p:cNvPr>
            <p:cNvCxnSpPr>
              <a:cxnSpLocks/>
              <a:stCxn id="37" idx="2"/>
              <a:endCxn id="38" idx="0"/>
            </p:cNvCxnSpPr>
            <p:nvPr/>
          </p:nvCxnSpPr>
          <p:spPr>
            <a:xfrm>
              <a:off x="2564319" y="4169841"/>
              <a:ext cx="7432" cy="503759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2">
              <a:extLst>
                <a:ext uri="{FF2B5EF4-FFF2-40B4-BE49-F238E27FC236}">
                  <a16:creationId xmlns:a16="http://schemas.microsoft.com/office/drawing/2014/main" id="{D41F7668-916F-9AD9-E4AB-F2D0BC8D9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750" y="5295900"/>
              <a:ext cx="3556000" cy="35559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36000" tIns="36000" rIns="36000" bIns="36000">
              <a:norm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050" dirty="0"/>
                <a:t>18.05.2016, </a:t>
              </a:r>
              <a:r>
                <a:rPr lang="ru-RU" altLang="ru-RU" sz="1050" dirty="0" err="1"/>
                <a:t>Холидей</a:t>
              </a:r>
              <a:r>
                <a:rPr lang="ru-RU" altLang="ru-RU" sz="1050" dirty="0"/>
                <a:t>,  25 шт. </a:t>
              </a:r>
            </a:p>
            <a:p>
              <a:pPr algn="ctr" eaLnBrk="1" hangingPunct="1"/>
              <a:endParaRPr lang="ru-RU" altLang="ru-RU" sz="12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8838DD9-A4E8-CA5D-A0C0-CB845087DE09}"/>
                </a:ext>
              </a:extLst>
            </p:cNvPr>
            <p:cNvSpPr txBox="1"/>
            <p:nvPr/>
          </p:nvSpPr>
          <p:spPr>
            <a:xfrm>
              <a:off x="509589" y="4208032"/>
              <a:ext cx="2089150" cy="3556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ru-RU" sz="1400" dirty="0" err="1">
                  <a:solidFill>
                    <a:schemeClr val="accent1"/>
                  </a:solidFill>
                </a:rPr>
                <a:t>Заказы_кофе</a:t>
              </a:r>
              <a:endParaRPr lang="ru-RU" sz="1400" dirty="0">
                <a:solidFill>
                  <a:schemeClr val="accent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58F9141-2AA4-B287-136B-BCE72DF7C037}"/>
                </a:ext>
              </a:extLst>
            </p:cNvPr>
            <p:cNvSpPr txBox="1"/>
            <p:nvPr/>
          </p:nvSpPr>
          <p:spPr>
            <a:xfrm>
              <a:off x="2127009" y="4893537"/>
              <a:ext cx="889000" cy="389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200" dirty="0"/>
                <a:t>…</a:t>
              </a:r>
            </a:p>
          </p:txBody>
        </p:sp>
        <p:sp>
          <p:nvSpPr>
            <p:cNvPr id="43" name="TextBox 2">
              <a:extLst>
                <a:ext uri="{FF2B5EF4-FFF2-40B4-BE49-F238E27FC236}">
                  <a16:creationId xmlns:a16="http://schemas.microsoft.com/office/drawing/2014/main" id="{29D482E2-A809-6814-1D35-8AACB0EA2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8518" y="3779998"/>
              <a:ext cx="1926213" cy="389843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200" dirty="0"/>
                <a:t>Чай Майский</a:t>
              </a:r>
            </a:p>
          </p:txBody>
        </p:sp>
        <p:sp>
          <p:nvSpPr>
            <p:cNvPr id="44" name="TextBox 2">
              <a:extLst>
                <a:ext uri="{FF2B5EF4-FFF2-40B4-BE49-F238E27FC236}">
                  <a16:creationId xmlns:a16="http://schemas.microsoft.com/office/drawing/2014/main" id="{0A494637-EBE0-DA8C-F543-1C01567D02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3150" y="4673600"/>
              <a:ext cx="3536950" cy="35559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36000" tIns="36000" rIns="36000" bIns="36000">
              <a:norm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050" dirty="0"/>
                <a:t>25.04.2016, ТЦ, 45 шт. </a:t>
              </a:r>
            </a:p>
            <a:p>
              <a:pPr algn="ctr" eaLnBrk="1" hangingPunct="1"/>
              <a:endParaRPr lang="ru-RU" altLang="ru-RU" sz="14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A856E80-1BE8-F674-DD1C-A9048E4DB8D5}"/>
                </a:ext>
              </a:extLst>
            </p:cNvPr>
            <p:cNvSpPr txBox="1"/>
            <p:nvPr/>
          </p:nvSpPr>
          <p:spPr>
            <a:xfrm>
              <a:off x="6305551" y="4919704"/>
              <a:ext cx="889000" cy="389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200" dirty="0"/>
                <a:t>…</a:t>
              </a:r>
            </a:p>
          </p:txBody>
        </p:sp>
        <p:sp>
          <p:nvSpPr>
            <p:cNvPr id="46" name="TextBox 2">
              <a:extLst>
                <a:ext uri="{FF2B5EF4-FFF2-40B4-BE49-F238E27FC236}">
                  <a16:creationId xmlns:a16="http://schemas.microsoft.com/office/drawing/2014/main" id="{AC6BFF73-B454-8C11-3103-BD1904952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3150" y="5295900"/>
              <a:ext cx="3556000" cy="35559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36000" tIns="36000" rIns="36000" bIns="36000">
              <a:norm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050" dirty="0"/>
                <a:t>12.06.2016, </a:t>
              </a:r>
              <a:r>
                <a:rPr lang="ru-RU" altLang="ru-RU" sz="1050" dirty="0" err="1"/>
                <a:t>Холидей</a:t>
              </a:r>
              <a:r>
                <a:rPr lang="ru-RU" altLang="ru-RU" sz="1050" dirty="0"/>
                <a:t>, 50 шт. </a:t>
              </a:r>
            </a:p>
            <a:p>
              <a:pPr algn="ctr" eaLnBrk="1" hangingPunct="1"/>
              <a:endParaRPr lang="ru-RU" altLang="ru-RU" sz="1200" dirty="0"/>
            </a:p>
          </p:txBody>
        </p:sp>
        <p:cxnSp>
          <p:nvCxnSpPr>
            <p:cNvPr id="47" name="Прямая со стрелкой 43">
              <a:extLst>
                <a:ext uri="{FF2B5EF4-FFF2-40B4-BE49-F238E27FC236}">
                  <a16:creationId xmlns:a16="http://schemas.microsoft.com/office/drawing/2014/main" id="{2C0E5769-480E-1148-FED4-E2C7002D31E0}"/>
                </a:ext>
              </a:extLst>
            </p:cNvPr>
            <p:cNvCxnSpPr>
              <a:cxnSpLocks/>
              <a:stCxn id="43" idx="2"/>
              <a:endCxn id="44" idx="0"/>
            </p:cNvCxnSpPr>
            <p:nvPr/>
          </p:nvCxnSpPr>
          <p:spPr>
            <a:xfrm>
              <a:off x="6651624" y="4169841"/>
              <a:ext cx="1" cy="503759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049F0A6-3557-6369-7582-2A61DA9A796C}"/>
                </a:ext>
              </a:extLst>
            </p:cNvPr>
            <p:cNvSpPr txBox="1"/>
            <p:nvPr/>
          </p:nvSpPr>
          <p:spPr>
            <a:xfrm>
              <a:off x="4759871" y="4208032"/>
              <a:ext cx="2000248" cy="3556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ru-RU" sz="1400" dirty="0" err="1">
                  <a:solidFill>
                    <a:schemeClr val="accent1"/>
                  </a:solidFill>
                </a:rPr>
                <a:t>Заказы_чая</a:t>
              </a:r>
              <a:endParaRPr lang="ru-RU" sz="1400" dirty="0">
                <a:solidFill>
                  <a:schemeClr val="accent1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513429B-76A6-093C-26D3-517FF91CFBDB}"/>
                </a:ext>
              </a:extLst>
            </p:cNvPr>
            <p:cNvSpPr txBox="1"/>
            <p:nvPr/>
          </p:nvSpPr>
          <p:spPr>
            <a:xfrm>
              <a:off x="2462694" y="2743963"/>
              <a:ext cx="4583713" cy="4764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dirty="0">
                  <a:solidFill>
                    <a:schemeClr val="accent1"/>
                  </a:solidFill>
                </a:rPr>
                <a:t>Экземпляры набора Заказы</a:t>
              </a:r>
            </a:p>
          </p:txBody>
        </p:sp>
        <p:sp>
          <p:nvSpPr>
            <p:cNvPr id="50" name="Левая фигурная скобка 46">
              <a:extLst>
                <a:ext uri="{FF2B5EF4-FFF2-40B4-BE49-F238E27FC236}">
                  <a16:creationId xmlns:a16="http://schemas.microsoft.com/office/drawing/2014/main" id="{C664AA58-5918-34FF-7410-6810E53FEA99}"/>
                </a:ext>
              </a:extLst>
            </p:cNvPr>
            <p:cNvSpPr/>
            <p:nvPr/>
          </p:nvSpPr>
          <p:spPr>
            <a:xfrm rot="5400000">
              <a:off x="4416425" y="1406525"/>
              <a:ext cx="533400" cy="4044950"/>
            </a:xfrm>
            <a:prstGeom prst="leftBrace">
              <a:avLst>
                <a:gd name="adj1" fmla="val 64273"/>
                <a:gd name="adj2" fmla="val 48266"/>
              </a:avLst>
            </a:prstGeom>
            <a:ln w="25400">
              <a:solidFill>
                <a:srgbClr val="DE411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sz="1200"/>
            </a:p>
          </p:txBody>
        </p:sp>
      </p:grpSp>
    </p:spTree>
    <p:extLst>
      <p:ext uri="{BB962C8B-B14F-4D97-AF65-F5344CB8AC3E}">
        <p14:creationId xmlns:p14="http://schemas.microsoft.com/office/powerpoint/2010/main" val="4064799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5A7DE-FA71-5EC1-F110-7569EDC74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58EAAE-7D52-FAEB-767F-D6A4558FE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96F84-72FC-348C-3A08-F08EA272C1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736304"/>
          </a:xfrm>
        </p:spPr>
        <p:txBody>
          <a:bodyPr numCol="2">
            <a:normAutofit fontScale="55000" lnSpcReduction="20000"/>
          </a:bodyPr>
          <a:lstStyle/>
          <a:p>
            <a:pPr>
              <a:lnSpc>
                <a:spcPct val="100000"/>
              </a:lnSpc>
              <a:buClr>
                <a:srgbClr val="C00000"/>
              </a:buClr>
            </a:pPr>
            <a:r>
              <a:rPr lang="ru-RU" sz="2400" dirty="0"/>
              <a:t>Среди всех наборов выделяют специальный тип набора, называемый «</a:t>
            </a:r>
            <a:r>
              <a:rPr lang="ru-RU" sz="2400" dirty="0">
                <a:solidFill>
                  <a:schemeClr val="accent2"/>
                </a:solidFill>
              </a:rPr>
              <a:t>сингулярным набором</a:t>
            </a:r>
            <a:r>
              <a:rPr lang="ru-RU" sz="2400" dirty="0"/>
              <a:t>», владельцем которого формально определена вся система. </a:t>
            </a:r>
          </a:p>
          <a:p>
            <a:pPr>
              <a:lnSpc>
                <a:spcPct val="100000"/>
              </a:lnSpc>
              <a:buClr>
                <a:srgbClr val="C00000"/>
              </a:buClr>
            </a:pPr>
            <a:r>
              <a:rPr lang="ru-RU" sz="2400" dirty="0"/>
              <a:t>Сингулярный набор изображается в виде входящей стрелки, которая имеет собственно имя набора и имя члена набора, но у которой не определен тип записи "Владелец набора". </a:t>
            </a:r>
          </a:p>
          <a:p>
            <a:pPr>
              <a:lnSpc>
                <a:spcPct val="100000"/>
              </a:lnSpc>
              <a:buClr>
                <a:srgbClr val="C00000"/>
              </a:buClr>
            </a:pPr>
            <a:r>
              <a:rPr lang="ru-RU" sz="2400" dirty="0"/>
              <a:t>Например, сингулярный набор М.</a:t>
            </a:r>
          </a:p>
          <a:p>
            <a:pPr>
              <a:lnSpc>
                <a:spcPct val="100000"/>
              </a:lnSpc>
              <a:buClr>
                <a:srgbClr val="C00000"/>
              </a:buClr>
            </a:pPr>
            <a:endParaRPr lang="ru-RU" sz="2400" dirty="0"/>
          </a:p>
          <a:p>
            <a:pPr>
              <a:lnSpc>
                <a:spcPct val="100000"/>
              </a:lnSpc>
              <a:buClr>
                <a:srgbClr val="C00000"/>
              </a:buClr>
            </a:pPr>
            <a:endParaRPr lang="ru-RU" sz="2400" dirty="0"/>
          </a:p>
          <a:p>
            <a:pPr>
              <a:lnSpc>
                <a:spcPct val="100000"/>
              </a:lnSpc>
              <a:buClr>
                <a:srgbClr val="C00000"/>
              </a:buClr>
            </a:pPr>
            <a:r>
              <a:rPr lang="ru-RU" sz="2400" dirty="0"/>
              <a:t>Сингулярные наборы позволяют </a:t>
            </a:r>
            <a:r>
              <a:rPr lang="ru-RU" sz="2400" dirty="0">
                <a:solidFill>
                  <a:schemeClr val="accent2"/>
                </a:solidFill>
              </a:rPr>
              <a:t>обеспечить доступ к экземплярам отдельных типов данных</a:t>
            </a:r>
            <a:r>
              <a:rPr lang="ru-RU" sz="2400" dirty="0"/>
              <a:t>.</a:t>
            </a:r>
          </a:p>
          <a:p>
            <a:pPr>
              <a:lnSpc>
                <a:spcPct val="100000"/>
              </a:lnSpc>
              <a:buClr>
                <a:srgbClr val="C00000"/>
              </a:buClr>
            </a:pPr>
            <a:r>
              <a:rPr lang="ru-RU" sz="2400" dirty="0"/>
              <a:t>Если алгоритм обработки информации предполагает обеспечение произвольного доступа к некоторому типу записи, то для поддержки этой возможности необходимо ввести соответствующий сингулярный набор.</a:t>
            </a:r>
          </a:p>
          <a:p>
            <a:pPr>
              <a:lnSpc>
                <a:spcPct val="100000"/>
              </a:lnSpc>
              <a:buClr>
                <a:srgbClr val="C00000"/>
              </a:buClr>
            </a:pPr>
            <a:r>
              <a:rPr lang="ru-RU" sz="2400" dirty="0"/>
              <a:t>В общем случае </a:t>
            </a:r>
            <a:r>
              <a:rPr lang="ru-RU" sz="2400" dirty="0">
                <a:solidFill>
                  <a:schemeClr val="accent1"/>
                </a:solidFill>
              </a:rPr>
              <a:t>сетевая база данных </a:t>
            </a:r>
            <a:r>
              <a:rPr lang="ru-RU" sz="2400" dirty="0"/>
              <a:t>представляет совокупность взаимосвязанных наборов, которые образуют на </a:t>
            </a:r>
            <a:r>
              <a:rPr lang="ru-RU" sz="2400" dirty="0">
                <a:solidFill>
                  <a:schemeClr val="accent1"/>
                </a:solidFill>
              </a:rPr>
              <a:t>концептуальном уровне граф произвольной структуры</a:t>
            </a:r>
            <a:r>
              <a:rPr lang="ru-RU" sz="2400" dirty="0"/>
              <a:t>.</a:t>
            </a:r>
          </a:p>
          <a:p>
            <a:pPr marL="342900" indent="-342900">
              <a:lnSpc>
                <a:spcPct val="100000"/>
              </a:lnSpc>
              <a:buClr>
                <a:srgbClr val="C00000"/>
              </a:buClr>
            </a:pPr>
            <a:endParaRPr lang="ru-RU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3CFAE-56B1-4B8A-30C0-82D662CA59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Сингулярный набор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C27930-8C6F-E9ED-ED2F-DAD2A15CE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DC79978-1536-5909-D00D-2D9CDC904013}"/>
              </a:ext>
            </a:extLst>
          </p:cNvPr>
          <p:cNvGrpSpPr/>
          <p:nvPr/>
        </p:nvGrpSpPr>
        <p:grpSpPr>
          <a:xfrm>
            <a:off x="3476594" y="3723878"/>
            <a:ext cx="1383788" cy="949306"/>
            <a:chOff x="2464665" y="2021401"/>
            <a:chExt cx="1383788" cy="949306"/>
          </a:xfrm>
        </p:grpSpPr>
        <p:sp>
          <p:nvSpPr>
            <p:cNvPr id="8" name="TextBox 2">
              <a:extLst>
                <a:ext uri="{FF2B5EF4-FFF2-40B4-BE49-F238E27FC236}">
                  <a16:creationId xmlns:a16="http://schemas.microsoft.com/office/drawing/2014/main" id="{90FF52E2-79D3-0DB7-7C9C-13EB9880B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1754" y="2021401"/>
              <a:ext cx="529610" cy="36191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36000" tIns="36000" rIns="36000" bIns="36000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200" dirty="0"/>
                <a:t>М</a:t>
              </a:r>
            </a:p>
          </p:txBody>
        </p:sp>
        <p:sp>
          <p:nvSpPr>
            <p:cNvPr id="9" name="TextBox 2">
              <a:extLst>
                <a:ext uri="{FF2B5EF4-FFF2-40B4-BE49-F238E27FC236}">
                  <a16:creationId xmlns:a16="http://schemas.microsoft.com/office/drawing/2014/main" id="{5CC5E68E-7E09-B948-331B-6530BD37D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665" y="2693708"/>
              <a:ext cx="1383788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200" dirty="0"/>
                <a:t>Запись типа С</a:t>
              </a:r>
            </a:p>
          </p:txBody>
        </p:sp>
        <p:cxnSp>
          <p:nvCxnSpPr>
            <p:cNvPr id="11" name="Прямая со стрелкой 11">
              <a:extLst>
                <a:ext uri="{FF2B5EF4-FFF2-40B4-BE49-F238E27FC236}">
                  <a16:creationId xmlns:a16="http://schemas.microsoft.com/office/drawing/2014/main" id="{D0F8C1E9-9951-31E6-3017-BFA15A3C52A5}"/>
                </a:ext>
              </a:extLst>
            </p:cNvPr>
            <p:cNvCxnSpPr>
              <a:cxnSpLocks/>
              <a:stCxn id="8" idx="4"/>
              <a:endCxn id="9" idx="0"/>
            </p:cNvCxnSpPr>
            <p:nvPr/>
          </p:nvCxnSpPr>
          <p:spPr>
            <a:xfrm>
              <a:off x="3156559" y="2383311"/>
              <a:ext cx="0" cy="310397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49902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CD542-5ED8-2876-A43C-F03FF6ABF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B2D8FC-3072-1954-0C62-276B41613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C7609-BDB8-6C81-1520-8F3D647A7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Цикл и набор с несколькими записями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5EA170-7CFE-D6DD-F819-0CDF3EA84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</a:t>
            </a: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5D2BE4E-DBCE-0A2F-2022-806E404196E4}"/>
              </a:ext>
            </a:extLst>
          </p:cNvPr>
          <p:cNvGrpSpPr>
            <a:grpSpLocks noChangeAspect="1"/>
          </p:cNvGrpSpPr>
          <p:nvPr/>
        </p:nvGrpSpPr>
        <p:grpSpPr>
          <a:xfrm>
            <a:off x="2008337" y="2264110"/>
            <a:ext cx="6374942" cy="2063929"/>
            <a:chOff x="2510530" y="2078517"/>
            <a:chExt cx="9585105" cy="310324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770B4B9-F461-ECE1-7CD3-1E3FE9024EC0}"/>
                </a:ext>
              </a:extLst>
            </p:cNvPr>
            <p:cNvSpPr txBox="1"/>
            <p:nvPr/>
          </p:nvSpPr>
          <p:spPr>
            <a:xfrm>
              <a:off x="2510530" y="2715987"/>
              <a:ext cx="2112456" cy="3933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100" dirty="0">
                  <a:solidFill>
                    <a:schemeClr val="accent1"/>
                  </a:solidFill>
                </a:rPr>
                <a:t>КОНТРАКТЫ</a:t>
              </a:r>
            </a:p>
          </p:txBody>
        </p:sp>
        <p:sp>
          <p:nvSpPr>
            <p:cNvPr id="6" name="TextBox 2">
              <a:extLst>
                <a:ext uri="{FF2B5EF4-FFF2-40B4-BE49-F238E27FC236}">
                  <a16:creationId xmlns:a16="http://schemas.microsoft.com/office/drawing/2014/main" id="{4B0CCAF2-D686-EDCB-6F49-315E70C154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2905" y="2450959"/>
              <a:ext cx="1926215" cy="393346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100" dirty="0"/>
                <a:t>КОНТРАКТ </a:t>
              </a:r>
            </a:p>
          </p:txBody>
        </p:sp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BD5FEEB9-5582-D5F9-0FBD-68F030236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51011" y="4788411"/>
              <a:ext cx="3244850" cy="393346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100" dirty="0"/>
                <a:t>ПРЕДПРИЯТИЕ</a:t>
              </a:r>
            </a:p>
          </p:txBody>
        </p:sp>
        <p:cxnSp>
          <p:nvCxnSpPr>
            <p:cNvPr id="14" name="Прямая со стрелкой 25">
              <a:extLst>
                <a:ext uri="{FF2B5EF4-FFF2-40B4-BE49-F238E27FC236}">
                  <a16:creationId xmlns:a16="http://schemas.microsoft.com/office/drawing/2014/main" id="{DC7ABA8A-D2C6-0E2B-45C7-3D112E95E4A9}"/>
                </a:ext>
              </a:extLst>
            </p:cNvPr>
            <p:cNvCxnSpPr>
              <a:stCxn id="6" idx="2"/>
              <a:endCxn id="15" idx="0"/>
            </p:cNvCxnSpPr>
            <p:nvPr/>
          </p:nvCxnSpPr>
          <p:spPr>
            <a:xfrm flipH="1">
              <a:off x="7073438" y="2844306"/>
              <a:ext cx="12576" cy="673931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2">
              <a:extLst>
                <a:ext uri="{FF2B5EF4-FFF2-40B4-BE49-F238E27FC236}">
                  <a16:creationId xmlns:a16="http://schemas.microsoft.com/office/drawing/2014/main" id="{6B916141-EF86-1FD8-798D-87C13AB760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0329" y="3518237"/>
              <a:ext cx="1926215" cy="393346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100" dirty="0"/>
                <a:t>ИЗДЕЛИЕ</a:t>
              </a:r>
            </a:p>
          </p:txBody>
        </p:sp>
        <p:cxnSp>
          <p:nvCxnSpPr>
            <p:cNvPr id="16" name="Прямая со стрелкой 32">
              <a:extLst>
                <a:ext uri="{FF2B5EF4-FFF2-40B4-BE49-F238E27FC236}">
                  <a16:creationId xmlns:a16="http://schemas.microsoft.com/office/drawing/2014/main" id="{E9BB4E4B-2A79-4693-8DDF-D877DA8B46CB}"/>
                </a:ext>
              </a:extLst>
            </p:cNvPr>
            <p:cNvCxnSpPr>
              <a:stCxn id="15" idx="2"/>
              <a:endCxn id="7" idx="0"/>
            </p:cNvCxnSpPr>
            <p:nvPr/>
          </p:nvCxnSpPr>
          <p:spPr>
            <a:xfrm flipH="1">
              <a:off x="7073436" y="3911583"/>
              <a:ext cx="2" cy="876828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A34468-4CC2-DAAB-5420-4447C9033A86}"/>
                </a:ext>
              </a:extLst>
            </p:cNvPr>
            <p:cNvSpPr txBox="1"/>
            <p:nvPr/>
          </p:nvSpPr>
          <p:spPr>
            <a:xfrm>
              <a:off x="7820086" y="2078517"/>
              <a:ext cx="3289300" cy="3933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dirty="0">
                  <a:solidFill>
                    <a:schemeClr val="accent1"/>
                  </a:solidFill>
                </a:rPr>
                <a:t>Элементы контракта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4A13D7A-33B7-736D-56FD-39E17D8315CC}"/>
                </a:ext>
              </a:extLst>
            </p:cNvPr>
            <p:cNvSpPr txBox="1"/>
            <p:nvPr/>
          </p:nvSpPr>
          <p:spPr>
            <a:xfrm>
              <a:off x="4876333" y="4153324"/>
              <a:ext cx="2218280" cy="3933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ru-RU" sz="1100" dirty="0">
                  <a:solidFill>
                    <a:schemeClr val="accent1"/>
                  </a:solidFill>
                </a:rPr>
                <a:t>ИЗГОТОВИТЕЛЬ</a:t>
              </a:r>
            </a:p>
          </p:txBody>
        </p:sp>
        <p:cxnSp>
          <p:nvCxnSpPr>
            <p:cNvPr id="19" name="Соединительная линия уступом 34">
              <a:extLst>
                <a:ext uri="{FF2B5EF4-FFF2-40B4-BE49-F238E27FC236}">
                  <a16:creationId xmlns:a16="http://schemas.microsoft.com/office/drawing/2014/main" id="{63BFD807-D405-2823-9FF2-15F369A83189}"/>
                </a:ext>
              </a:extLst>
            </p:cNvPr>
            <p:cNvCxnSpPr>
              <a:stCxn id="7" idx="1"/>
              <a:endCxn id="6" idx="1"/>
            </p:cNvCxnSpPr>
            <p:nvPr/>
          </p:nvCxnSpPr>
          <p:spPr>
            <a:xfrm rot="10800000" flipH="1">
              <a:off x="5451010" y="2647632"/>
              <a:ext cx="671894" cy="2337451"/>
            </a:xfrm>
            <a:prstGeom prst="bentConnector3">
              <a:avLst>
                <a:gd name="adj1" fmla="val -441646"/>
              </a:avLst>
            </a:prstGeom>
            <a:ln w="381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2">
              <a:extLst>
                <a:ext uri="{FF2B5EF4-FFF2-40B4-BE49-F238E27FC236}">
                  <a16:creationId xmlns:a16="http://schemas.microsoft.com/office/drawing/2014/main" id="{FCE10A5A-26AC-E88D-966E-60A3DFF31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69420" y="2450959"/>
              <a:ext cx="1926215" cy="393346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itchFamily="2" charset="2"/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ru-RU" altLang="ru-RU" sz="1100" dirty="0"/>
                <a:t>МАТЕРИАЛ</a:t>
              </a:r>
            </a:p>
          </p:txBody>
        </p:sp>
        <p:cxnSp>
          <p:nvCxnSpPr>
            <p:cNvPr id="21" name="Соединительная линия уступом 53">
              <a:extLst>
                <a:ext uri="{FF2B5EF4-FFF2-40B4-BE49-F238E27FC236}">
                  <a16:creationId xmlns:a16="http://schemas.microsoft.com/office/drawing/2014/main" id="{D9A5819A-CF80-C610-8814-7C61E992E4D2}"/>
                </a:ext>
              </a:extLst>
            </p:cNvPr>
            <p:cNvCxnSpPr>
              <a:cxnSpLocks/>
              <a:stCxn id="6" idx="3"/>
              <a:endCxn id="20" idx="1"/>
            </p:cNvCxnSpPr>
            <p:nvPr/>
          </p:nvCxnSpPr>
          <p:spPr>
            <a:xfrm>
              <a:off x="8049120" y="2647632"/>
              <a:ext cx="2120300" cy="19095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7083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5DB7E-BFA2-D56E-20F4-9DAD2C7E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40B2ED-DCE5-3534-8C68-39A431CE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C70DF-B1D4-CB3D-56DF-41CB3B8EA1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73630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Язык описания данных схемы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Язык описания данных подсхемы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Язык манипулирования данными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Резидентный модуль СУБД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Язык управления размещением на внешних носителях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3BD60-6269-E08C-793E-E50A01882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Компоненты СУБД сетевой модели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984946-828F-0323-D2B0-C353B9807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324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CA401-8FF7-8CFA-1CA5-5CB56C9B7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44A220-8D1E-030F-DEF3-CBB8B7E0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96EB4-6081-0B91-53F5-6A6372D41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880320"/>
          </a:xfrm>
        </p:spPr>
        <p:txBody>
          <a:bodyPr numCol="2" spcCol="180000">
            <a:normAutofit fontScale="47500" lnSpcReduction="20000"/>
          </a:bodyPr>
          <a:lstStyle/>
          <a:p>
            <a:pPr marL="182563" indent="-182563">
              <a:lnSpc>
                <a:spcPct val="120000"/>
              </a:lnSpc>
            </a:pPr>
            <a:r>
              <a:rPr lang="ru-RU" sz="2800" dirty="0"/>
              <a:t>Слово СХЕМА (</a:t>
            </a:r>
            <a:r>
              <a:rPr lang="en-US" sz="2800" dirty="0"/>
              <a:t>SCHEMA) </a:t>
            </a:r>
            <a:r>
              <a:rPr lang="ru-RU" sz="2800" dirty="0"/>
              <a:t>не получило широкого распространения  в английском языке. </a:t>
            </a:r>
            <a:endParaRPr lang="en-US" sz="2800" dirty="0"/>
          </a:p>
          <a:p>
            <a:pPr marL="182563" indent="-182563">
              <a:lnSpc>
                <a:spcPct val="120000"/>
              </a:lnSpc>
            </a:pPr>
            <a:r>
              <a:rPr lang="ru-RU" sz="2800" dirty="0"/>
              <a:t>В терминологию обработки данных оно проникло в конце 60-х годов 20-го столетия в результате деятельности  КОДАСИЛ(</a:t>
            </a:r>
            <a:r>
              <a:rPr lang="en-US" sz="2800" dirty="0"/>
              <a:t>CODASYL</a:t>
            </a:r>
            <a:r>
              <a:rPr lang="ru-RU" sz="2800" dirty="0"/>
              <a:t>)</a:t>
            </a:r>
            <a:r>
              <a:rPr lang="en-US" sz="2800" dirty="0"/>
              <a:t> </a:t>
            </a:r>
            <a:r>
              <a:rPr lang="ru-RU" sz="2800" dirty="0"/>
              <a:t> и РГБД.</a:t>
            </a:r>
          </a:p>
          <a:p>
            <a:pPr marL="182563" indent="-182563">
              <a:lnSpc>
                <a:spcPct val="120000"/>
              </a:lnSpc>
            </a:pPr>
            <a:r>
              <a:rPr lang="ru-RU" sz="2800" dirty="0"/>
              <a:t>Краткий Оксфордский словарь определяет слово СХЕМА как существительное имеющее следующее значение:</a:t>
            </a:r>
          </a:p>
          <a:p>
            <a:pPr marL="358775" lvl="1" indent="-176213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конспект, диаграмма, контур,</a:t>
            </a:r>
          </a:p>
          <a:p>
            <a:pPr marL="358775" lvl="1" indent="-176213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(логика) силлогический символ,</a:t>
            </a:r>
          </a:p>
          <a:p>
            <a:pPr marL="358775" lvl="1" indent="-176213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(риторика) фигуральное выражение,</a:t>
            </a:r>
          </a:p>
          <a:p>
            <a:pPr marL="358775" lvl="1" indent="-176213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(кантианская философия) </a:t>
            </a:r>
            <a:r>
              <a:rPr lang="ru-RU" sz="2400" dirty="0">
                <a:solidFill>
                  <a:schemeClr val="accent1"/>
                </a:solidFill>
              </a:rPr>
              <a:t>общий тип, основная форма, концепция явления общая для всех членов некоторого класса</a:t>
            </a:r>
            <a:r>
              <a:rPr lang="ru-RU" sz="2400" dirty="0"/>
              <a:t>.</a:t>
            </a:r>
          </a:p>
          <a:p>
            <a:pPr marL="182563" indent="-182563">
              <a:lnSpc>
                <a:spcPct val="120000"/>
              </a:lnSpc>
            </a:pPr>
            <a:r>
              <a:rPr lang="ru-RU" sz="2800" dirty="0"/>
              <a:t>Последнее определение ближе всего к нашему использованию термина</a:t>
            </a:r>
          </a:p>
          <a:p>
            <a:pPr marL="182563" indent="-182563">
              <a:lnSpc>
                <a:spcPct val="120000"/>
              </a:lnSpc>
            </a:pPr>
            <a:r>
              <a:rPr lang="ru-RU" sz="2700" dirty="0"/>
              <a:t>РГБД определило </a:t>
            </a:r>
            <a:r>
              <a:rPr lang="ru-RU" sz="2700" dirty="0">
                <a:solidFill>
                  <a:schemeClr val="accent1"/>
                </a:solidFill>
              </a:rPr>
              <a:t>СХЕМУ</a:t>
            </a:r>
            <a:r>
              <a:rPr lang="ru-RU" sz="2700" dirty="0"/>
              <a:t> как </a:t>
            </a:r>
            <a:r>
              <a:rPr lang="ru-RU" sz="2700" dirty="0">
                <a:solidFill>
                  <a:schemeClr val="accent1"/>
                </a:solidFill>
              </a:rPr>
              <a:t>описание базы данных</a:t>
            </a:r>
          </a:p>
          <a:p>
            <a:pPr marL="182563" indent="-182563">
              <a:lnSpc>
                <a:spcPct val="120000"/>
              </a:lnSpc>
            </a:pPr>
            <a:r>
              <a:rPr lang="ru-RU" sz="2700" dirty="0">
                <a:solidFill>
                  <a:schemeClr val="accent1"/>
                </a:solidFill>
              </a:rPr>
              <a:t>База данных </a:t>
            </a:r>
            <a:r>
              <a:rPr lang="ru-RU" sz="2700" dirty="0"/>
              <a:t>– набор записей произвольного вида, содержащий перекрестные ссылки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5B4F6-5051-F4F6-B777-572A753BC0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Схема данных. База данных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14F829-93DF-FAB0-15DC-B3BF26A1B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170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83A1D-11DC-4E3A-5A09-66E33A7D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8C1578-0E99-AC5A-1686-34ED2D065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A623F-57A4-B789-867D-5DC586478B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5752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600" dirty="0"/>
              <a:t>Язык описания данных Схемы (ЯОД СХЕМЫ) является самостоятельным языком и определяет структуру базы данных, т.е. СХЕМЫ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600" dirty="0"/>
              <a:t>ЯОД СХЕМЫ не определяет процессы обработки данных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600" dirty="0"/>
              <a:t>ОН не позволяет указать объем содержимого БД или даже размер внешней памяти, отводимой под БД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600" dirty="0"/>
              <a:t>Теоретически одной схеме может соответствовать несколько баз данных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600" dirty="0"/>
              <a:t>На практике всегда одной СХЕМЕ соответствует одна БАЗА ДАННЫХ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B12A0-67B1-CC82-BF4E-EF4A11E820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Язык описания данных СХЕМЫ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220ECB6-C4CC-6690-AC22-A123C155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864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E8A2E-2D8F-B6F7-0A56-C136CADD7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6E3701-D7D2-6E9F-A883-BE0C981AC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DFFEB-10AB-2D74-22FD-CD14C8A711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5752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600" dirty="0"/>
              <a:t>Подсхема – часть СХЕМЫ</a:t>
            </a:r>
          </a:p>
          <a:p>
            <a:pPr>
              <a:lnSpc>
                <a:spcPct val="100000"/>
              </a:lnSpc>
            </a:pPr>
            <a:r>
              <a:rPr lang="ru-RU" sz="1600" dirty="0"/>
              <a:t>Для одной СХЕМЫ может существовать несколько подсхем </a:t>
            </a:r>
          </a:p>
          <a:p>
            <a:pPr>
              <a:lnSpc>
                <a:spcPct val="100000"/>
              </a:lnSpc>
            </a:pPr>
            <a:r>
              <a:rPr lang="ru-RU" sz="1600" dirty="0"/>
              <a:t>Эти подсхемы могут перекрываться, т.е. один и тот же тип записи допускается включать в разные подсхемы</a:t>
            </a:r>
          </a:p>
          <a:p>
            <a:pPr>
              <a:lnSpc>
                <a:spcPct val="100000"/>
              </a:lnSpc>
            </a:pPr>
            <a:r>
              <a:rPr lang="ru-RU" sz="1600" dirty="0"/>
              <a:t>СХЕМА – взгляд АБД, подсхема – взгляд прикладного программиста</a:t>
            </a:r>
          </a:p>
          <a:p>
            <a:pPr>
              <a:lnSpc>
                <a:spcPct val="100000"/>
              </a:lnSpc>
            </a:pPr>
            <a:r>
              <a:rPr lang="ru-RU" sz="1600" dirty="0"/>
              <a:t>ЯОД подсхемы считается принадлежащим определенному языку программирования (ЯОД Фортрана, ЯОД Кобола и т.д.)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3CB8C-9AB4-0144-926E-6826BBE592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Понятие ПОДСХЕМЫ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8AF7EA-E936-94E5-C1B4-DACE3D96C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002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6F1FE-9A04-ED40-F3F9-65A12AE3E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5DBFD7-A834-29D6-54B2-79E787B3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CFCF2-8571-FB1A-CD8B-96D34BB14F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952328"/>
          </a:xfrm>
        </p:spPr>
        <p:txBody>
          <a:bodyPr>
            <a:normAutofit fontScale="55000" lnSpcReduction="20000"/>
          </a:bodyPr>
          <a:lstStyle/>
          <a:p>
            <a:pPr marL="266700" indent="-266700">
              <a:lnSpc>
                <a:spcPct val="120000"/>
              </a:lnSpc>
            </a:pPr>
            <a:r>
              <a:rPr lang="ru-RU" altLang="ru-RU" sz="2800" dirty="0"/>
              <a:t>Языком манипулирования РГБД назвала </a:t>
            </a:r>
            <a:r>
              <a:rPr lang="ru-RU" altLang="ru-RU" sz="2800" dirty="0">
                <a:solidFill>
                  <a:schemeClr val="accent1"/>
                </a:solidFill>
              </a:rPr>
              <a:t>набор операторов, добавляемых</a:t>
            </a:r>
            <a:r>
              <a:rPr lang="ru-RU" altLang="ru-RU" sz="2800" dirty="0"/>
              <a:t> к </a:t>
            </a:r>
            <a:r>
              <a:rPr lang="ru-RU" altLang="ru-RU" sz="2800" dirty="0">
                <a:solidFill>
                  <a:schemeClr val="accent1"/>
                </a:solidFill>
              </a:rPr>
              <a:t>существующему языку программирования</a:t>
            </a:r>
            <a:r>
              <a:rPr lang="ru-RU" altLang="ru-RU" sz="2800" dirty="0">
                <a:solidFill>
                  <a:schemeClr val="bg2"/>
                </a:solidFill>
              </a:rPr>
              <a:t> </a:t>
            </a:r>
            <a:r>
              <a:rPr lang="ru-RU" altLang="ru-RU" sz="2800" dirty="0"/>
              <a:t>(</a:t>
            </a:r>
            <a:r>
              <a:rPr lang="ru-RU" altLang="ru-RU" sz="2800" i="1" dirty="0"/>
              <a:t>включающему языку</a:t>
            </a:r>
            <a:r>
              <a:rPr lang="ru-RU" altLang="ru-RU" sz="2800" dirty="0"/>
              <a:t>), позволяющий использовать </a:t>
            </a:r>
            <a:r>
              <a:rPr lang="ru-RU" altLang="ru-RU" sz="2800" dirty="0">
                <a:solidFill>
                  <a:schemeClr val="accent1"/>
                </a:solidFill>
              </a:rPr>
              <a:t>последний</a:t>
            </a:r>
            <a:r>
              <a:rPr lang="ru-RU" altLang="ru-RU" sz="2800" dirty="0"/>
              <a:t> для обработки данных в базе данных</a:t>
            </a:r>
          </a:p>
          <a:p>
            <a:pPr marL="266700" indent="-266700">
              <a:lnSpc>
                <a:spcPct val="120000"/>
              </a:lnSpc>
            </a:pPr>
            <a:r>
              <a:rPr lang="ru-RU" altLang="ru-RU" sz="2800" dirty="0"/>
              <a:t>Термин включающий язык (</a:t>
            </a:r>
            <a:r>
              <a:rPr lang="en-US" altLang="ru-RU" sz="2800" dirty="0">
                <a:solidFill>
                  <a:schemeClr val="accent1"/>
                </a:solidFill>
              </a:rPr>
              <a:t>host language</a:t>
            </a:r>
            <a:r>
              <a:rPr lang="en-US" altLang="ru-RU" sz="2800" dirty="0"/>
              <a:t>) </a:t>
            </a:r>
            <a:r>
              <a:rPr lang="ru-RU" altLang="ru-RU" sz="2800" dirty="0"/>
              <a:t>впервые был применен </a:t>
            </a:r>
            <a:r>
              <a:rPr lang="ru-RU" altLang="ru-RU" sz="2800" dirty="0" err="1"/>
              <a:t>Олле</a:t>
            </a:r>
            <a:r>
              <a:rPr lang="ru-RU" altLang="ru-RU" sz="2800" dirty="0"/>
              <a:t> Т.В. в</a:t>
            </a:r>
            <a:r>
              <a:rPr lang="en-US" altLang="ru-RU" sz="2800" dirty="0"/>
              <a:t> 1969 </a:t>
            </a:r>
            <a:r>
              <a:rPr lang="ru-RU" altLang="ru-RU" sz="2800" dirty="0"/>
              <a:t>г.</a:t>
            </a:r>
          </a:p>
          <a:p>
            <a:pPr marL="266700" indent="-266700">
              <a:lnSpc>
                <a:spcPct val="120000"/>
              </a:lnSpc>
            </a:pPr>
            <a:r>
              <a:rPr lang="ru-RU" sz="2800" dirty="0"/>
              <a:t>Рассматривались 2 подхода к реализации СУБД с включающим языком:</a:t>
            </a:r>
          </a:p>
          <a:p>
            <a:pPr marL="541338" lvl="1" indent="-274638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sz="2400" dirty="0"/>
              <a:t>Использование стандартных версий языков программирования. Для извлечения данных из БД программист обращается помощью операторов </a:t>
            </a:r>
            <a:r>
              <a:rPr lang="en-US" sz="2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CALL</a:t>
            </a:r>
            <a:r>
              <a:rPr lang="en-US" sz="2400" dirty="0"/>
              <a:t> </a:t>
            </a:r>
            <a:r>
              <a:rPr lang="ru-RU" sz="2400" dirty="0"/>
              <a:t>к БД из программы на включающем языке.</a:t>
            </a:r>
          </a:p>
          <a:p>
            <a:pPr marL="541338" lvl="1" indent="-274638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sz="2400" dirty="0"/>
              <a:t>Изменение существующего языка (Кобол, ПЛ/1) с включением операторов работы с БД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0B23B-CB10-23EB-438B-2C59E6EE45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Язык манипулирования данными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E7EB80-DC26-EE62-9425-A895F41FE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889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0388-0BA7-9BEA-D327-536D41BBD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FEDFC8-D5E5-FB5B-09AB-275557A7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8A494-A11C-E97B-F3A2-F1947971CB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952328"/>
          </a:xfrm>
        </p:spPr>
        <p:txBody>
          <a:bodyPr numCol="2">
            <a:normAutofit fontScale="47500" lnSpcReduction="20000"/>
          </a:bodyPr>
          <a:lstStyle/>
          <a:p>
            <a:pPr marL="182563" indent="-182563">
              <a:lnSpc>
                <a:spcPct val="120000"/>
              </a:lnSpc>
            </a:pPr>
            <a:r>
              <a:rPr lang="ru-RU" altLang="ru-RU" sz="2800" dirty="0"/>
              <a:t>Разработчик СУБД должен кроме компонентов</a:t>
            </a:r>
          </a:p>
          <a:p>
            <a:pPr marL="358775" lvl="1" indent="-176213">
              <a:lnSpc>
                <a:spcPct val="120000"/>
              </a:lnSpc>
              <a:buFont typeface="Wingdings" pitchFamily="2" charset="2"/>
              <a:buChar char="v"/>
            </a:pPr>
            <a:r>
              <a:rPr lang="ru-RU" altLang="ru-RU" sz="2400" dirty="0"/>
              <a:t>Транслятор ЯОД СХЕМЫ</a:t>
            </a:r>
          </a:p>
          <a:p>
            <a:pPr marL="358775" lvl="1" indent="-176213">
              <a:lnSpc>
                <a:spcPct val="120000"/>
              </a:lnSpc>
              <a:buFont typeface="Wingdings" pitchFamily="2" charset="2"/>
              <a:buChar char="v"/>
            </a:pPr>
            <a:r>
              <a:rPr lang="ru-RU" altLang="ru-RU" sz="2400" dirty="0"/>
              <a:t>Транслятор ЯОД ПОДСХЕМЫ</a:t>
            </a:r>
          </a:p>
          <a:p>
            <a:pPr marL="358775" lvl="1" indent="-176213">
              <a:lnSpc>
                <a:spcPct val="120000"/>
              </a:lnSpc>
              <a:buFont typeface="Wingdings" pitchFamily="2" charset="2"/>
              <a:buChar char="v"/>
            </a:pPr>
            <a:r>
              <a:rPr lang="ru-RU" altLang="ru-RU" sz="2400" dirty="0"/>
              <a:t>Предтранслятор ЯМД (Кобол или Фортран или…)</a:t>
            </a:r>
          </a:p>
          <a:p>
            <a:pPr marL="182563" indent="-182563">
              <a:lnSpc>
                <a:spcPct val="120000"/>
              </a:lnSpc>
              <a:buNone/>
            </a:pPr>
            <a:r>
              <a:rPr lang="ru-RU" altLang="ru-RU" sz="2800" dirty="0"/>
              <a:t>	реализовать </a:t>
            </a:r>
            <a:r>
              <a:rPr lang="ru-RU" altLang="ru-RU" sz="2800" dirty="0">
                <a:solidFill>
                  <a:schemeClr val="accent1"/>
                </a:solidFill>
              </a:rPr>
              <a:t>исполнительный компонент</a:t>
            </a:r>
            <a:r>
              <a:rPr lang="ru-RU" altLang="ru-RU" sz="2800" dirty="0"/>
              <a:t>, названый РГБД «управляющей системой базы данных» - </a:t>
            </a:r>
            <a:r>
              <a:rPr lang="en-US" altLang="ru-RU" sz="2800" dirty="0"/>
              <a:t>Data Base Control System</a:t>
            </a:r>
            <a:endParaRPr lang="ru-RU" altLang="ru-RU" sz="2800" dirty="0"/>
          </a:p>
          <a:p>
            <a:pPr marL="182563" indent="-182563">
              <a:lnSpc>
                <a:spcPct val="120000"/>
              </a:lnSpc>
            </a:pPr>
            <a:r>
              <a:rPr lang="ru-RU" altLang="ru-RU" sz="2800" dirty="0"/>
              <a:t>Все программы, обращающиеся к БД, вызывают исполнительный модуль</a:t>
            </a:r>
          </a:p>
          <a:p>
            <a:pPr marL="182563" indent="-182563">
              <a:lnSpc>
                <a:spcPct val="120000"/>
              </a:lnSpc>
            </a:pPr>
            <a:r>
              <a:rPr lang="ru-RU" sz="2800" dirty="0"/>
              <a:t>Таким образом этот код этого модуля должен быть </a:t>
            </a:r>
            <a:r>
              <a:rPr lang="ru-RU" sz="2800" i="1" dirty="0"/>
              <a:t>реентерабельным</a:t>
            </a:r>
          </a:p>
          <a:p>
            <a:pPr marL="182563" indent="-182563">
              <a:lnSpc>
                <a:spcPct val="120000"/>
              </a:lnSpc>
            </a:pPr>
            <a:r>
              <a:rPr lang="ru-RU" sz="2800" dirty="0"/>
              <a:t>Для обеспечения реентерабельности необходимо выполнение нескольких условий:</a:t>
            </a:r>
          </a:p>
          <a:p>
            <a:pPr marL="358775" lvl="1" indent="-176213">
              <a:lnSpc>
                <a:spcPct val="120000"/>
              </a:lnSpc>
              <a:buFont typeface="Wingdings" pitchFamily="2" charset="2"/>
              <a:buChar char="v"/>
            </a:pPr>
            <a:r>
              <a:rPr lang="ru-RU" sz="2400" dirty="0"/>
              <a:t>никакая часть вызываемого кода не должна модифицироваться;</a:t>
            </a:r>
          </a:p>
          <a:p>
            <a:pPr marL="358775" lvl="1" indent="-176213">
              <a:lnSpc>
                <a:spcPct val="120000"/>
              </a:lnSpc>
              <a:buFont typeface="Wingdings" pitchFamily="2" charset="2"/>
              <a:buChar char="v"/>
            </a:pPr>
            <a:r>
              <a:rPr lang="ru-RU" sz="2400" dirty="0"/>
              <a:t>вызываемая процедура не должна сохранять информацию между вызовами;</a:t>
            </a:r>
          </a:p>
          <a:p>
            <a:pPr marL="358775" lvl="1" indent="-176213">
              <a:lnSpc>
                <a:spcPct val="120000"/>
              </a:lnSpc>
              <a:buFont typeface="Wingdings" pitchFamily="2" charset="2"/>
              <a:buChar char="v"/>
            </a:pPr>
            <a:r>
              <a:rPr lang="ru-RU" sz="2400" dirty="0"/>
              <a:t>если процедура изменяет какие-либо данные, то они должны быть уникальными для каждого пользователя;</a:t>
            </a:r>
          </a:p>
          <a:p>
            <a:pPr marL="358775" lvl="1" indent="-176213">
              <a:lnSpc>
                <a:spcPct val="120000"/>
              </a:lnSpc>
              <a:buFont typeface="Wingdings" pitchFamily="2" charset="2"/>
              <a:buChar char="v"/>
            </a:pPr>
            <a:r>
              <a:rPr lang="ru-RU" sz="2400" dirty="0"/>
              <a:t>процедура не должна возвращать указатели на объекты, общие для разных пользователей.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B9490-A34B-B753-5D56-2F59584BDA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Резидентный исполнительный модуль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D23E9A-8909-681F-2096-B0659C6D5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377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4CF41-39D6-CEBD-BC3C-995F3DC26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610D84-9054-9DB2-8B0B-2418F6A35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5C330-B0BD-46C4-DF99-6EDEA46F83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952328"/>
          </a:xfrm>
        </p:spPr>
        <p:txBody>
          <a:bodyPr numCol="1"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altLang="ru-RU" sz="2800" dirty="0"/>
              <a:t>ЯУВН – компонент СУБД, который выполняет следующие функции: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v"/>
            </a:pPr>
            <a:r>
              <a:rPr lang="ru-RU" altLang="ru-RU" sz="2400" dirty="0"/>
              <a:t>Взаимодействие с операционной системой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v"/>
            </a:pPr>
            <a:r>
              <a:rPr lang="ru-RU" altLang="ru-RU" sz="2400" dirty="0"/>
              <a:t>Отображение частей базы данных на запоминающие устройства прямого доступа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v"/>
            </a:pPr>
            <a:r>
              <a:rPr lang="ru-RU" altLang="ru-RU" sz="2400" dirty="0"/>
              <a:t>Упаковка записей базы данных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v"/>
            </a:pPr>
            <a:r>
              <a:rPr lang="ru-RU" altLang="ru-RU" sz="2400" dirty="0"/>
              <a:t>Средства восстановления базы данных</a:t>
            </a:r>
            <a:endParaRPr lang="ru-RU" altLang="ru-RU" sz="2800" dirty="0"/>
          </a:p>
          <a:p>
            <a:pPr>
              <a:lnSpc>
                <a:spcPct val="120000"/>
              </a:lnSpc>
            </a:pPr>
            <a:r>
              <a:rPr lang="ru-RU" sz="2800" dirty="0"/>
              <a:t>Это второй уровень определения данных</a:t>
            </a:r>
            <a:br>
              <a:rPr lang="ru-RU" sz="2800" dirty="0"/>
            </a:br>
            <a:r>
              <a:rPr lang="ru-RU" sz="2800" dirty="0"/>
              <a:t>(Первый уровень – ЯОД (СХЕМА ДАННЫХ))</a:t>
            </a:r>
            <a:endParaRPr lang="ru-RU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B99A6-B39E-2409-6A77-8E1E5C1F87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Язык управления размещением на внешних носителях (ЯУВН)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80B379-DDDC-88B8-7956-A6F787B74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531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70642-4F19-F8EE-1DB0-0A3B59716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02E8B4-971F-D20D-FF18-335A68582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BEA5A-6BE3-8AF3-12BC-B6C65EE74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664296"/>
          </a:xfrm>
        </p:spPr>
        <p:txBody>
          <a:bodyPr numCol="1">
            <a:normAutofit fontScale="4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2800" dirty="0"/>
              <a:t>Язык описания данных имеет несколько разделов: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sz="2200" dirty="0"/>
              <a:t>описание базы данных — области размещения;</a:t>
            </a: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2200" dirty="0">
                <a:solidFill>
                  <a:srgbClr val="3333FF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	SCHEMA IS &lt;Имя БД&gt;.</a:t>
            </a:r>
            <a:br>
              <a:rPr lang="ru-RU" sz="2200" dirty="0">
                <a:solidFill>
                  <a:srgbClr val="3333FF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sz="2200" dirty="0">
                <a:solidFill>
                  <a:srgbClr val="3333FF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AREA NAME IS &lt;Имя физической области&gt;.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sz="2200" dirty="0"/>
              <a:t>описания записей — элементов и агрегатов (каждого в отдельности);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sz="2200" dirty="0"/>
              <a:t>описания наборов (каждого в отдельности).</a:t>
            </a:r>
          </a:p>
          <a:p>
            <a:pPr marL="342900" lvl="1" indent="-342900"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</a:pPr>
            <a:r>
              <a:rPr lang="ru-RU" sz="2700" dirty="0"/>
              <a:t>Так как сетевая модель данных разрабатывалась в то время, когда для программирования бизнес-приложений использовался язык Кобол, а потом и ПЛ/1, то основной структурной единицей стала ЗАПИСЬ </a:t>
            </a:r>
          </a:p>
          <a:p>
            <a:pPr marL="342900" lvl="1" indent="-342900"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</a:pPr>
            <a:r>
              <a:rPr lang="ru-RU" sz="2700" dirty="0"/>
              <a:t>В описании базы данных может не быть наборов, но должна быть хотя одна ЗАПИСЬ</a:t>
            </a:r>
          </a:p>
          <a:p>
            <a:pPr marL="342900" lvl="1" indent="-342900">
              <a:lnSpc>
                <a:spcPct val="120000"/>
              </a:lnSpc>
              <a:spcBef>
                <a:spcPts val="600"/>
              </a:spcBef>
              <a:buClr>
                <a:schemeClr val="bg2"/>
              </a:buClr>
              <a:buSzPct val="75000"/>
            </a:pPr>
            <a:r>
              <a:rPr lang="ru-RU" sz="2700" dirty="0"/>
              <a:t>Программа оперирует записями: считывает или записывает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846DFA-73B7-49A6-B287-202ED9BD98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Язык описания данных СХЕМЫ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1DCDCC-5270-663C-D156-A3DB5F55E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553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F52A4-F260-A6E1-E6D9-83930CFAB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7EA48C-8924-C92B-A038-E77C01406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42C7F-61B4-47C3-D6D3-87BEB99F35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2664296"/>
          </a:xfrm>
        </p:spPr>
        <p:txBody>
          <a:bodyPr numCol="1">
            <a:normAutofit fontScale="4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800" u="sng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RECORD</a:t>
            </a:r>
            <a:r>
              <a:rPr lang="ru-RU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NAME  IS 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&lt;Имя записи (уникальное)&gt;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800" dirty="0"/>
              <a:t>Для каждой записи определяется способ размещения экземпляров записи </a:t>
            </a:r>
            <a:r>
              <a:rPr lang="ru-RU" sz="2800" b="1" dirty="0">
                <a:solidFill>
                  <a:schemeClr val="accent1"/>
                </a:solidFill>
              </a:rPr>
              <a:t>данного типа</a:t>
            </a:r>
            <a:r>
              <a:rPr lang="ru-RU" sz="2800" dirty="0"/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800" dirty="0">
                <a:solidFill>
                  <a:schemeClr val="accent1"/>
                </a:solidFill>
              </a:rPr>
              <a:t> </a:t>
            </a:r>
            <a:r>
              <a:rPr lang="en-US" sz="2800" u="sng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LOCATION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MODE IS</a:t>
            </a:r>
            <a:r>
              <a:rPr lang="ru-RU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br>
              <a:rPr lang="ru-RU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DIRECT</a:t>
            </a:r>
            <a:r>
              <a:rPr lang="en-US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ru-RU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напрямую по некоторому </a:t>
            </a:r>
            <a:r>
              <a:rPr lang="ru-RU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физ.адресу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b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| </a:t>
            </a:r>
            <a:r>
              <a:rPr lang="ru-RU" sz="2800" u="sng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CALC</a:t>
            </a:r>
            <a:r>
              <a:rPr lang="ru-RU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&lt;Имя программы&gt;</a:t>
            </a:r>
            <a:r>
              <a:rPr lang="ru-RU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USING</a:t>
            </a:r>
            <a:r>
              <a:rPr lang="ru-RU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&lt;[Список пер.</a:t>
            </a:r>
            <a:r>
              <a:rPr lang="en-US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]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 </a:t>
            </a:r>
            <a:r>
              <a:rPr lang="ru-RU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DUPLICATE ARE 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[</a:t>
            </a:r>
            <a:r>
              <a:rPr lang="ru-RU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NOT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]</a:t>
            </a:r>
            <a:r>
              <a:rPr lang="ru-RU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ALLOWED</a:t>
            </a:r>
            <a:r>
              <a:rPr lang="ru-RU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 </a:t>
            </a:r>
            <a:br>
              <a:rPr lang="ru-RU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|</a:t>
            </a:r>
            <a:r>
              <a:rPr lang="en-US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800" u="sng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VIA</a:t>
            </a:r>
            <a:r>
              <a:rPr lang="ru-RU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&lt;Имя набора&gt;</a:t>
            </a:r>
            <a:r>
              <a:rPr lang="ru-RU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</a:t>
            </a:r>
            <a:r>
              <a:rPr lang="ru-RU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(рядом с записями владельца)</a:t>
            </a:r>
            <a:r>
              <a:rPr lang="ru-RU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 </a:t>
            </a:r>
            <a:br>
              <a:rPr lang="en-US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| </a:t>
            </a:r>
            <a:r>
              <a:rPr lang="ru-RU" sz="2800" u="sng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SYSTEM</a:t>
            </a:r>
            <a:r>
              <a:rPr lang="ru-RU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(решать будет система)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800" dirty="0"/>
              <a:t>  Каждый </a:t>
            </a:r>
            <a:r>
              <a:rPr lang="ru-RU" sz="2800" b="1" dirty="0">
                <a:solidFill>
                  <a:schemeClr val="accent1"/>
                </a:solidFill>
              </a:rPr>
              <a:t>тип записи </a:t>
            </a:r>
            <a:r>
              <a:rPr lang="ru-RU" sz="2800" dirty="0"/>
              <a:t>должен быть приписан к некоторой физической области размещения: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WITHIN</a:t>
            </a:r>
            <a:r>
              <a:rPr lang="ru-RU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&lt;Имя области размещения&gt;</a:t>
            </a:r>
            <a:r>
              <a:rPr lang="ru-RU" sz="28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8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AREA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8AF08-C4BA-4A9E-0F4E-3B851BA5AD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ru-RU" dirty="0"/>
              <a:t>Язык описания данных СХЕМЫ. Описание записи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B590A5-D59D-10ED-3A57-255A5810A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552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4C45D-634A-9C92-69D4-543C394A8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8AEB2F-CF1D-8CA5-14F5-1DE3CCBCF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04720-5658-18FB-F51B-2B57212EAE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3024336"/>
          </a:xfrm>
        </p:spPr>
        <p:txBody>
          <a:bodyPr numCol="1"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400" dirty="0"/>
              <a:t>После описания записи в целом идет описание внутренней структуры: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400" dirty="0"/>
              <a:t>	</a:t>
            </a:r>
            <a:r>
              <a:rPr lang="ru-RU" sz="1400" dirty="0">
                <a:solidFill>
                  <a:srgbClr val="C0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&lt;Имя уровня&gt; &lt;Имя элемента&gt; &lt;Шаблон&gt; &lt;Тип&gt;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400" dirty="0"/>
              <a:t>Номер уровня определяет уровень вложенности при описании элементов и агрегатов данных.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400" dirty="0"/>
              <a:t>Первый уровень — сама запись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400" dirty="0"/>
              <a:t>Поэтому элементы или агрегаты данных имеют уровень начиная со второго.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400" dirty="0"/>
              <a:t>Если данное соответствует агрегату, то любая его составляющая добавляет один уровень вложенности.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400" dirty="0"/>
              <a:t>Если агрегат является вектором, то он описывается как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400" dirty="0">
                <a:solidFill>
                  <a:srgbClr val="C00000"/>
                </a:solidFill>
              </a:rPr>
              <a:t>	</a:t>
            </a:r>
            <a:r>
              <a:rPr lang="ru-RU" sz="1400" dirty="0">
                <a:solidFill>
                  <a:srgbClr val="C0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&lt;Номер уровня&gt; &lt;Имя агрегата&gt;.&lt;Номер уровня&gt;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400" dirty="0">
                <a:solidFill>
                  <a:srgbClr val="C0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&lt;Имя 1-й сост.&gt;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400" dirty="0"/>
              <a:t>а если — повторяющейся группой, то следующим образом: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400" dirty="0">
                <a:solidFill>
                  <a:srgbClr val="C00000"/>
                </a:solidFill>
              </a:rPr>
              <a:t>	</a:t>
            </a:r>
            <a:r>
              <a:rPr lang="ru-RU" sz="1400" dirty="0">
                <a:solidFill>
                  <a:srgbClr val="C0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&lt;Номер уровня&gt; &lt;Имя агрегата&gt;.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OCCURS</a:t>
            </a:r>
            <a:r>
              <a:rPr lang="ru-RU" sz="1400" dirty="0">
                <a:solidFill>
                  <a:srgbClr val="C0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&lt;N&gt; 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TIMES</a:t>
            </a:r>
            <a:r>
              <a:rPr lang="ru-RU" sz="1400" dirty="0">
                <a:solidFill>
                  <a:srgbClr val="C0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400" dirty="0"/>
              <a:t>где N — среднее количество элементов в группе.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E3686-C7A5-7517-C040-C1012D7BE8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85659" cy="383169"/>
          </a:xfrm>
        </p:spPr>
        <p:txBody>
          <a:bodyPr>
            <a:normAutofit/>
          </a:bodyPr>
          <a:lstStyle/>
          <a:p>
            <a:r>
              <a:rPr lang="ru-RU" dirty="0"/>
              <a:t>Язык описания данных СХЕМЫ. Описание элементов данных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05C6C63-6B63-0BE3-E4AD-6D2F64C34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41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2FBE7-6148-3F2E-DC5D-23A4BDB87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4A5E41-6C5E-4383-7348-5CD1E1DB3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FE35C-94AB-16AB-F0F8-34414E815A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2879714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RECORD NAME IS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СЛУЖАЩИЙ;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LOCATION MODE IS CALC USING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НОМЕР-СЛУЖ;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WITHIN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ОБЛАСТЬ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НОМЕР-СЛУЖ;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9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8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ФАМИЛИЯ-СЛУЖ;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14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ДАТА-РОЖДЕНИЯ;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9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6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ЧИСЛО-СПЕЦ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TYPE IS DECIMAL FIXED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ОБРАЗОВАНИЕ;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OCCURS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ЧИСЛО-СПЕЦ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TIMES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03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СПЕЦИАЛЬНОСТЬ;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X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5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); </a:t>
            </a:r>
            <a:b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CHECK IS VALUE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Б.Ф.,М.Ф.,Б.М.И.,М.М.И., … Б.И.,М.И.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03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ДАТА-ЗАВЕРШ;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9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6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);</a:t>
            </a:r>
            <a:b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CHECK IS VALUE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130101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THRU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960101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03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УЧЕБНОЕ-ЗАВЕД;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X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(14);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2F7D1-764F-C412-42C3-A6CE8A1F01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Пример. Описание Сотрудника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23FFB04-D55B-10A7-92B4-C0C804D55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9969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DE536-045D-CB39-04A5-6C259E4C4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832435-ABBA-5D75-CAF9-5333D682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05760A-1840-C190-0BDC-CC1B033EC6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3024336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/>
              <a:t>При необходимости возможно описание элементов данных, которые не принадлежат непосредственно данной записи, но при ее обработке часто используются.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/>
              <a:t>Для этого используется тип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VIRTUAL</a:t>
            </a:r>
            <a:r>
              <a:rPr lang="ru-RU" sz="1400" dirty="0"/>
              <a:t> с обязательным указанием источника данного элемента данных.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RECORD NAME IS 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Цены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</a:t>
            </a:r>
            <a:r>
              <a:rPr lang="ru-RU" sz="1400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Цена 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TYPE IS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1400" dirty="0">
                <a:solidFill>
                  <a:schemeClr val="accent2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REAL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</a:t>
            </a:r>
            <a:r>
              <a:rPr lang="ru-RU" sz="1400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Товар 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IS VIRTUAL AND SOURCE IS </a:t>
            </a:r>
            <a:br>
              <a:rPr lang="ru-RU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  </a:t>
            </a:r>
            <a:r>
              <a:rPr lang="ru-RU" sz="14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Товары.Наименование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Товара 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OF OWNER OF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Товар-Цены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</a:t>
            </a:r>
            <a:r>
              <a:rPr lang="ru-RU" sz="1400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Поставщик 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IS VIRTUAL AND SOURCE IS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   </a:t>
            </a:r>
            <a:r>
              <a:rPr lang="ru-RU" sz="14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Поставщики.Название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поставщика 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OF OWNER OF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Поставщики-Цены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4AA32-74E7-9677-FB6E-4673A40100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85659" cy="383169"/>
          </a:xfrm>
        </p:spPr>
        <p:txBody>
          <a:bodyPr>
            <a:normAutofit fontScale="92500"/>
          </a:bodyPr>
          <a:lstStyle/>
          <a:p>
            <a:r>
              <a:rPr lang="ru-RU" dirty="0"/>
              <a:t>Язык описания данных СХЕМЫ. Описание элементов данных </a:t>
            </a:r>
            <a:r>
              <a:rPr lang="en-US" dirty="0"/>
              <a:t>(2)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987831C-09FD-2683-568C-8C0540A15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14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B60DC-4A8C-B538-FBEB-2E48081DA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D8C65D-4226-3119-C0AF-FE0D3AC34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11981-7F0B-4A97-1257-A6463E40C1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3024336"/>
          </a:xfrm>
        </p:spPr>
        <p:txBody>
          <a:bodyPr numCol="1"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400" dirty="0"/>
              <a:t>Описание набора и порядка включения членов в него выглядит следующим образом: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400" dirty="0"/>
              <a:t>	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 NAME IS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Имя набора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&gt;;</a:t>
            </a:r>
            <a:endParaRPr lang="ru-RU" sz="14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OWNER IS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(&lt;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Имя владельца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 |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SYSTEM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).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400" dirty="0"/>
              <a:t>Далее указывается способ размещения набора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sz="1400" dirty="0">
                <a:solidFill>
                  <a:srgbClr val="C00000"/>
                </a:solidFill>
              </a:rPr>
              <a:t>	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 MODE IS 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{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CHANED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|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LINKED TO  PRIOR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|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POINTER ARRAY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}</a:t>
            </a:r>
            <a:endParaRPr lang="ru-RU" sz="14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1400" dirty="0"/>
              <a:t>Далее указывается порядок включения новых экземпляров члена данного набора в экземпляр набора: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/>
              <a:t>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ORDER IS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{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PERMANENT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|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TEMPORARY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}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INSERTION IS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{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SORTED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|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NEXT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|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PRIOR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|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LAST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|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FIRST }</a:t>
            </a:r>
            <a:r>
              <a:rPr lang="ru-RU" sz="12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86588-49CD-6E0A-A7F9-C17D9F23A6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85659" cy="383169"/>
          </a:xfrm>
        </p:spPr>
        <p:txBody>
          <a:bodyPr>
            <a:normAutofit/>
          </a:bodyPr>
          <a:lstStyle/>
          <a:p>
            <a:r>
              <a:rPr lang="ru-RU" dirty="0"/>
              <a:t>Язык описания данных СХЕМЫ. Описание набора</a:t>
            </a:r>
            <a:r>
              <a:rPr lang="en-US" dirty="0"/>
              <a:t> (1)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8E1B8B-21A0-B445-4446-3BD8C625E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933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E63AA-448D-A420-F27A-4AAD78658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5F5EE0-571D-A48C-159C-541C2E47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74298-F350-4DC8-976F-649192C0E0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3024336"/>
          </a:xfrm>
        </p:spPr>
        <p:txBody>
          <a:bodyPr numCol="1"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400" dirty="0"/>
              <a:t>После этого описывается член набора с указанием способа включения и способа исключения экземпляра — члена набора из экземпляра набора.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>
                <a:solidFill>
                  <a:srgbClr val="C0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MEMBER IS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&lt;Имя члена набора&gt; 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{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AUTOMATIC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|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MANUAL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} {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MANDATORY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|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OPTIONAL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} </a:t>
            </a:r>
            <a:endParaRPr lang="ru-RU" sz="14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KEY IS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ASCENDING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|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DESCENDING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 </a:t>
            </a:r>
            <a:r>
              <a:rPr lang="en-US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ru-RU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Имя элемента данных</a:t>
            </a:r>
            <a:r>
              <a:rPr lang="en-US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endParaRPr lang="ru-RU" sz="12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400" dirty="0"/>
              <a:t>При автоматическом включении </a:t>
            </a:r>
            <a:r>
              <a:rPr lang="ru-RU" sz="1400" dirty="0">
                <a:solidFill>
                  <a:schemeClr val="accent1"/>
                </a:solidFill>
              </a:rPr>
              <a:t>каждый новый экземпляр </a:t>
            </a:r>
            <a:r>
              <a:rPr lang="ru-RU" sz="1400" dirty="0"/>
              <a:t>члена набора автоматически </a:t>
            </a:r>
            <a:r>
              <a:rPr lang="ru-RU" sz="1400" dirty="0">
                <a:solidFill>
                  <a:schemeClr val="accent1"/>
                </a:solidFill>
              </a:rPr>
              <a:t>попадает в текущий экземпляр набора </a:t>
            </a:r>
            <a:r>
              <a:rPr lang="ru-RU" sz="1400" dirty="0"/>
              <a:t>в соответствии с заданным ранее </a:t>
            </a:r>
            <a:r>
              <a:rPr lang="ru-RU" sz="1400" dirty="0">
                <a:solidFill>
                  <a:schemeClr val="accent1"/>
                </a:solidFill>
              </a:rPr>
              <a:t>порядком включения</a:t>
            </a:r>
            <a:r>
              <a:rPr lang="ru-RU" sz="1400" dirty="0"/>
              <a:t>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400" dirty="0"/>
              <a:t>При ручном способе экземпляр члена набора сначала попадает в БД, а только потом командой 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CONNECT</a:t>
            </a:r>
            <a:r>
              <a:rPr lang="ru-RU" sz="1400" dirty="0"/>
              <a:t> может быть включен в конкретный экземпляр набора.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1400" dirty="0"/>
              <a:t>Если задан способ исключения </a:t>
            </a:r>
            <a:r>
              <a:rPr lang="ru-RU" sz="14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MANDATORY</a:t>
            </a:r>
            <a:r>
              <a:rPr lang="ru-RU" sz="1400" dirty="0">
                <a:solidFill>
                  <a:srgbClr val="C00000"/>
                </a:solidFill>
              </a:rPr>
              <a:t>,</a:t>
            </a:r>
            <a:r>
              <a:rPr lang="ru-RU" sz="1400" dirty="0"/>
              <a:t> то экземпляр записи, исключаемый из набора, автоматически исключается и из базы данных. Иначе просто разрываются связи.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02C88-2685-C711-37DC-0C97867395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85659" cy="383169"/>
          </a:xfrm>
        </p:spPr>
        <p:txBody>
          <a:bodyPr>
            <a:normAutofit/>
          </a:bodyPr>
          <a:lstStyle/>
          <a:p>
            <a:r>
              <a:rPr lang="ru-RU" dirty="0"/>
              <a:t>Язык описания данных СХЕМЫ. Описание набора</a:t>
            </a:r>
            <a:r>
              <a:rPr lang="en-US" dirty="0"/>
              <a:t> (2)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29DF56-6BA3-EBDF-94C2-096378AF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5669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6B920-F5F6-9D04-DCE4-BB09ECFB0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FB3187-C700-C920-DFFD-1B6AE104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0F250-38E9-61CC-A3FC-8695E0C1FD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02394"/>
            <a:ext cx="8541643" cy="3145620"/>
          </a:xfrm>
        </p:spPr>
        <p:txBody>
          <a:bodyPr numCol="2"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RECORD NAME IS </a:t>
            </a:r>
            <a:r>
              <a:rPr lang="ru-RU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СЛУЖАЩИЙ;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LOCATION MODE IS CALC USING </a:t>
            </a:r>
            <a:r>
              <a:rPr lang="ru-RU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НОМЕР-СЛУЖ;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WITHIN</a:t>
            </a:r>
            <a:r>
              <a:rPr lang="en-US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ОБЛАСТЬ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НОМЕР-СЛУЖ;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9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8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ФАМИЛИЯ-СЛУЖ;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14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ДАТА-РОЖДЕНИЯ;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9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6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).</a:t>
            </a:r>
            <a:endParaRPr lang="ru-RU" sz="2000" b="1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b="1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RECORD NAME IS </a:t>
            </a:r>
            <a:r>
              <a:rPr lang="ru-RU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ОБРАЗОВАНИЕ;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LOCATION MODE IS VIA SET </a:t>
            </a:r>
            <a:r>
              <a:rPr lang="ru-RU" sz="2000" b="1" dirty="0">
                <a:solidFill>
                  <a:srgbClr val="C0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СО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WITHIN</a:t>
            </a:r>
            <a:r>
              <a:rPr lang="en-US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ОБЛАСТЬ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000" b="1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ru-RU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НОМЕР-СЛУЖ;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IS ACTUAL AND </a:t>
            </a:r>
            <a:b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  SOURCE IS </a:t>
            </a:r>
            <a:r>
              <a:rPr lang="ru-RU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НОМЕР-СЛУЖ</a:t>
            </a:r>
            <a:r>
              <a:rPr lang="en-US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OF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OWNER OF </a:t>
            </a:r>
            <a:r>
              <a:rPr lang="en-US" sz="2000" b="1" dirty="0">
                <a:solidFill>
                  <a:srgbClr val="C0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CO</a:t>
            </a:r>
            <a:endParaRPr lang="ru-RU" sz="2000" b="1" dirty="0">
              <a:solidFill>
                <a:srgbClr val="C00000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СПЕЦИАЛЬНОСТЬ;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X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5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); </a:t>
            </a:r>
            <a:b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ДАТА-ЗАВЕРШ;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9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6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);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02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УЧЕБНОЕ-ЗАВЕД;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PICTURE IS </a:t>
            </a:r>
            <a:r>
              <a:rPr lang="en-US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X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(14);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=======================================</a:t>
            </a:r>
            <a:endParaRPr lang="en-US" sz="2000" b="1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 NAME IS </a:t>
            </a:r>
            <a:r>
              <a:rPr lang="en-US" sz="2000" b="1" dirty="0">
                <a:solidFill>
                  <a:srgbClr val="C0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CO</a:t>
            </a:r>
            <a:r>
              <a:rPr lang="en-US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MODE IS POINTER ARRAY</a:t>
            </a:r>
            <a:r>
              <a:rPr lang="en-US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OWNER IS </a:t>
            </a:r>
            <a:r>
              <a:rPr lang="ru-RU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СЛУЖАЩИЙ;</a:t>
            </a:r>
            <a:endParaRPr lang="en-US" sz="2000" b="1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ORDER IS PERMANENT INSERTION IS LAST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MEMBER IS </a:t>
            </a:r>
            <a:r>
              <a:rPr lang="ru-RU" sz="20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ОБРАЗОВАНИЕ;</a:t>
            </a:r>
            <a:endParaRPr lang="en-US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425E6-D499-5118-28C6-142CD2A88F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Пример. Описание Сотрудника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1A57A9-4F80-DD05-0BBD-06A92A4D1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634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1375A-51CC-8E8D-9FF3-780107BA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45431B-8847-A2E9-B936-27C4F8922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831F2-C8C1-B015-122D-87737F7E7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3024336"/>
          </a:xfrm>
        </p:spPr>
        <p:txBody>
          <a:bodyPr numCol="1"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Все операции манипулирования данными сетевой модели делятся на </a:t>
            </a:r>
            <a:r>
              <a:rPr lang="ru-RU" sz="2400" i="1" dirty="0">
                <a:solidFill>
                  <a:schemeClr val="accent1">
                    <a:lumMod val="75000"/>
                  </a:schemeClr>
                </a:solidFill>
              </a:rPr>
              <a:t>навигационные операции </a:t>
            </a:r>
            <a:r>
              <a:rPr lang="ru-RU" sz="2400" dirty="0"/>
              <a:t>и </a:t>
            </a:r>
            <a:r>
              <a:rPr lang="ru-RU" sz="2400" i="1" dirty="0">
                <a:solidFill>
                  <a:schemeClr val="accent1">
                    <a:lumMod val="75000"/>
                  </a:schemeClr>
                </a:solidFill>
              </a:rPr>
              <a:t>операции модификации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Навигационные операции осуществляют 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</a:rPr>
              <a:t>перемещение по БД путем прохождения по связям</a:t>
            </a:r>
            <a:r>
              <a:rPr lang="ru-RU" sz="2400" dirty="0"/>
              <a:t>, которые поддерживаются в схеме БД.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В этом случае результатом является 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</a:rPr>
              <a:t>новый единичный объект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,</a:t>
            </a:r>
            <a:r>
              <a:rPr lang="ru-RU" sz="2400" dirty="0"/>
              <a:t> который получает статус </a:t>
            </a:r>
            <a:r>
              <a:rPr lang="ru-RU" sz="2400" i="1" dirty="0">
                <a:solidFill>
                  <a:schemeClr val="accent1">
                    <a:lumMod val="75000"/>
                  </a:schemeClr>
                </a:solidFill>
              </a:rPr>
              <a:t>текущего объекта</a:t>
            </a:r>
            <a:r>
              <a:rPr lang="ru-RU" sz="24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Операции модификации осуществляют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ru-RU" sz="2400" dirty="0"/>
              <a:t>добавление новых экземпляров отдельных типов записей,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ru-RU" sz="2400" dirty="0"/>
              <a:t> добавление экземпляров новых наборов,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ru-RU" sz="2400" dirty="0"/>
              <a:t>удаление экземпляров записей и наборов,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ru-RU" sz="2400" dirty="0"/>
              <a:t>модификацию отдельных составляющих внутри конкретных экземпляров записей.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0135D-F7E3-3026-5AE3-6CB68022FB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85659" cy="383169"/>
          </a:xfrm>
        </p:spPr>
        <p:txBody>
          <a:bodyPr>
            <a:normAutofit/>
          </a:bodyPr>
          <a:lstStyle/>
          <a:p>
            <a:r>
              <a:rPr lang="ru-RU" sz="1800" dirty="0"/>
              <a:t>Язык манипулирования данными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59E0C3-11EC-FD54-1133-AD5B24FB3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631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5DBA2-08BA-1DE8-21B9-87EB651B0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80824-F495-D07C-66E6-4DAB95F411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3024336"/>
          </a:xfrm>
        </p:spPr>
        <p:txBody>
          <a:bodyPr numCol="1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endParaRPr lang="ru-RU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A5E66-2749-B039-AA71-41710221C2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85659" cy="383169"/>
          </a:xfrm>
        </p:spPr>
        <p:txBody>
          <a:bodyPr>
            <a:normAutofit/>
          </a:bodyPr>
          <a:lstStyle/>
          <a:p>
            <a:r>
              <a:rPr lang="ru-RU" sz="1800" dirty="0"/>
              <a:t>Операторы манипулирования данными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A0353A4-16DC-E642-C8F7-110539B0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CB90E-69C3-A730-49EF-4B0DB92AE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882121"/>
              </p:ext>
            </p:extLst>
          </p:nvPr>
        </p:nvGraphicFramePr>
        <p:xfrm>
          <a:off x="350837" y="1851670"/>
          <a:ext cx="8640960" cy="2926080"/>
        </p:xfrm>
        <a:graphic>
          <a:graphicData uri="http://schemas.openxmlformats.org/drawingml/2006/table">
            <a:tbl>
              <a:tblPr firstRow="1" firstCol="1">
                <a:tableStyleId>{F5AB1C69-6EDB-4FF4-983F-18BD219EF322}</a:tableStyleId>
              </a:tblPr>
              <a:tblGrid>
                <a:gridCol w="1196827">
                  <a:extLst>
                    <a:ext uri="{9D8B030D-6E8A-4147-A177-3AD203B41FA5}">
                      <a16:colId xmlns:a16="http://schemas.microsoft.com/office/drawing/2014/main" val="3698954283"/>
                    </a:ext>
                  </a:extLst>
                </a:gridCol>
                <a:gridCol w="7444133">
                  <a:extLst>
                    <a:ext uri="{9D8B030D-6E8A-4147-A177-3AD203B41FA5}">
                      <a16:colId xmlns:a16="http://schemas.microsoft.com/office/drawing/2014/main" val="4101073591"/>
                    </a:ext>
                  </a:extLst>
                </a:gridCol>
              </a:tblGrid>
              <a:tr h="14349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</a:rPr>
                        <a:t>Операция</a:t>
                      </a:r>
                      <a:endParaRPr lang="ru-RU" sz="1200" b="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200" b="0" dirty="0">
                          <a:effectLst/>
                        </a:rPr>
                        <a:t>Назначение</a:t>
                      </a:r>
                      <a:endParaRPr lang="ru-RU" sz="1200" b="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805620242"/>
                  </a:ext>
                </a:extLst>
              </a:tr>
              <a:tr h="2652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READY</a:t>
                      </a:r>
                      <a:endParaRPr lang="ru-RU" sz="1200" dirty="0">
                        <a:effectLst/>
                        <a:latin typeface="Cascadia Code SemiBold" panose="020B0609020000020004" pitchFamily="49" charset="0"/>
                        <a:ea typeface="Times New Roman"/>
                        <a:cs typeface="Cascadia Code SemiBold" panose="020B0609020000020004" pitchFamily="49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Обеспечение доступа данного процесса или пользователя к БД (сходна по смыслу с операцией открытия файла)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635451590"/>
                  </a:ext>
                </a:extLst>
              </a:tr>
              <a:tr h="14349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FINISH</a:t>
                      </a:r>
                      <a:endParaRPr lang="ru-RU" sz="1200">
                        <a:effectLst/>
                        <a:latin typeface="Cascadia Code SemiBold" panose="020B0609020000020004" pitchFamily="49" charset="0"/>
                        <a:ea typeface="Times New Roman"/>
                        <a:cs typeface="Cascadia Code SemiBold" panose="020B0609020000020004" pitchFamily="49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Окончание работы с БД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537220138"/>
                  </a:ext>
                </a:extLst>
              </a:tr>
              <a:tr h="14349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STORE</a:t>
                      </a:r>
                      <a:endParaRPr lang="ru-RU" sz="1200" dirty="0">
                        <a:effectLst/>
                        <a:latin typeface="Cascadia Code SemiBold" panose="020B0609020000020004" pitchFamily="49" charset="0"/>
                        <a:ea typeface="Times New Roman"/>
                        <a:cs typeface="Cascadia Code SemiBold" panose="020B0609020000020004" pitchFamily="49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Помещение в БД записи, сформированной в рабочей области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823240459"/>
                  </a:ext>
                </a:extLst>
              </a:tr>
              <a:tr h="2652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FIND</a:t>
                      </a:r>
                      <a:endParaRPr lang="ru-RU" sz="1200" dirty="0">
                        <a:effectLst/>
                        <a:latin typeface="Cascadia Code SemiBold" panose="020B0609020000020004" pitchFamily="49" charset="0"/>
                        <a:ea typeface="Times New Roman"/>
                        <a:cs typeface="Cascadia Code SemiBold" panose="020B0609020000020004" pitchFamily="49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Группа операций, устанавливающих указатель найденного объекта на текущий объект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140321290"/>
                  </a:ext>
                </a:extLst>
              </a:tr>
              <a:tr h="2652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GET</a:t>
                      </a:r>
                      <a:endParaRPr lang="ru-RU" sz="1200" dirty="0">
                        <a:effectLst/>
                        <a:latin typeface="Cascadia Code SemiBold" panose="020B0609020000020004" pitchFamily="49" charset="0"/>
                        <a:ea typeface="Times New Roman"/>
                        <a:cs typeface="Cascadia Code SemiBold" panose="020B0609020000020004" pitchFamily="49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Передача найденного объекта в рабочую область. Допустима только после FIND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460186379"/>
                  </a:ext>
                </a:extLst>
              </a:tr>
              <a:tr h="14349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CONNECT</a:t>
                      </a:r>
                      <a:endParaRPr lang="ru-RU" sz="1200" dirty="0">
                        <a:effectLst/>
                        <a:latin typeface="Cascadia Code SemiBold" panose="020B0609020000020004" pitchFamily="49" charset="0"/>
                        <a:ea typeface="Times New Roman"/>
                        <a:cs typeface="Cascadia Code SemiBold" panose="020B0609020000020004" pitchFamily="49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Включение текущей записи в текущий экземпляр набора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890907353"/>
                  </a:ext>
                </a:extLst>
              </a:tr>
              <a:tr h="14349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DISCONNECT</a:t>
                      </a:r>
                      <a:endParaRPr lang="ru-RU" sz="1200" dirty="0">
                        <a:effectLst/>
                        <a:latin typeface="Cascadia Code SemiBold" panose="020B0609020000020004" pitchFamily="49" charset="0"/>
                        <a:ea typeface="Times New Roman"/>
                        <a:cs typeface="Cascadia Code SemiBold" panose="020B0609020000020004" pitchFamily="49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Исключение текущей записи из текущего экземпляра набора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240443482"/>
                  </a:ext>
                </a:extLst>
              </a:tr>
              <a:tr h="14349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MODIFY</a:t>
                      </a:r>
                      <a:endParaRPr lang="ru-RU" sz="1200" dirty="0">
                        <a:effectLst/>
                        <a:latin typeface="Cascadia Code SemiBold" panose="020B0609020000020004" pitchFamily="49" charset="0"/>
                        <a:ea typeface="Times New Roman"/>
                        <a:cs typeface="Cascadia Code SemiBold" panose="020B0609020000020004" pitchFamily="49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Обновление текущей записи данными из рабочей области пользователя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195029496"/>
                  </a:ext>
                </a:extLst>
              </a:tr>
              <a:tr h="14349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ERASE</a:t>
                      </a:r>
                      <a:endParaRPr lang="ru-RU" sz="1200" dirty="0">
                        <a:effectLst/>
                        <a:latin typeface="Cascadia Code SemiBold" panose="020B0609020000020004" pitchFamily="49" charset="0"/>
                        <a:ea typeface="Times New Roman"/>
                        <a:cs typeface="Cascadia Code SemiBold" panose="020B0609020000020004" pitchFamily="49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Удаление экземпляра текущей записи</a:t>
                      </a:r>
                      <a:endParaRPr lang="ru-RU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70264537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9518AB-9330-0A29-9B14-3B27397C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142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92F6-A6F0-7351-6015-59EFAE87F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D1D89F-9E86-F10E-8834-C7053C0C5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2E8B9-A92B-5307-A053-BD57DAD09D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3024336"/>
          </a:xfrm>
        </p:spPr>
        <p:txBody>
          <a:bodyPr numCol="1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В рабочей области пользователя хранятся шаблоны записей, программные переменные и три типа указателей текущего состояния:</a:t>
            </a:r>
          </a:p>
          <a:p>
            <a:pPr marL="342900" lvl="1" indent="-342900">
              <a:spcBef>
                <a:spcPts val="1000"/>
              </a:spcBef>
              <a:buClr>
                <a:srgbClr val="FF0000"/>
              </a:buClr>
            </a:pPr>
            <a:r>
              <a:rPr lang="ru-RU" sz="2100" dirty="0"/>
              <a:t>текущая запись процесса (код или ключ последней записи, с которой работала данная программа);</a:t>
            </a:r>
          </a:p>
          <a:p>
            <a:pPr marL="342900" lvl="1" indent="-342900">
              <a:spcBef>
                <a:spcPts val="1000"/>
              </a:spcBef>
              <a:buClr>
                <a:srgbClr val="FF0000"/>
              </a:buClr>
            </a:pPr>
            <a:r>
              <a:rPr lang="ru-RU" sz="2100" dirty="0"/>
              <a:t>текущая запись типа записи (для каждого типа записи ключ последней записи, с которой работала программа);</a:t>
            </a:r>
          </a:p>
          <a:p>
            <a:pPr marL="342900" lvl="1" indent="-342900">
              <a:spcBef>
                <a:spcPts val="1000"/>
              </a:spcBef>
              <a:buClr>
                <a:srgbClr val="FF0000"/>
              </a:buClr>
            </a:pPr>
            <a:r>
              <a:rPr lang="ru-RU" sz="2100" dirty="0"/>
              <a:t>текущая запись типа набор (для каждого набора с владельцем T1 и членом T2 указывается, T1 или T2 были последней обрабатываемой записью).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582CC-7584-D076-1090-4693366DBC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85659" cy="383169"/>
          </a:xfrm>
        </p:spPr>
        <p:txBody>
          <a:bodyPr>
            <a:normAutofit/>
          </a:bodyPr>
          <a:lstStyle/>
          <a:p>
            <a:r>
              <a:rPr lang="ru-RU" sz="1800" dirty="0"/>
              <a:t>Индикаторы текущего состояния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8D3B1F-18FA-8EC7-0DE6-64D3ACA5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7598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572D7-526D-D951-5A54-69A87B8C9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5D411B-C78F-727E-8289-2E3CD1386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334E8-2968-C788-BD25-7BCCABBC51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3024336"/>
          </a:xfrm>
        </p:spPr>
        <p:txBody>
          <a:bodyPr numCol="2">
            <a:normAutofit fontScale="62500" lnSpcReduction="20000"/>
          </a:bodyPr>
          <a:lstStyle/>
          <a:p>
            <a:pPr marL="180975" lvl="1" indent="-18097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100" dirty="0"/>
              <a:t>По ключу (запись должна быть описана через </a:t>
            </a:r>
            <a:r>
              <a:rPr lang="en-US" sz="2100" dirty="0"/>
              <a:t>CALC USING ... ).</a:t>
            </a:r>
          </a:p>
          <a:p>
            <a:pPr marL="180975" lvl="1" indent="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FIND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&lt;</a:t>
            </a:r>
            <a:r>
              <a:rPr lang="ru-RU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Имя записи&gt; 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RECORD BY CALC KEY 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ru-RU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Имя параметра&gt;</a:t>
            </a:r>
          </a:p>
          <a:p>
            <a:pPr marL="180975" lvl="1" indent="-18097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100" dirty="0"/>
              <a:t>Последовательный просмотр записей данного типа:</a:t>
            </a:r>
          </a:p>
          <a:p>
            <a:pPr marL="180975" lvl="1" indent="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FIND DUPLICATE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&lt;</a:t>
            </a:r>
            <a:r>
              <a:rPr lang="ru-RU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Имя записи&gt; 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RECORD BY CALC KEY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</a:p>
          <a:p>
            <a:pPr marL="180975" lvl="1" indent="-18097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100" dirty="0"/>
              <a:t>Найти владельца текущего экземпляра набора:</a:t>
            </a:r>
          </a:p>
          <a:p>
            <a:pPr marL="180975" lvl="1" indent="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FIND OWNER OF CURRENT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&lt;</a:t>
            </a:r>
            <a:r>
              <a:rPr lang="ru-RU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Имя набора&gt; 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endParaRPr lang="ru-RU" sz="21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lvl="1" indent="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endParaRPr lang="ru-RU" sz="21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lvl="1" indent="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endParaRPr lang="ru-RU" sz="21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lvl="1" indent="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endParaRPr lang="en-US" sz="21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180975" lvl="1" indent="-18097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100" dirty="0"/>
              <a:t>Последовательный просмотр записей—членов текущего экземпляра набора:</a:t>
            </a:r>
          </a:p>
          <a:p>
            <a:pPr marL="180975" lvl="1" indent="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FIND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(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FIRST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|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NEXT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 &lt;</a:t>
            </a:r>
            <a:r>
              <a:rPr lang="ru-RU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Имя записи&gt; 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RECORD IN CURRENT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&lt;</a:t>
            </a:r>
            <a:r>
              <a:rPr lang="ru-RU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Имя набора&gt; 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</a:p>
          <a:p>
            <a:pPr marL="180975" lvl="1" indent="-18097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100" dirty="0"/>
              <a:t>Просмотр записей—членов экземпляра набора, специфицированных рядом полей:</a:t>
            </a:r>
          </a:p>
          <a:p>
            <a:pPr marL="180975" lvl="1" indent="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FIND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[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DUPLICATE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] &lt;</a:t>
            </a:r>
            <a:r>
              <a:rPr lang="ru-RU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Имя записи&gt; 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RECORD IN CURRENT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&lt;</a:t>
            </a:r>
            <a:r>
              <a:rPr lang="ru-RU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Имя набора&gt; 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 USING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&lt;</a:t>
            </a:r>
            <a:r>
              <a:rPr lang="ru-RU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Список полей&gt; </a:t>
            </a:r>
          </a:p>
          <a:p>
            <a:pPr marL="180975" lvl="1" indent="-18097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100" dirty="0"/>
              <a:t>Сделать текущей записью процесса текущий экземпляр набора:</a:t>
            </a:r>
          </a:p>
          <a:p>
            <a:pPr marL="180975" lvl="1" indent="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FIND CURRENT OF 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ru-RU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Имя набора&gt; 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</a:t>
            </a:r>
            <a:endParaRPr lang="en-US" sz="21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180975" lvl="1" indent="-18097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100" dirty="0"/>
              <a:t>Установить текущую запись процесса:</a:t>
            </a:r>
          </a:p>
          <a:p>
            <a:pPr marL="180975" lvl="1" indent="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FIND CURRENT OF </a:t>
            </a:r>
            <a:r>
              <a:rPr lang="en-US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ru-RU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Имя записи&gt; 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RECORD</a:t>
            </a:r>
            <a:endParaRPr lang="ru-RU" sz="2100" dirty="0">
              <a:solidFill>
                <a:schemeClr val="accent1">
                  <a:lumMod val="75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90147-C7C2-8A17-1E50-ABDBA6B3D8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85659" cy="383169"/>
          </a:xfrm>
        </p:spPr>
        <p:txBody>
          <a:bodyPr>
            <a:normAutofit/>
          </a:bodyPr>
          <a:lstStyle/>
          <a:p>
            <a:r>
              <a:rPr lang="ru-RU" sz="1800" dirty="0"/>
              <a:t>Операторы манипулирования данными. Операция </a:t>
            </a:r>
            <a:r>
              <a:rPr lang="en-US" sz="1800" dirty="0"/>
              <a:t>FIND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F81BB2-0ADF-3CDB-8821-7A59BBF2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2325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A207E-DAD3-8BDB-DCA0-912DCDEC5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F03545-AE8A-647D-2813-E075FD5C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95231-B034-EEE9-9814-B153FF3879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6453411" cy="3024336"/>
          </a:xfrm>
        </p:spPr>
        <p:txBody>
          <a:bodyPr numCol="1"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/>
              <a:t>Алгоритм и программа печати заказов, сделанных Петровым, будут выглядеть так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ФИО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=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"</a:t>
            </a:r>
            <a:r>
              <a:rPr lang="ru-RU" sz="20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Петров"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FIND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Люди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RECORD BY CALC KEY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FIND FIRST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Заказы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RECORD IN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CURRENT </a:t>
            </a:r>
            <a:r>
              <a:rPr 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Люди-Заказы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WHILE NOT FAIL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DO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FIND OWNER OF CURRENT </a:t>
            </a:r>
            <a:r>
              <a:rPr 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Товары-Заказы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GET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Товары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PRINT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Наименование товара</a:t>
            </a:r>
            <a:endParaRPr lang="en-US" sz="20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FIND NEXT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Заказы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RECORD IN</a:t>
            </a:r>
            <a:r>
              <a:rPr lang="ru-RU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CURRENT</a:t>
            </a:r>
            <a:r>
              <a:rPr lang="en-US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2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Люди-Заказы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SET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END</a:t>
            </a:r>
            <a:endParaRPr lang="ru-RU" sz="2000" b="1" dirty="0">
              <a:solidFill>
                <a:schemeClr val="accent1">
                  <a:lumMod val="75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338CA-B66C-797E-5ED3-1612624E7A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85659" cy="383169"/>
          </a:xfrm>
        </p:spPr>
        <p:txBody>
          <a:bodyPr>
            <a:normAutofit/>
          </a:bodyPr>
          <a:lstStyle/>
          <a:p>
            <a:r>
              <a:rPr lang="ru-RU" sz="1800" dirty="0"/>
              <a:t>Операция </a:t>
            </a:r>
            <a:r>
              <a:rPr lang="en-US" sz="1800" dirty="0"/>
              <a:t>FIND</a:t>
            </a:r>
            <a:r>
              <a:rPr lang="ru-RU" sz="1800" dirty="0"/>
              <a:t>. Пример.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92D0F3-A709-7BE5-9605-B3FB9141E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  <p:pic>
        <p:nvPicPr>
          <p:cNvPr id="6" name="Picture 4" descr="C:\Users\Борис\Desktop\Рис_СМД_1.jpg">
            <a:extLst>
              <a:ext uri="{FF2B5EF4-FFF2-40B4-BE49-F238E27FC236}">
                <a16:creationId xmlns:a16="http://schemas.microsoft.com/office/drawing/2014/main" id="{A9C4A7EC-E90B-8F01-9363-9E071FFF1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374" y="1327658"/>
            <a:ext cx="1173034" cy="348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2694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F9E88-E72D-EEFA-0EB7-EA298623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9442E5-6FFE-E679-F95E-7830DD744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4CE20-4639-3FCD-BCE6-6B82205461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851670"/>
            <a:ext cx="8541643" cy="3024336"/>
          </a:xfrm>
        </p:spPr>
        <p:txBody>
          <a:bodyPr numCol="1">
            <a:normAutofit fontScale="70000" lnSpcReduction="20000"/>
          </a:bodyPr>
          <a:lstStyle/>
          <a:p>
            <a:pPr marL="180975" lvl="1" indent="-18097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100" dirty="0"/>
              <a:t>Оператор </a:t>
            </a:r>
            <a:r>
              <a:rPr lang="ru-RU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GET</a:t>
            </a:r>
            <a:r>
              <a:rPr lang="ru-RU" sz="2100" dirty="0"/>
              <a:t> переносит содержимое записи, указанной </a:t>
            </a:r>
            <a:r>
              <a:rPr lang="ru-RU" sz="2100" dirty="0">
                <a:solidFill>
                  <a:schemeClr val="accent1">
                    <a:lumMod val="75000"/>
                  </a:schemeClr>
                </a:solidFill>
              </a:rPr>
              <a:t>индикатором текущего состояния процесса</a:t>
            </a:r>
            <a:r>
              <a:rPr lang="ru-RU" sz="2100" dirty="0"/>
              <a:t>, в область записи, соответствующую ее типу. </a:t>
            </a:r>
          </a:p>
          <a:p>
            <a:pPr marL="180975" lvl="1" indent="-18097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100" dirty="0"/>
              <a:t>Формат 1</a:t>
            </a:r>
          </a:p>
          <a:p>
            <a:pPr marL="180975" lvl="1" indent="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ru-RU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GET</a:t>
            </a:r>
            <a:r>
              <a:rPr lang="ru-RU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[ имя записи ] </a:t>
            </a:r>
          </a:p>
          <a:p>
            <a:pPr marL="180975" lvl="1" indent="-18097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100" dirty="0"/>
              <a:t>Формат 2</a:t>
            </a:r>
          </a:p>
          <a:p>
            <a:pPr marL="180975" lvl="1" indent="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ru-RU" sz="2100" dirty="0">
                <a:solidFill>
                  <a:schemeClr val="accent1">
                    <a:lumMod val="75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GET</a:t>
            </a:r>
            <a:r>
              <a:rPr lang="ru-RU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имя записи; ид-данных-1 [ , ид-данных-2 ] …</a:t>
            </a:r>
          </a:p>
          <a:p>
            <a:pPr marL="180975" lvl="1" indent="-18097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100" dirty="0"/>
              <a:t>Оператор </a:t>
            </a:r>
            <a:r>
              <a:rPr lang="ru-RU" sz="2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GET</a:t>
            </a:r>
            <a:r>
              <a:rPr lang="ru-RU" sz="2100" dirty="0"/>
              <a:t> выполняет преобразование данных при передаче из буфера СУБД в рабочую область программы(РОП).</a:t>
            </a:r>
          </a:p>
          <a:p>
            <a:pPr marL="180975" lvl="1" indent="-18097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100" dirty="0"/>
              <a:t>Проверяет соответствие размера переменной в РОП и области данных в буфере СУБД. Например, может скачать в РОП только 23 элемента, хотя в БД запись содержит 31.</a:t>
            </a:r>
          </a:p>
          <a:p>
            <a:pPr marL="180975" lvl="1" indent="-180975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</a:pPr>
            <a:r>
              <a:rPr lang="ru-RU" sz="2100" dirty="0"/>
              <a:t>Подкачивает </a:t>
            </a:r>
            <a:r>
              <a:rPr lang="ru-RU" sz="210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virtual</a:t>
            </a:r>
            <a:r>
              <a:rPr lang="ru-RU" sz="2100" dirty="0"/>
              <a:t> элементы из записи владельца набора.</a:t>
            </a:r>
          </a:p>
          <a:p>
            <a:pPr marL="180975" lvl="1" indent="0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endParaRPr lang="ru-RU" sz="2100" dirty="0">
              <a:solidFill>
                <a:schemeClr val="accent1">
                  <a:lumMod val="75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CBD00-F203-15DA-A891-F178BD25B6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685659" cy="383169"/>
          </a:xfrm>
        </p:spPr>
        <p:txBody>
          <a:bodyPr>
            <a:normAutofit/>
          </a:bodyPr>
          <a:lstStyle/>
          <a:p>
            <a:r>
              <a:rPr lang="ru-RU" sz="1800" dirty="0"/>
              <a:t>Операторы манипулирования данными. Операция </a:t>
            </a:r>
            <a:r>
              <a:rPr lang="en-US" sz="1800" dirty="0"/>
              <a:t>GET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99ADF3-E9A9-D0B9-7511-AE52837C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Сетевая модель данных. Компоненты СУБД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388532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18681</TotalTime>
  <Words>3176</Words>
  <Application>Microsoft Office PowerPoint</Application>
  <PresentationFormat>On-screen Show (16:9)</PresentationFormat>
  <Paragraphs>447</Paragraphs>
  <Slides>36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Cascadia Code SemiBold</vt:lpstr>
      <vt:lpstr>Times New Roman</vt:lpstr>
      <vt:lpstr>Arial</vt:lpstr>
      <vt:lpstr>Aptos Display</vt:lpstr>
      <vt:lpstr>Calibri</vt:lpstr>
      <vt:lpstr>Acrom</vt:lpstr>
      <vt:lpstr>Acrom ExtraBold</vt:lpstr>
      <vt:lpstr>Wingdings</vt:lpstr>
      <vt:lpstr>Acrom Bold</vt:lpstr>
      <vt:lpstr>NSU Content</vt:lpstr>
      <vt:lpstr>NSU Captions</vt:lpstr>
      <vt:lpstr>БАЗЫ ДАННЫХ</vt:lpstr>
      <vt:lpstr>PowerPoint Presentation</vt:lpstr>
      <vt:lpstr>Сетевая модель данных</vt:lpstr>
      <vt:lpstr>Сетевая модель данных</vt:lpstr>
      <vt:lpstr>Сетевая модель данных</vt:lpstr>
      <vt:lpstr>Сетевая модель данных</vt:lpstr>
      <vt:lpstr>Сетевая модель данных</vt:lpstr>
      <vt:lpstr>Сетевая модель данных</vt:lpstr>
      <vt:lpstr>Сетевая модель данных</vt:lpstr>
      <vt:lpstr>Сетевая модель данных</vt:lpstr>
      <vt:lpstr>Сетевая модель данных</vt:lpstr>
      <vt:lpstr>Сетевая модель данных</vt:lpstr>
      <vt:lpstr>Сетевая модель данных</vt:lpstr>
      <vt:lpstr>Сетевая модель данных</vt:lpstr>
      <vt:lpstr>Сетевая модель данных</vt:lpstr>
      <vt:lpstr>Сетевая модель данных</vt:lpstr>
      <vt:lpstr>Сетевая модель данных. Компоненты СУБД </vt:lpstr>
      <vt:lpstr>Сетевая модель данных. Компоненты СУБД </vt:lpstr>
      <vt:lpstr>Сетевая модель данных. Компоненты СУБД </vt:lpstr>
      <vt:lpstr>Сетевая модель данных. Компоненты СУБД </vt:lpstr>
      <vt:lpstr>Сетевая модель данных. Компоненты СУБД </vt:lpstr>
      <vt:lpstr>Сетевая модель данных. Компоненты СУБД </vt:lpstr>
      <vt:lpstr>Сетевая модель данных. Компоненты СУБД </vt:lpstr>
      <vt:lpstr>Сетевая модель данных. Компоненты СУБД </vt:lpstr>
      <vt:lpstr>Сетевая модель данных. Компоненты СУБД </vt:lpstr>
      <vt:lpstr>Сетевая модель данных</vt:lpstr>
      <vt:lpstr>Сетевая модель данных. Компоненты СУБД </vt:lpstr>
      <vt:lpstr>Сетевая модель данных. Компоненты СУБД </vt:lpstr>
      <vt:lpstr>Сетевая модель данных. Компоненты СУБД </vt:lpstr>
      <vt:lpstr>Сетевая модель данных</vt:lpstr>
      <vt:lpstr>Сетевая модель данных. Компоненты СУБД </vt:lpstr>
      <vt:lpstr>Сетевая модель данных. Компоненты СУБД </vt:lpstr>
      <vt:lpstr>Сетевая модель данных. Компоненты СУБД </vt:lpstr>
      <vt:lpstr>Сетевая модель данных. Компоненты СУБД </vt:lpstr>
      <vt:lpstr>Сетевая модель данных. Компоненты СУБД </vt:lpstr>
      <vt:lpstr>Сетевая модель данных. Компоненты СУБД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925</cp:revision>
  <dcterms:created xsi:type="dcterms:W3CDTF">2016-08-15T04:55:12Z</dcterms:created>
  <dcterms:modified xsi:type="dcterms:W3CDTF">2025-02-24T17:39:30Z</dcterms:modified>
</cp:coreProperties>
</file>