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1"/>
  </p:notesMasterIdLst>
  <p:sldIdLst>
    <p:sldId id="514" r:id="rId3"/>
    <p:sldId id="524" r:id="rId4"/>
    <p:sldId id="526" r:id="rId5"/>
    <p:sldId id="534" r:id="rId6"/>
    <p:sldId id="535" r:id="rId7"/>
    <p:sldId id="540" r:id="rId8"/>
    <p:sldId id="539" r:id="rId9"/>
    <p:sldId id="541" r:id="rId10"/>
    <p:sldId id="545" r:id="rId11"/>
    <p:sldId id="546" r:id="rId12"/>
    <p:sldId id="537" r:id="rId13"/>
    <p:sldId id="542" r:id="rId14"/>
    <p:sldId id="548" r:id="rId15"/>
    <p:sldId id="550" r:id="rId16"/>
    <p:sldId id="543" r:id="rId17"/>
    <p:sldId id="547" r:id="rId18"/>
    <p:sldId id="549" r:id="rId19"/>
    <p:sldId id="551" r:id="rId20"/>
    <p:sldId id="552" r:id="rId21"/>
    <p:sldId id="553" r:id="rId22"/>
    <p:sldId id="525" r:id="rId23"/>
    <p:sldId id="527" r:id="rId24"/>
    <p:sldId id="528" r:id="rId25"/>
    <p:sldId id="529" r:id="rId26"/>
    <p:sldId id="530" r:id="rId27"/>
    <p:sldId id="531" r:id="rId28"/>
    <p:sldId id="532" r:id="rId29"/>
    <p:sldId id="533" r:id="rId30"/>
  </p:sldIdLst>
  <p:sldSz cx="9144000" cy="5143500" type="screen16x9"/>
  <p:notesSz cx="6858000" cy="9144000"/>
  <p:embeddedFontLst>
    <p:embeddedFont>
      <p:font typeface="Acrom" panose="020B0604020202020204" charset="-52"/>
      <p:regular r:id="rId32"/>
    </p:embeddedFont>
    <p:embeddedFont>
      <p:font typeface="Acrom Bold" panose="020B0604020202020204" charset="-52"/>
      <p:bold r:id="rId33"/>
    </p:embeddedFont>
    <p:embeddedFont>
      <p:font typeface="Acrom ExtraBold" panose="020B0604020202020204" charset="-52"/>
      <p:bold r:id="rId34"/>
    </p:embeddedFont>
    <p:embeddedFont>
      <p:font typeface="Cambria Math" panose="02040503050406030204" pitchFamily="18" charset="0"/>
      <p:regular r:id="rId35"/>
    </p:embeddedFont>
    <p:embeddedFont>
      <p:font typeface="Cascadia Mono SemiLight" panose="020B0609020000020004" pitchFamily="49" charset="0"/>
      <p:regular r:id="rId36"/>
      <p:italic r:id="rId3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6"/>
            <p14:sldId id="534"/>
            <p14:sldId id="535"/>
            <p14:sldId id="540"/>
            <p14:sldId id="539"/>
            <p14:sldId id="541"/>
            <p14:sldId id="545"/>
            <p14:sldId id="546"/>
            <p14:sldId id="537"/>
            <p14:sldId id="542"/>
            <p14:sldId id="548"/>
            <p14:sldId id="550"/>
            <p14:sldId id="543"/>
            <p14:sldId id="547"/>
            <p14:sldId id="549"/>
            <p14:sldId id="551"/>
            <p14:sldId id="552"/>
            <p14:sldId id="553"/>
            <p14:sldId id="525"/>
            <p14:sldId id="527"/>
            <p14:sldId id="528"/>
            <p14:sldId id="529"/>
            <p14:sldId id="530"/>
            <p14:sldId id="531"/>
            <p14:sldId id="532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20808"/>
    <a:srgbClr val="C1F3FF"/>
    <a:srgbClr val="90D1DC"/>
    <a:srgbClr val="8FAADC"/>
    <a:srgbClr val="E9EBF5"/>
    <a:srgbClr val="5F9E38"/>
    <a:srgbClr val="9292FB"/>
    <a:srgbClr val="007D9A"/>
    <a:srgbClr val="5085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83051" autoAdjust="0"/>
  </p:normalViewPr>
  <p:slideViewPr>
    <p:cSldViewPr>
      <p:cViewPr varScale="1">
        <p:scale>
          <a:sx n="116" d="100"/>
          <a:sy n="116" d="100"/>
        </p:scale>
        <p:origin x="141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24.10.2024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93855-F609-5FA3-71AB-7EB84729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1F719-8BC0-48B4-A75C-DA5C9CB41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A20A4-4BF1-C97C-7D5C-09F4DA9C5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42101-0B19-65CB-D8D4-846502DEE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36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9AA8-0FA6-DA97-64BD-F5159BB9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E546C-2913-1B46-512E-66597E2DA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AABE8-C0DB-B42A-F6A2-E4FD5720A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D8B8B-97E2-9C88-8357-7F9FD157E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45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F3D9-331C-7835-1AC4-13687830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F1BA7-8ADD-E015-AF6E-B587A5899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8977F-68D0-BDB2-7AC0-752F3E6DF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CBB75-360F-DC64-A3E9-655362306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5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F711-61FE-A0E9-513F-99410548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C6C41-06B2-D569-CF9E-A0E990459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36A2F-976C-8D4A-1D5F-80D650A57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C69F3-0E15-BC5A-6CF2-E7DBD206E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830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9ECF-823D-E191-EE41-3F2CD2B4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8D331-0B04-D26D-2CB6-696EE8DF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8F0E-35D3-74D2-BBB4-0CEC7B0B5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6F5B3-CFC2-D029-9AC7-29EF90C4F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026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E662-333C-B139-AD1A-17D8DCB2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C4759-3A4A-3472-ED38-9F5E3C67D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E786F-72E2-341F-1449-3176FE3D6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BEC36-03A7-3999-034E-9657E934C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260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AB34-A186-6B18-357F-851EF80D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DDF30-9BFB-461C-CEBE-47C3B92FD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6A3DF-84B6-02A5-404E-46576A05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70132-A507-08AE-5590-A290F254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872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B0C5-1B37-9E49-4EFF-B8BC9391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A68CB-EAA4-1B1E-E8EE-7DB078E39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E236D-507F-367F-F7F5-C54AEEDCC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3C98F-F578-1D55-4E90-35565A679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632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EEA7-A391-0220-81EA-8B98F4AE8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67597-504C-F910-18D9-5A4D69593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B39F1-AF9B-8302-7DF3-D38FA7541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72ACF-E3F7-79FE-5E6D-5AF6B8425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355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2AC7-31B4-1A22-DB4F-AA78808B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28AD9-0A90-BA99-BA64-FE0D78B5C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30D27-5735-F0CF-C5B6-AAF278B4A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CC8EA-BDF7-EC64-CF79-718A4E486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617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9D32-CB78-6F99-F384-D65BF8C6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D787E-6110-56BE-A944-F15E684D7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FC6B6-8B69-7708-AAA9-E77C6713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02585-7358-877B-BE5A-30D067020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887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DD8B-26B8-8CE2-6706-861BF40C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EF0A3-0C9B-C62F-F3AE-57B1FE1E4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AFBE6-B03F-26ED-B0B3-120E0B079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2872-F124-A9D4-63B9-24F765F67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872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53E2-9919-9141-D877-A6803E69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85A3A-7712-CF33-10A4-9DDABEAC2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9B905-2F68-0093-63D0-7309C365E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3A3B7-AA35-FD2E-823A-49C36CE4B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540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9380-2A0C-8EFB-E201-266CDEEB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F5038-160B-D7C2-6952-80666F761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872B1-F89B-F446-CDFC-C05D69F03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28A99-30AD-6BE8-8B45-F581832A8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160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25DA-0B03-CE1E-C5C8-FDBBDF4F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0E64A-91F5-1541-E514-3F10C1DC7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2F4BB-CABD-FEF7-7661-BF322BB13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F4C76-C6EC-597A-0D9E-F0EA241AF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146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84766-6225-A770-54D3-A2557128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89A3F-CEC8-102D-887F-395C02AFD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3F505-0977-2298-EEE0-884A492D6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A3F98-E964-DF9F-DC67-867C264B6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897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953F-96B7-7695-E672-7CA984B5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C0D7C-FC31-169A-460F-C088A0147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65DD4-AEEF-DC70-D835-C24C8AEA8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6E372-A852-4D66-445F-959BF8F56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281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105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0F9D-2E3F-8D3C-C52C-B743289B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218E7-36DC-2C9F-9E19-8ED2B3036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543B7-4F2E-4849-D0F5-A72CFD000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78CF-942B-DF43-0A0E-90AD44AFE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972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CDED-4091-34E8-7D84-1C8453E9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8E719-0D1E-C255-5727-FD3B8B5BD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DE881-80D8-36EA-24BD-FB7247BBE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A2085-85D8-671F-9C76-172B2FA2C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041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14DA-98CE-A31B-A73E-E0A04764A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55722-9455-D114-B172-792901740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BC574-4A2E-2E76-0415-F2649A3F8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0129C-60F1-811B-441B-C62D22D25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179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B93B-57B1-34CB-06AC-A69F3270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C7C69-5109-D234-74DB-0E23F4F2E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673FD-C76D-89BF-4B24-4E473E88A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AE421-9668-7C75-6F10-E451B8822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4137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EAA2-8CC4-9A80-D94F-4B153178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A0D35-BE4E-A348-ACDF-97F7E3662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AD982-F1F4-D791-6264-9B4C5CC1F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DEAD-CD1A-DC28-FDD2-2559F8C8C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14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F59D-76B5-6350-4AE4-736B301E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94059-C218-8256-A905-99400C250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3739E-F9B9-27C2-D6CE-928E364D3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082FF-1FD1-5F71-72A3-B393DE418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168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57E47-20B8-891B-A7E1-EB5C8728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D32D5-D91F-6072-8C94-52856645D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A2CBA-B866-4292-1739-8117A52D8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6C2D9-0606-CF5E-2BA3-BFB1C5698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37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24.10.2024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24.10.2024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24.10.2024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24.10.2024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24.10.2024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37nptv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48x98pnk/6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48x98pnk/7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48x98pnk/12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423347"/>
          </a:xfrm>
        </p:spPr>
        <p:txBody>
          <a:bodyPr>
            <a:normAutofit/>
          </a:bodyPr>
          <a:lstStyle/>
          <a:p>
            <a:r>
              <a:rPr lang="en-US" dirty="0"/>
              <a:t>SQL-92</a:t>
            </a:r>
            <a:r>
              <a:rPr lang="ru-RU" dirty="0"/>
              <a:t>. 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E3CA52-1F3B-C018-2341-70576F145395}"/>
              </a:ext>
            </a:extLst>
          </p:cNvPr>
          <p:cNvSpPr/>
          <p:nvPr/>
        </p:nvSpPr>
        <p:spPr>
          <a:xfrm>
            <a:off x="350838" y="2499742"/>
            <a:ext cx="1412850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М. Грабер, </a:t>
            </a:r>
            <a:r>
              <a:rPr lang="en-US" b="1" dirty="0"/>
              <a:t>SQL</a:t>
            </a:r>
            <a:r>
              <a:rPr lang="ru-RU" b="1" dirty="0"/>
              <a:t>. Главы 6-12</a:t>
            </a:r>
            <a:r>
              <a:rPr lang="ru-RU" sz="2000" dirty="0"/>
              <a:t> </a:t>
            </a:r>
            <a:endParaRPr lang="en-US" dirty="0">
              <a:solidFill>
                <a:schemeClr val="tx1"/>
              </a:solidFill>
              <a:highlight>
                <a:srgbClr val="C1F3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hlinkClick r:id="rId3"/>
            <a:extLst>
              <a:ext uri="{FF2B5EF4-FFF2-40B4-BE49-F238E27FC236}">
                <a16:creationId xmlns:a16="http://schemas.microsoft.com/office/drawing/2014/main" id="{BB42729A-EB57-CD83-B2FC-A0229A4FE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71750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507D-5449-5BCC-9FCE-040831BB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BDF6E-7B66-7CE0-6FF4-5DE4C7B5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26736-BDDE-AFF2-3CA5-E6EF0BD34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ru-RU" dirty="0"/>
              <a:t> – добавление строк в таблицу БД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ru-RU" dirty="0"/>
              <a:t> – удаление строк из таблицы БД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ru-RU" dirty="0"/>
              <a:t> – изменение строк в таблице БД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dirty="0"/>
              <a:t> – «поиск» данных в БД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E3899-87E1-1F59-C9F6-7AE85DC9D4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B5472-3844-5817-77E2-E1140EBF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18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119C-2345-5BC2-4308-08C054FE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2EF9E-514E-3B64-145B-E8273F38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2DE30-1EBD-6991-D990-E533479416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 [ALL | DISTINCT]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целевой список&gt;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  [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&gt;]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  [GROUP BY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список выражений&gt;]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[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HAVING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&gt;]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[{ UNION | INTERSECT | EXCEPT } [ALL] &lt;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SELECT_statement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&gt;]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[ORDER BY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список критериев&gt;]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A0975-CF56-5388-61AB-4DA78E611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DA146C-D67D-71B2-4A42-61981506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60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1ED3-6B51-AF73-F4B0-43A4DBA6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0911FA-A8E7-7F36-CBCF-49F4AD22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CF3BDB-C598-BAAE-27E6-99F80B05C4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7860"/>
          </a:xfrm>
        </p:spPr>
        <p:txBody>
          <a:bodyPr>
            <a:normAutofit fontScale="92500" lnSpcReduction="10000"/>
          </a:bodyPr>
          <a:lstStyle/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FROM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ru-RU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WHERE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ru-RU" dirty="0"/>
              <a:t>(если есть)</a:t>
            </a:r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GROUP BY </a:t>
            </a:r>
            <a:r>
              <a:rPr lang="ru-RU" dirty="0"/>
              <a:t>(если есть)</a:t>
            </a:r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HAVING </a:t>
            </a:r>
            <a:r>
              <a:rPr lang="ru-RU" dirty="0"/>
              <a:t>(если есть)</a:t>
            </a:r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Выполняются определения в разделе </a:t>
            </a:r>
            <a:r>
              <a:rPr lang="en-US" b="1" dirty="0"/>
              <a:t>SELECT</a:t>
            </a:r>
            <a:endParaRPr lang="ru-RU" b="1" dirty="0"/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Выполняются операторы </a:t>
            </a:r>
            <a:r>
              <a:rPr lang="en-US" dirty="0"/>
              <a:t>UNION/INTERCEPT/EXCEPT (</a:t>
            </a:r>
            <a:r>
              <a:rPr lang="ru-RU" dirty="0"/>
              <a:t>если есть)</a:t>
            </a:r>
            <a:endParaRPr lang="en-US" dirty="0"/>
          </a:p>
          <a:p>
            <a:pPr marL="358775" indent="-358775">
              <a:buClr>
                <a:schemeClr val="accent6">
                  <a:lumMod val="75000"/>
                </a:schemeClr>
              </a:buClr>
              <a:buFont typeface="Wingdings" pitchFamily="2" charset="2"/>
              <a:buAutoNum type="arabicPeriod"/>
              <a:defRPr/>
            </a:pPr>
            <a:r>
              <a:rPr lang="ru-RU" dirty="0"/>
              <a:t>Выполняется раздел </a:t>
            </a:r>
            <a:r>
              <a:rPr lang="en-US" b="1" dirty="0"/>
              <a:t>ORDER BY </a:t>
            </a:r>
            <a:r>
              <a:rPr lang="ru-RU" dirty="0"/>
              <a:t>(если есть)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F1367-877B-F116-D178-7C976403CC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Упрощённая схема выполнения команды </a:t>
            </a:r>
            <a:r>
              <a:rPr lang="en-US" dirty="0"/>
              <a:t>SELECT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03E55D-A340-9321-386B-D9521FAE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8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8D82-6383-2331-8AB3-77925355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2D3148-2175-5F3E-AC47-7AF8BFC1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46AF9-D1BD-A982-5D51-BA9D537CA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7860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целевой список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::= {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[AS &lt;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название_колонки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&gt;]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&lt;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псевдоним_таблицы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&gt;.*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| * } [, ...]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FROM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избегайте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в коде!!!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Продавец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 DISTINCT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Продавец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7974B-4AB6-4A48-1D8C-7C7125D2E1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SELECT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CB8CE2-0731-4A1F-1D80-C23C788E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3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4A35-4570-D1BC-F034-DA518A08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1B700-BC0E-1A8C-BF51-76939F44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2992DF-2696-2CD6-8EDF-92F8DCDADE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78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::=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{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&lt;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имя_табличного_объекта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[AS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псевдоним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&gt;]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|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|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[{ INNER | { { LEFT | RIGHT | FULL } [OUTER]}}]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табличное выражение&gt;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ON &lt;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 соединения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(&lt;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SELECT_statement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&gt;) AS &lt;</a:t>
            </a:r>
            <a:r>
              <a:rPr lang="ru-RU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псевдоним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&gt;}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214B1-AC14-787C-02C2-0B5995DD8A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FROM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2F2FA9-94C1-2292-7105-1117CFBF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7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AB03-CBF9-21A0-C2EF-63C1B40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52953B-E205-FE44-1D04-F388135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8A73B80-E098-17AA-1C2A-B885E29CD3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923678"/>
            <a:ext cx="8541643" cy="275786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::= {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{=|&lt;&gt;|&gt;|&lt;|&gt;=|&lt;=|[NOT] LIKE}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IS [NOT] NULL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BETWEEN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AND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{AND|OR}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NOT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| (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)</a:t>
            </a:r>
          </a:p>
          <a:p>
            <a:pPr marL="0" indent="0">
              <a:spcBef>
                <a:spcPts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[NOT] EXISTS (&lt;SELECT statement&gt;) 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[NOT] IN (&lt;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список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&gt;)}</a:t>
            </a:r>
          </a:p>
          <a:p>
            <a:pPr marL="0" indent="0">
              <a:spcBef>
                <a:spcPts val="60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dirty="0">
                <a:latin typeface="+mn-lt"/>
                <a:cs typeface="Cascadia Mono SemiLight" panose="020B0609020000020004" pitchFamily="49" charset="0"/>
              </a:rPr>
              <a:t>Выражение может быть построено из любых атрибутов, доступных в табличном выражении из раздела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FROM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A90E1-8135-A58B-2F18-6C7B8CA4F0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WHERE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6CA76A-6E0D-B92B-11AB-8E13C541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9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1EE2-C9B7-A25B-1181-6ADA8EE5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5584D-81F6-4251-BC37-626F1770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49C9FF-3588-AA0C-AA91-A196EF5A9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51670"/>
            <a:ext cx="8542337" cy="2736304"/>
          </a:xfrm>
        </p:spPr>
        <p:txBody>
          <a:bodyPr numCol="2">
            <a:noAutofit/>
          </a:bodyPr>
          <a:lstStyle/>
          <a:p>
            <a:pPr>
              <a:spcBef>
                <a:spcPts val="600"/>
              </a:spcBef>
            </a:pPr>
            <a:r>
              <a:rPr lang="ru-RU" sz="1600" dirty="0"/>
              <a:t>Если в хотя бы один из </a:t>
            </a:r>
            <a:r>
              <a:rPr lang="en-US" sz="1600" dirty="0"/>
              <a:t>&lt;expression&gt; </a:t>
            </a:r>
            <a:r>
              <a:rPr lang="ru-RU" sz="1600" dirty="0"/>
              <a:t>имеет значение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ru-RU" sz="1600" dirty="0"/>
              <a:t>, то результатом сравнения становится</a:t>
            </a:r>
            <a:r>
              <a:rPr lang="ru-RU" sz="1600" baseline="30000" dirty="0">
                <a:solidFill>
                  <a:srgbClr val="FF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ru-RU" sz="1600" dirty="0"/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UNKNOWN</a:t>
            </a:r>
            <a:r>
              <a:rPr lang="en-US" sz="1600" dirty="0"/>
              <a:t>.</a:t>
            </a:r>
            <a:endParaRPr lang="ru-RU" sz="1600" dirty="0"/>
          </a:p>
          <a:p>
            <a:pPr>
              <a:spcBef>
                <a:spcPts val="600"/>
              </a:spcBef>
            </a:pPr>
            <a:r>
              <a:rPr lang="ru-RU" sz="1600" dirty="0"/>
              <a:t>В частности,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 =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/>
              <a:t>всегда возвращает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UNKNOWN</a:t>
            </a:r>
            <a:r>
              <a:rPr lang="en-US" sz="1600" dirty="0"/>
              <a:t>. 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/>
              <a:t> </a:t>
            </a:r>
            <a:r>
              <a:rPr lang="ru-RU" sz="1600" dirty="0"/>
              <a:t>отбирает только те записи, для которых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&lt;condition&gt;</a:t>
            </a:r>
            <a:r>
              <a:rPr lang="en-US" sz="1600" dirty="0"/>
              <a:t> </a:t>
            </a:r>
            <a:r>
              <a:rPr lang="ru-RU" sz="1600" dirty="0"/>
              <a:t>дал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TRUE</a:t>
            </a:r>
            <a:r>
              <a:rPr lang="en-US" sz="1600" dirty="0"/>
              <a:t> (</a:t>
            </a:r>
            <a:r>
              <a:rPr lang="ru-RU" sz="1600" dirty="0"/>
              <a:t>не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FALSE</a:t>
            </a:r>
            <a:r>
              <a:rPr lang="en-US" sz="1600" dirty="0"/>
              <a:t> </a:t>
            </a:r>
            <a:r>
              <a:rPr lang="ru-RU" sz="1600" dirty="0"/>
              <a:t>и не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UNKNOWN</a:t>
            </a:r>
            <a:r>
              <a:rPr lang="en-US" sz="1600" dirty="0"/>
              <a:t>). </a:t>
            </a:r>
            <a:r>
              <a:rPr lang="ru-RU" sz="1600" dirty="0"/>
              <a:t>Следствие: </a:t>
            </a:r>
            <a:br>
              <a:rPr lang="en-US" sz="1600" dirty="0"/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X =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/>
              <a:t> </a:t>
            </a:r>
            <a:r>
              <a:rPr lang="ru-RU" sz="1600" dirty="0"/>
              <a:t>возвращает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/>
              <a:t> записей.</a:t>
            </a: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Пользуйтесь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/>
              <a:t>:</a:t>
            </a:r>
            <a:endParaRPr lang="ru-RU" sz="1600" dirty="0"/>
          </a:p>
          <a:p>
            <a:pPr marL="358775" indent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k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k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AND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1600" dirty="0"/>
              <a:t>Закон исключённого третьего </a:t>
            </a:r>
            <a:r>
              <a:rPr lang="ru-RU" sz="1600" b="1" dirty="0"/>
              <a:t>не работает</a:t>
            </a:r>
            <a:r>
              <a:rPr lang="ru-RU" sz="1600" dirty="0"/>
              <a:t>: </a:t>
            </a:r>
            <a:br>
              <a:rPr lang="en-US" sz="1600" dirty="0"/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&lt;P&gt;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 NOT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&lt;P&gt;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/>
              <a:t>не эквивалентно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TRUE</a:t>
            </a:r>
            <a:r>
              <a:rPr lang="en-US" sz="1600" dirty="0"/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7BBA0-91B2-FEE4-902E-1ACFD4852B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WHERE</a:t>
            </a:r>
            <a:r>
              <a:rPr lang="ru-RU" dirty="0"/>
              <a:t>. Трёхзначная логика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89262-E440-8831-C061-3BFF82B4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B079D-3E77-D890-11A2-F3A8A0CDEDDC}"/>
              </a:ext>
            </a:extLst>
          </p:cNvPr>
          <p:cNvSpPr txBox="1"/>
          <p:nvPr/>
        </p:nvSpPr>
        <p:spPr>
          <a:xfrm>
            <a:off x="395536" y="4880447"/>
            <a:ext cx="77597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aseline="30000" dirty="0">
                <a:solidFill>
                  <a:srgbClr val="FF0000"/>
                </a:solidFill>
                <a:cs typeface="Cascadia Mono SemiLight" panose="020B0609020000020004" pitchFamily="49" charset="0"/>
              </a:rPr>
              <a:t>1 </a:t>
            </a:r>
            <a:r>
              <a:rPr lang="ru-RU" sz="900" dirty="0"/>
              <a:t>Введено </a:t>
            </a:r>
            <a:r>
              <a:rPr lang="en-US" sz="900" dirty="0"/>
              <a:t>ANSI </a:t>
            </a:r>
            <a:r>
              <a:rPr lang="ru-RU" sz="900" dirty="0"/>
              <a:t>в стандарте </a:t>
            </a:r>
            <a:r>
              <a:rPr lang="en-US" sz="900" dirty="0"/>
              <a:t>SQL-92</a:t>
            </a:r>
            <a:r>
              <a:rPr lang="ru-RU" sz="900" dirty="0"/>
              <a:t>, также известно как «</a:t>
            </a:r>
            <a:r>
              <a:rPr lang="en-US" sz="900" dirty="0"/>
              <a:t>ANSI NULLs</a:t>
            </a:r>
            <a:r>
              <a:rPr lang="ru-RU" sz="900" dirty="0"/>
              <a:t>»</a:t>
            </a:r>
            <a:r>
              <a:rPr lang="en-US" sz="900" dirty="0"/>
              <a:t>. </a:t>
            </a:r>
            <a:r>
              <a:rPr lang="ru-RU" sz="900" dirty="0"/>
              <a:t>Может быть отключено настройками базы данных!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359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896D3-D8E5-6552-8F6F-2DDCDDACC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66C98-B0FA-718F-F6BD-86B9A619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35A95-CC68-B07D-82D1-8203D9C37A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Трёхзначная логика. Таблицы истинности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7F0FB4-D699-3F6E-0A50-CA9013C2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7EEFBA26-DFF9-FE9F-B07B-923105FF9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30121"/>
              </p:ext>
            </p:extLst>
          </p:nvPr>
        </p:nvGraphicFramePr>
        <p:xfrm>
          <a:off x="6272914" y="1797183"/>
          <a:ext cx="2619566" cy="1218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63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1430" marR="91430" marT="45668" marB="45668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</a:p>
                  </a:txBody>
                  <a:tcPr marL="91430" marR="91430" marT="45668" marB="45668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0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1" dirty="0">
                        <a:solidFill>
                          <a:srgbClr val="00B050"/>
                        </a:solidFill>
                      </a:endParaRPr>
                    </a:p>
                  </a:txBody>
                  <a:tcPr marL="91430" marR="91430" marT="45668" marB="4566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b="0" dirty="0"/>
                    </a:p>
                  </a:txBody>
                  <a:tcPr marL="91430" marR="91430" marT="45668" marB="456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6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0" marR="91430" marT="45668" marB="4566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/>
                    </a:p>
                  </a:txBody>
                  <a:tcPr marL="91430" marR="91430" marT="45668" marB="456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63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UNKNOWN</a:t>
                      </a:r>
                      <a:endParaRPr lang="ru-RU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marL="91430" marR="91430" marT="45668" marB="4566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UNKNOWN</a:t>
                      </a:r>
                      <a:endParaRPr lang="ru-RU" sz="1400" b="0" dirty="0"/>
                    </a:p>
                  </a:txBody>
                  <a:tcPr marL="91430" marR="91430" marT="45668" marB="456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DAE67D8-B6CF-542E-B237-F2D12E3D2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298674"/>
              </p:ext>
            </p:extLst>
          </p:nvPr>
        </p:nvGraphicFramePr>
        <p:xfrm>
          <a:off x="350837" y="1797183"/>
          <a:ext cx="5616576" cy="1219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OR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 marT="45698" marB="45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UNKNOWN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UNKNOWN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8" marB="456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70B764CC-EFE3-7C56-E648-B65366031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387224"/>
              </p:ext>
            </p:extLst>
          </p:nvPr>
        </p:nvGraphicFramePr>
        <p:xfrm>
          <a:off x="350837" y="3156623"/>
          <a:ext cx="5616576" cy="121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8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AND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T="45753" marB="457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8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8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FALSE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8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crom"/>
                          <a:ea typeface="+mn-ea"/>
                          <a:cs typeface="+mn-cs"/>
                        </a:rPr>
                        <a:t>FALSE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UNKNOWN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45753" marB="457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90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3B3F-57B4-4031-A902-5D4668B0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90664-34BE-715B-FE8C-797CDDAD01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9876A-7558-749D-2DA0-E55E578A2F12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4499992" y="1802395"/>
                <a:ext cx="4393183" cy="1921483"/>
              </a:xfrm>
            </p:spPr>
            <p:txBody>
              <a:bodyPr>
                <a:normAutofit/>
              </a:bodyPr>
              <a:lstStyle/>
              <a:p>
                <a:pPr marL="266700" indent="-266700">
                  <a:buClr>
                    <a:schemeClr val="accent6">
                      <a:lumMod val="75000"/>
                    </a:schemeClr>
                  </a:buClr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A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B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C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D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E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R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  <a:p>
                <a:pPr marL="266700" indent="-266700">
                  <a:buClr>
                    <a:schemeClr val="accent6">
                      <a:lumMod val="75000"/>
                    </a:schemeClr>
                  </a:buClr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US" dirty="0"/>
              </a:p>
              <a:p>
                <a:pPr marL="266700" indent="-266700">
                  <a:buClr>
                    <a:schemeClr val="accent6">
                      <a:lumMod val="75000"/>
                    </a:schemeClr>
                  </a:buClr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</m:d>
                        <m:r>
                          <a:rPr lang="en-US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&gt;99</m:t>
                            </m:r>
                          </m:e>
                        </m:d>
                        <m:r>
                          <a:rPr lang="en-US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266700" indent="-266700">
                  <a:buClr>
                    <a:schemeClr val="accent6">
                      <a:lumMod val="75000"/>
                    </a:schemeClr>
                  </a:buClr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9876A-7558-749D-2DA0-E55E578A2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4499992" y="1802395"/>
                <a:ext cx="4393183" cy="1921483"/>
              </a:xfrm>
              <a:blipFill>
                <a:blip r:embed="rId3"/>
                <a:stretch>
                  <a:fillRect l="-1387" t="-3492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12C2A7-E7C1-B565-648B-5D95E2BCB0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5"/>
            <a:ext cx="3933130" cy="1921484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R.A, S.D, T.G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R, 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E = F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B = C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AND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D &gt;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99</a:t>
            </a: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AutoNum type="arabicPeriod"/>
              <a:defRPr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D4E1A-18B8-4E39-8191-5EC6116B2F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939" cy="383169"/>
          </a:xfrm>
        </p:spPr>
        <p:txBody>
          <a:bodyPr>
            <a:normAutofit/>
          </a:bodyPr>
          <a:lstStyle/>
          <a:p>
            <a:r>
              <a:rPr lang="ru-RU" dirty="0"/>
              <a:t>Связь </a:t>
            </a:r>
            <a:r>
              <a:rPr lang="en-US" dirty="0"/>
              <a:t>SELECT </a:t>
            </a:r>
            <a:r>
              <a:rPr lang="ru-RU" dirty="0"/>
              <a:t>С реляционной алгеброй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7D4291-3988-7118-C409-ADF39F55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2245B0-6841-CA20-EC29-21DFC713E55A}"/>
                  </a:ext>
                </a:extLst>
              </p:cNvPr>
              <p:cNvSpPr txBox="1"/>
              <p:nvPr/>
            </p:nvSpPr>
            <p:spPr>
              <a:xfrm>
                <a:off x="350837" y="3926507"/>
                <a:ext cx="8541939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>
                    <a:schemeClr val="accent6">
                      <a:lumMod val="75000"/>
                    </a:schemeClr>
                  </a:buCl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0" lang="en-US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kumimoji="0" lang="en-US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0" lang="en-US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kumimoji="0" lang="en-US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n-US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</m:d>
                              <m: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&gt;99</m:t>
                                  </m:r>
                                </m:e>
                              </m:d>
                              <m: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⋈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2245B0-6841-CA20-EC29-21DFC713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37" y="3926507"/>
                <a:ext cx="8541939" cy="552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2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41ED-A6B6-71F0-B3F5-FC7A31E6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02D434-2763-8CB3-C91D-66E950C5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89E72E-FDB7-737C-03C0-92B46432AF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1368921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R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EXISTS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S.C = R.B)</a:t>
            </a: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FontTx/>
              <a:buAutoNum type="arabicPeriod"/>
              <a:defRPr/>
            </a:pPr>
            <a:endParaRPr lang="en-US" dirty="0"/>
          </a:p>
          <a:p>
            <a:pPr marL="457200" indent="-457200">
              <a:buClr>
                <a:schemeClr val="accent6">
                  <a:lumMod val="75000"/>
                </a:schemeClr>
              </a:buClr>
              <a:buAutoNum type="arabicPeriod"/>
              <a:defRPr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161AD-CE3B-DB83-0097-498A1FD343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Связь </a:t>
            </a:r>
            <a:r>
              <a:rPr lang="en-US" dirty="0"/>
              <a:t>SELECT </a:t>
            </a:r>
            <a:r>
              <a:rPr lang="ru-RU" dirty="0"/>
              <a:t>С реляционным исчислением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6CBDE1-791E-05AB-971D-F770D310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22FE2-B544-CA44-F3F4-64AF649AC760}"/>
                  </a:ext>
                </a:extLst>
              </p:cNvPr>
              <p:cNvSpPr txBox="1"/>
              <p:nvPr/>
            </p:nvSpPr>
            <p:spPr>
              <a:xfrm>
                <a:off x="359221" y="3507854"/>
                <a:ext cx="85419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>
                    <a:schemeClr val="accent6">
                      <a:lumMod val="75000"/>
                    </a:schemeClr>
                  </a:buCl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ru-RU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∃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m:rPr>
                          <m:nor/>
                        </m:rPr>
                        <a:rPr lang="ru-RU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∧∃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 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22FE2-B544-CA44-F3F4-64AF649AC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21" y="3507854"/>
                <a:ext cx="8541939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98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7A24-5E1D-78A3-D55A-2252669F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B153F2-A33E-1E85-2378-63E01E79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F49A5B-7CB8-1FCA-DF2C-A172910B00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 fontScale="85000" lnSpcReduction="20000"/>
          </a:bodyPr>
          <a:lstStyle/>
          <a:p>
            <a:r>
              <a:rPr lang="ru-RU" dirty="0"/>
              <a:t>Раздел состоит из списка выражений ИЛИ целых чисел. Он определяет </a:t>
            </a:r>
            <a:r>
              <a:rPr lang="ru-RU" i="1" dirty="0"/>
              <a:t>ключ группировки</a:t>
            </a:r>
            <a:endParaRPr lang="en-US" dirty="0"/>
          </a:p>
          <a:p>
            <a:r>
              <a:rPr lang="ru-RU" dirty="0"/>
              <a:t>Если в запросе есть раздел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ru-RU" dirty="0"/>
              <a:t>, то в разделе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/>
              <a:t> </a:t>
            </a:r>
            <a:r>
              <a:rPr lang="ru-RU" dirty="0"/>
              <a:t>могут использоваться </a:t>
            </a:r>
            <a:r>
              <a:rPr lang="ru-RU" b="1" dirty="0"/>
              <a:t>только</a:t>
            </a:r>
            <a:r>
              <a:rPr lang="en-US" b="1" dirty="0"/>
              <a:t> </a:t>
            </a:r>
            <a:r>
              <a:rPr lang="ru-RU" dirty="0"/>
              <a:t>выражения, построенные из:</a:t>
            </a:r>
          </a:p>
          <a:p>
            <a:pPr lvl="1"/>
            <a:r>
              <a:rPr lang="ru-RU" dirty="0"/>
              <a:t>атрибутов, функционально зависимых от ключа группировки</a:t>
            </a:r>
          </a:p>
          <a:p>
            <a:pPr lvl="1"/>
            <a:r>
              <a:rPr lang="ru-RU" dirty="0"/>
              <a:t>агрегатных функций</a:t>
            </a:r>
          </a:p>
          <a:p>
            <a:r>
              <a:rPr lang="ru-RU" dirty="0"/>
              <a:t>Если в разделе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/>
              <a:t> </a:t>
            </a:r>
            <a:r>
              <a:rPr lang="ru-RU" dirty="0"/>
              <a:t>есть агрегатные выражения, но отсутствует раздел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ru-RU" dirty="0"/>
              <a:t> то подразумевается группировка по</a:t>
            </a:r>
            <a:r>
              <a:rPr lang="ru-RU" b="1" dirty="0"/>
              <a:t> пустому списку выражений</a:t>
            </a:r>
            <a:r>
              <a:rPr lang="en-US" b="1" dirty="0"/>
              <a:t> – </a:t>
            </a:r>
            <a:r>
              <a:rPr lang="ru-RU" dirty="0"/>
              <a:t>все строки из </a:t>
            </a:r>
            <a:r>
              <a:rPr lang="en-US" dirty="0"/>
              <a:t>FROM </a:t>
            </a:r>
            <a:r>
              <a:rPr lang="ru-RU" dirty="0"/>
              <a:t>агрегируются в одну строку</a:t>
            </a:r>
          </a:p>
          <a:p>
            <a:r>
              <a:rPr lang="ru-RU" dirty="0"/>
              <a:t>Иначе, строки разбиваются на столько групп, сколько различных комбинаций значений есть у ключа группировки, и для каждой группы порождается одна строка результата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9D013-61A2-8AA5-3B76-83C5A1BEA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GROUP BY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86063C-CB46-3E1A-3B07-0E5AAFDC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6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5DA4-275B-C48B-B8C6-76A7CFF4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0513F8-6D69-46D9-2382-AEBFAF4A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0FE555-A11A-E7E9-C86B-4088FB60FE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2">
            <a:normAutofit/>
          </a:bodyPr>
          <a:lstStyle/>
          <a:p>
            <a:r>
              <a:rPr lang="ru-RU" dirty="0"/>
              <a:t>Агрегатные выражения строятся из агрегатных функций. </a:t>
            </a:r>
          </a:p>
          <a:p>
            <a:pPr lvl="1"/>
            <a:r>
              <a:rPr lang="en-US" dirty="0"/>
              <a:t>MIN(a) – </a:t>
            </a:r>
            <a:r>
              <a:rPr lang="ru-RU" dirty="0"/>
              <a:t>минимальное значение аргумента</a:t>
            </a:r>
          </a:p>
          <a:p>
            <a:pPr lvl="1"/>
            <a:r>
              <a:rPr lang="en-US" dirty="0"/>
              <a:t>MAX(a) – </a:t>
            </a:r>
            <a:r>
              <a:rPr lang="ru-RU" dirty="0"/>
              <a:t>максимальное значение аргумента</a:t>
            </a:r>
          </a:p>
          <a:p>
            <a:pPr lvl="1"/>
            <a:r>
              <a:rPr lang="en-US" dirty="0"/>
              <a:t>COUNT([DISTINCT|ALL] a | *) – </a:t>
            </a:r>
            <a:r>
              <a:rPr lang="ru-RU" dirty="0"/>
              <a:t>количество значений </a:t>
            </a:r>
            <a:endParaRPr lang="en-US" dirty="0"/>
          </a:p>
          <a:p>
            <a:pPr lvl="1"/>
            <a:r>
              <a:rPr lang="en-US" dirty="0"/>
              <a:t>SUM(a) – </a:t>
            </a:r>
            <a:r>
              <a:rPr lang="ru-RU" dirty="0"/>
              <a:t>сумма значений</a:t>
            </a:r>
            <a:r>
              <a:rPr lang="en-US" dirty="0"/>
              <a:t> </a:t>
            </a:r>
            <a:r>
              <a:rPr lang="ru-RU" dirty="0"/>
              <a:t>аргумента</a:t>
            </a:r>
          </a:p>
          <a:p>
            <a:pPr lvl="1"/>
            <a:r>
              <a:rPr lang="en-US" dirty="0"/>
              <a:t>AVG(a) </a:t>
            </a:r>
            <a:r>
              <a:rPr lang="ru-RU" dirty="0"/>
              <a:t>– среднее значение аргумента, </a:t>
            </a:r>
            <a:br>
              <a:rPr lang="en-US" dirty="0"/>
            </a:br>
            <a:r>
              <a:rPr lang="ru-RU" dirty="0"/>
              <a:t>= </a:t>
            </a:r>
            <a:r>
              <a:rPr lang="en-US" dirty="0"/>
              <a:t>SUM(a)/COUNT(ALL a)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4C53A-6CDB-DD0A-C80D-53D395FB6E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GROUP BY</a:t>
            </a:r>
            <a:r>
              <a:rPr lang="ru-RU" dirty="0"/>
              <a:t>. Агрегатные функции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1C29F0-5523-2622-C238-3F6904F8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616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A941-7727-5766-98A0-EFCE7E40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F0B1A9-E004-DE68-26FE-DDCED3C01F36}"/>
              </a:ext>
            </a:extLst>
          </p:cNvPr>
          <p:cNvSpPr/>
          <p:nvPr/>
        </p:nvSpPr>
        <p:spPr>
          <a:xfrm>
            <a:off x="2483768" y="2643758"/>
            <a:ext cx="504056" cy="288032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02043-A247-2A67-1E74-C75A1A5D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E343AB-78DC-3F0C-FA65-3AF73CEA3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0021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MAX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AVG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город, имя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MIN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п.имя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итого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LEFT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з.продавец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buNone/>
            </a:pP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32B29-797C-E6B5-8091-DBDDEB2CD4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GROUP BY</a:t>
            </a:r>
            <a:r>
              <a:rPr lang="ru-RU" dirty="0"/>
              <a:t>. примеры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61F064-8A76-919B-47D6-76C6AC30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169AD-A000-B9E2-FC10-AB4C482B6743}"/>
              </a:ext>
            </a:extLst>
          </p:cNvPr>
          <p:cNvSpPr/>
          <p:nvPr/>
        </p:nvSpPr>
        <p:spPr>
          <a:xfrm>
            <a:off x="2800350" y="3485703"/>
            <a:ext cx="795338" cy="288032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16E95-D320-0BC1-C125-FF4742F7440B}"/>
              </a:ext>
            </a:extLst>
          </p:cNvPr>
          <p:cNvSpPr txBox="1"/>
          <p:nvPr/>
        </p:nvSpPr>
        <p:spPr>
          <a:xfrm>
            <a:off x="4338898" y="3013507"/>
            <a:ext cx="447430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  <a:sym typeface="Symbol"/>
              </a:rPr>
              <a:t> 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  <a:sym typeface="Symbol"/>
              </a:rPr>
              <a:t> номер, имя, город, комиссия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53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uiExpand="1" build="p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978A-E6ED-92C4-B70C-86AB429A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0F7C5-EFAA-A40D-A023-1F84E2BD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391DDD-64F4-B788-DA32-41C1C446E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146202"/>
          </a:xfrm>
        </p:spPr>
        <p:txBody>
          <a:bodyPr numCol="2">
            <a:normAutofit fontScale="92500"/>
          </a:bodyPr>
          <a:lstStyle/>
          <a:p>
            <a:r>
              <a:rPr lang="ru-RU" dirty="0"/>
              <a:t>Раздел </a:t>
            </a:r>
            <a:r>
              <a:rPr lang="en-US" dirty="0"/>
              <a:t>HAVING </a:t>
            </a:r>
            <a:r>
              <a:rPr lang="ru-RU" dirty="0"/>
              <a:t>применяется только если есть раздел </a:t>
            </a:r>
            <a:r>
              <a:rPr lang="en-US" dirty="0"/>
              <a:t>GROUP BY.</a:t>
            </a:r>
          </a:p>
          <a:p>
            <a:r>
              <a:rPr lang="ru-RU" dirty="0"/>
              <a:t>Синтаксис – такой же, как</a:t>
            </a:r>
            <a:br>
              <a:rPr lang="en-US" dirty="0"/>
            </a:br>
            <a:r>
              <a:rPr lang="ru-RU" dirty="0"/>
              <a:t>у раздела </a:t>
            </a:r>
            <a:r>
              <a:rPr lang="en-US" dirty="0"/>
              <a:t>WHERE</a:t>
            </a:r>
          </a:p>
          <a:p>
            <a:r>
              <a:rPr lang="ru-RU" dirty="0"/>
              <a:t>Можно использовать выражения с теми же ограничениями, что и в списке </a:t>
            </a:r>
            <a:r>
              <a:rPr lang="en-US" dirty="0"/>
              <a:t>SELECT</a:t>
            </a:r>
            <a:br>
              <a:rPr lang="en-US" dirty="0"/>
            </a:br>
            <a:endParaRPr lang="en-US" dirty="0"/>
          </a:p>
          <a:p>
            <a:r>
              <a:rPr lang="ru-RU" dirty="0"/>
              <a:t>Мелкая радость</a:t>
            </a:r>
            <a:r>
              <a:rPr lang="en-US" dirty="0"/>
              <a:t> -</a:t>
            </a:r>
            <a:r>
              <a:rPr lang="ru-RU" dirty="0"/>
              <a:t> можно ссылаться на имена колонок, определённых в </a:t>
            </a:r>
            <a:r>
              <a:rPr lang="en-US" dirty="0"/>
              <a:t>SELECT: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п.имя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итого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LEFT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з.продавец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HAVING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итого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&gt; 10000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634B2-B0E6-8021-4390-808D057F79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HAVING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9864DF-81F2-2438-9FE5-6C884F11A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1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CF88-49F1-0EC3-339A-D64F7397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0CFE3D-C8E5-178F-471E-913F2705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FE36B7-EB9F-8529-0F23-A2D66272D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19424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список критериев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&gt;::= 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{ { &lt;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| &lt;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целое число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}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[ASC[ENDING] | DESC[ENDING] }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[, …]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r>
              <a:rPr lang="ru-RU" dirty="0"/>
              <a:t>Если в запросе нет раздела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ORDER BY</a:t>
            </a:r>
            <a:r>
              <a:rPr lang="ru-RU" dirty="0"/>
              <a:t>, то СУБД имеет право возвращать строки результата </a:t>
            </a:r>
            <a:r>
              <a:rPr lang="ru-RU" b="1" dirty="0"/>
              <a:t>в любом порядке.</a:t>
            </a:r>
            <a:endParaRPr lang="ru-RU" dirty="0"/>
          </a:p>
          <a:p>
            <a:r>
              <a:rPr lang="ru-RU" dirty="0"/>
              <a:t>Сортировка по композитному ключу делается лексикографически: сначала сортируем по первому выражению; если оно совпало для нескольких записей – сортируем по второму, и т.п.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6CB45-AC44-7C5D-A3BA-A284DBF995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ORDER BY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CFECAD-0EE6-CB9B-B482-B2B0DB6B7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816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3A3F-BB81-5ADF-3B91-852EB7D7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85F54C-A8AF-FDCB-27D5-DA961F7C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7AFE28-3C59-27DA-3915-E76EF870AB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19424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MAX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AVG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ORDER BY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3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DESC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6C41E-1BFA-1893-5A46-83FD6FC455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Раздел </a:t>
            </a:r>
            <a:r>
              <a:rPr lang="en-US" dirty="0"/>
              <a:t>ORDER BY. </a:t>
            </a:r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72899E-1ED9-3AE9-97F2-A4C925CB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0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C4742-4B32-1766-6AC4-06AB123E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FD9E8-B5EA-CABA-44DC-0904DB04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7415B9-C3E5-52CB-8351-7BC2B8DE4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3146202"/>
          </a:xfrm>
        </p:spPr>
        <p:txBody>
          <a:bodyPr numCol="2">
            <a:normAutofit fontScale="92500" lnSpcReduction="20000"/>
          </a:bodyPr>
          <a:lstStyle/>
          <a:p>
            <a:r>
              <a:rPr lang="ru-RU" dirty="0">
                <a:latin typeface="+mn-lt"/>
              </a:rPr>
              <a:t>Подзапросы позволяют строить иерархию запросов, решая задачи любой сложности</a:t>
            </a:r>
          </a:p>
          <a:p>
            <a:r>
              <a:rPr lang="ru-RU" dirty="0">
                <a:latin typeface="+mn-lt"/>
                <a:cs typeface="Cascadia Mono SemiLight" panose="020B0609020000020004" pitchFamily="49" charset="0"/>
              </a:rPr>
              <a:t>Подзапросы могут использоваться в трёх разных сценариях:</a:t>
            </a:r>
          </a:p>
          <a:p>
            <a:pPr lvl="1"/>
            <a:r>
              <a:rPr lang="ru-RU" dirty="0">
                <a:latin typeface="+mn-lt"/>
                <a:cs typeface="Cascadia Mono SemiLight" panose="020B0609020000020004" pitchFamily="49" charset="0"/>
              </a:rPr>
              <a:t>возвращающий одну строку с единственной колонкой – можно использовать везде, где ожидается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&lt;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выражение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&gt;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AVG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ПРОДАВЦЫ)</a:t>
            </a:r>
          </a:p>
          <a:p>
            <a:pPr lvl="1"/>
            <a:r>
              <a:rPr lang="ru-RU" dirty="0">
                <a:latin typeface="+mn-lt"/>
                <a:cs typeface="Cascadia Mono SemiLight" panose="020B0609020000020004" pitchFamily="49" charset="0"/>
              </a:rPr>
              <a:t>возвращающий несколько строк с единственной колонкой – можно использовать везде, где ожидается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&lt;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список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&gt;: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NOT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продавец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</a:p>
          <a:p>
            <a:pPr lvl="1"/>
            <a:r>
              <a:rPr lang="ru-RU" dirty="0">
                <a:latin typeface="+mn-lt"/>
                <a:cs typeface="Cascadia Mono SemiLight" panose="020B0609020000020004" pitchFamily="49" charset="0"/>
              </a:rPr>
              <a:t>возвращающий  произвольное количество строк и столбцов – в операторе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EXISTS()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и в разделе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AAA9F-633C-07DE-B8BF-D95D023A72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Подзапросы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C3931E-781B-A120-7F1A-88C2238E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4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C0B7-1B2C-1CBA-100F-E4DC464A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FCBEC-0456-44BE-D09F-E2188561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D8C1E-B1DF-3409-FC62-D96812211C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1">
            <a:normAutofit/>
          </a:bodyPr>
          <a:lstStyle/>
          <a:p>
            <a:r>
              <a:rPr lang="ru-RU" dirty="0">
                <a:latin typeface="+mn-lt"/>
              </a:rPr>
              <a:t>Подзапрос называется </a:t>
            </a:r>
            <a:r>
              <a:rPr lang="ru-RU" i="1" dirty="0">
                <a:latin typeface="+mn-lt"/>
              </a:rPr>
              <a:t>коррелированным, </a:t>
            </a:r>
            <a:r>
              <a:rPr lang="ru-RU" dirty="0">
                <a:latin typeface="+mn-lt"/>
              </a:rPr>
              <a:t>если он ссылается на атрибуты внешнего запроса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имя, 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SUM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 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продавец =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итого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38E9A-4146-1137-F932-873D670C32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ВЫБОРКА ДАННЫХ</a:t>
            </a:r>
            <a:r>
              <a:rPr lang="en-US" dirty="0"/>
              <a:t>. </a:t>
            </a:r>
            <a:r>
              <a:rPr lang="ru-RU" dirty="0"/>
              <a:t>КОРРЕЛИРОВАННЫЕ Подзапросы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558ED3-66DE-03EA-3A77-8C557D84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02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B9E8F-1C0B-1A10-6218-363A0CED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615C2-2702-3D3A-FA5F-21E1A95260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6"/>
            <a:ext cx="8541643" cy="2161008"/>
          </a:xfrm>
        </p:spPr>
        <p:txBody>
          <a:bodyPr>
            <a:normAutofit fontScale="85000" lnSpcReduction="10000"/>
          </a:bodyPr>
          <a:lstStyle/>
          <a:p>
            <a:pPr marL="271463" indent="-271463">
              <a:lnSpc>
                <a:spcPct val="100000"/>
              </a:lnSpc>
            </a:pPr>
            <a:r>
              <a:rPr lang="ru-RU" dirty="0">
                <a:latin typeface="+mn-lt"/>
                <a:cs typeface="Cascadia Mono SemiLight" panose="020B0609020000020004" pitchFamily="49" charset="0"/>
              </a:rPr>
              <a:t>Вставка одной строки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:</a:t>
            </a: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534988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en-US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имя-таблицы&gt; [( имя-колонки, ... )]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 |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,...)</a:t>
            </a:r>
          </a:p>
          <a:p>
            <a:pPr marL="271463" indent="-271463">
              <a:lnSpc>
                <a:spcPct val="100000"/>
              </a:lnSpc>
            </a:pPr>
            <a:r>
              <a:rPr lang="ru-RU" dirty="0">
                <a:latin typeface="+mn-lt"/>
                <a:cs typeface="Cascadia Mono SemiLight" panose="020B0609020000020004" pitchFamily="49" charset="0"/>
              </a:rPr>
              <a:t>Вставка нескольких строк</a:t>
            </a:r>
            <a:endParaRPr lang="en-US" dirty="0">
              <a:latin typeface="+mn-lt"/>
              <a:cs typeface="Cascadia Mono SemiLight" panose="020B0609020000020004" pitchFamily="49" charset="0"/>
            </a:endParaRPr>
          </a:p>
          <a:p>
            <a:pPr marL="534988" lvl="1" indent="-263525">
              <a:lnSpc>
                <a:spcPct val="10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en-US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имя-таблицы&gt; [( имя-колонки, ... )]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SQL 92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	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&lt;SELECT-statement&gt;</a:t>
            </a:r>
            <a:endParaRPr lang="ru-RU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534988" lvl="1" indent="-263525">
              <a:lnSpc>
                <a:spcPct val="10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имя-таблицы&gt; [( имя-колонки, ... )]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–- Postgres 9.1+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выражение |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,...),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...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), ...</a:t>
            </a:r>
          </a:p>
          <a:p>
            <a:pPr>
              <a:lnSpc>
                <a:spcPct val="100000"/>
              </a:lnSpc>
            </a:pP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8679-3688-4DFD-B4F5-06586178E0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Добавление строк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7455D-5CCF-368E-E021-1C2DBE88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897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1B2E-AAD1-2867-7F78-BFA6DEEA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D135E-F588-311F-9512-AC7AE7F6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1D09C-DBE6-FAC9-AB85-379159CC0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(номер, имя, город, комиссия)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Новосибирск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0.12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1002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Петров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Новосибирск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0.12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(номер, имя) 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1003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Палкин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1004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Веткин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ru-RU" sz="16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 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1005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 err="1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Щёткин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    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30E94-71FA-7761-1BE1-7CFFF61213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Добавление строк</a:t>
            </a:r>
            <a:r>
              <a:rPr lang="en-US" dirty="0"/>
              <a:t>. </a:t>
            </a:r>
            <a:r>
              <a:rPr lang="ru-RU" dirty="0"/>
              <a:t>Примеры</a:t>
            </a:r>
            <a:r>
              <a:rPr lang="en-US" dirty="0"/>
              <a:t> (1)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937C27-23AE-3501-F2AC-5019CDB0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09F6BF73-6C9F-893F-3ED2-AAB313E9B4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028" y="1414661"/>
            <a:ext cx="936000" cy="93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6164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01CE-E967-696D-A675-927CB97F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FDF4D-D547-F44A-5F22-DE9FF0C6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8FDF-C522-A673-5791-FFC5EC244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TABLE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ПРОДАВЦЫ_НСК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номер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INTEGER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NOT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PRIMARY KEY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имя    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CHAR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NOT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комиссия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DECIMAL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CHECK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BETWEEN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AND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</a:t>
            </a: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sz="16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ПРОДАВЦЫ_НСК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имя, комиссия * 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1.1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Новосибирск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A685-1CA2-08C1-2E9A-0326F87A05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Добавление строк</a:t>
            </a:r>
            <a:r>
              <a:rPr lang="en-US" dirty="0"/>
              <a:t>. </a:t>
            </a:r>
            <a:r>
              <a:rPr lang="ru-RU" dirty="0"/>
              <a:t>Примеры</a:t>
            </a:r>
            <a:r>
              <a:rPr lang="en-US" dirty="0"/>
              <a:t> (2)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FF1B1A-EF9C-BD79-0560-B2C9566D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AC172A18-ABB5-3810-ED5B-D56E27A8A2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392" y="1419225"/>
            <a:ext cx="936000" cy="93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4471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46D2C-3968-1206-C2AD-F5426EAF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A682DF-8646-DBA4-BE20-5895D289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F85E5-E23E-B468-EA13-81CC2C41E4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таблицы&gt;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столбца&gt; = {&lt;выражение&gt; 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NULL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 DEFAULT }, …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предикат&gt;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CURRENT OF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курсора&gt; ]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&lt;выражение&gt;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</a:t>
            </a:r>
            <a:r>
              <a:rPr lang="ru-RU" sz="1600" dirty="0">
                <a:latin typeface="+mn-lt"/>
                <a:cs typeface="Cascadia Mono SemiLight" panose="020B0609020000020004" pitchFamily="49" charset="0"/>
              </a:rPr>
              <a:t>могут включать подзапросы!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EFFB6-EC68-925A-239A-E4FBB72C0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Изменение строк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C7C43-24FF-F18D-22EE-6A522BE9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09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A944-9147-0B94-1954-6D8BC9CF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10CA5-4BEF-DB4C-8855-DA62080C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3C34B-3B68-5373-705A-EA2A801BA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ПРОДАВЦЫ 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комиссия = комиссия*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1.1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город = 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'Новосибирск’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новая_комиссия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НОВЫЕ_КОМИССИИ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номер_продавца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ПРОДАВЦЫ.номер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номер_продавца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НОВЫЕ_КОМИССИИ);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!!!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42602-38DD-DA4A-693F-0E1AE202D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Изменение строк. Примеры</a:t>
            </a:r>
            <a:r>
              <a:rPr lang="en-US" dirty="0"/>
              <a:t> SQL-92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43391F-F9DA-80CB-EB5A-EF9AB1A8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C3CE45A2-E358-C547-C101-559757DE40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749" y="1419225"/>
            <a:ext cx="936103" cy="9361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4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3733-C124-2609-9213-EE9C15A5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DCEEE1-A393-C7C1-C74D-B8E6D928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70FA2-DF99-FFC9-D802-DE8BADA3F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ПРОДАВЦЫ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комиссия =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новая_комиссия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PostrgeSQL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НОВЫЕ_КОМИССИИ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номер_продавца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ПРОДАВЦЫ.номер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ПРОДАВЦЫ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комиссия =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новая_комиссия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MS SQL Server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НОВЫЕ_КОМИССИИ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номер_продавца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ПРОДАВЦЫ.номер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92AF4-591C-3361-A4E2-8451B6169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Изменение строк. ЗА пределами </a:t>
            </a:r>
            <a:r>
              <a:rPr lang="en-US" dirty="0"/>
              <a:t>SQL-92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D19A06-D9F5-1631-2FEE-CC0E4E14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710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589DE-443F-0CCF-B3B1-84FFC446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B96F2-945F-FEC6-1707-F2538B0A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837FE-9A1C-8C2F-C296-49CCAB2196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 FROM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таблицы&gt;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предикат&gt;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CURRENT OF &lt;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курсора&gt; ]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предикат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</a:t>
            </a:r>
            <a:r>
              <a:rPr lang="ru-RU" sz="1600" dirty="0">
                <a:latin typeface="+mn-lt"/>
                <a:cs typeface="Cascadia Mono SemiLight" panose="020B0609020000020004" pitchFamily="49" charset="0"/>
              </a:rPr>
              <a:t>может включать подзапросы</a:t>
            </a:r>
            <a:endParaRPr lang="en-US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A8D9B-A5F7-C844-C209-AE4C4073EB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строк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4ED1C3-1E4E-219B-B000-E642B910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15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481D-3294-7798-5A23-34022F77C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DE64A-6779-6E8E-5227-9F9E4DCF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B4F41-634A-D1CC-E7D4-3789F5CC71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= 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Иванов</a:t>
            </a:r>
            <a:r>
              <a:rPr lang="en-US" sz="16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6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&lt; 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 </a:t>
            </a:r>
            <a:b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номер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ПРОДАВЦЫ_К_УДАЛЕНИЮ)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855DA-6913-31B7-9CB1-8708D09CC7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строк. Примеры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8415C5-0401-761B-C522-7D849321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SQL-92. </a:t>
            </a:r>
            <a:r>
              <a:rPr lang="ru-RU" dirty="0"/>
              <a:t>Манипулирование данными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929527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16601</TotalTime>
  <Words>2054</Words>
  <Application>Microsoft Office PowerPoint</Application>
  <PresentationFormat>On-screen Show (16:9)</PresentationFormat>
  <Paragraphs>256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Cascadia Mono SemiLight</vt:lpstr>
      <vt:lpstr>Acrom ExtraBold</vt:lpstr>
      <vt:lpstr>Calibri</vt:lpstr>
      <vt:lpstr>Acrom Bold</vt:lpstr>
      <vt:lpstr>Acrom</vt:lpstr>
      <vt:lpstr>Wingdings</vt:lpstr>
      <vt:lpstr>Cambria Math</vt:lpstr>
      <vt:lpstr>NSU Content</vt:lpstr>
      <vt:lpstr>NSU Captions</vt:lpstr>
      <vt:lpstr>БАЗЫ ДАННЫХ</vt:lpstr>
      <vt:lpstr>PowerPoint Presentation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SQL-92. Манипулирование данными</vt:lpstr>
      <vt:lpstr>Манипулирование данными</vt:lpstr>
      <vt:lpstr>SQL-92. Манипулирование данными</vt:lpstr>
      <vt:lpstr>SQL-92. Манипулирование данными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848</cp:revision>
  <dcterms:created xsi:type="dcterms:W3CDTF">2016-08-15T04:55:12Z</dcterms:created>
  <dcterms:modified xsi:type="dcterms:W3CDTF">2024-10-24T06:10:14Z</dcterms:modified>
</cp:coreProperties>
</file>